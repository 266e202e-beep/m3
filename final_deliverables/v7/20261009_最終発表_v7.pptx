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9538</c:v>
                </c:pt>
                <c:pt idx="1">
                  <c:v>8128</c:v>
                </c:pt>
                <c:pt idx="2">
                  <c:v>3988</c:v>
                </c:pt>
                <c:pt idx="3">
                  <c:v>1280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7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配信率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B8C2CF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0.7093425605536332</c:v>
                </c:pt>
                <c:pt idx="1">
                  <c:v>0.6920777279521674</c:v>
                </c:pt>
                <c:pt idx="2">
                  <c:v>0.6761768901569187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現状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191名</c:v>
                </c:pt>
                <c:pt idx="1">
                  <c:v>② 配信中の重点医師
392名</c:v>
                </c:pt>
                <c:pt idx="2">
                  <c:v>③ 潜在0〜2人の医師
993名(全診療科)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① 未接触の重点医師
191名</c:v>
                </c:pt>
                <c:pt idx="1">
                  <c:v>② 配信中の重点医師
392名</c:v>
                </c:pt>
                <c:pt idx="2">
                  <c:v>③ 潜在0〜2人の医師
993名(全診療科)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6</c:v>
                </c:pt>
              </c:numCache>
            </c:numRef>
          </c:val>
        </c:ser>
        <c:dLbls>
          <c:numFmt formatCode="0&quot;回&quot;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医師数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dPt>
            <c:idx val="3"/>
            <c:spPr>
              <a:solidFill>
                <a:srgbClr val="0B2A5B"/>
              </a:solidFill>
            </c:spPr>
          </c:dPt>
          <c:dPt>
            <c:idx val="4"/>
            <c:spPr>
              <a:solidFill>
                <a:srgbClr val="9DB4D8"/>
              </a:solidFill>
            </c:spPr>
          </c:dPt>
          <c:cat>
            <c:strRef>
              <c:f>Sheet1!$A$2:$A$6</c:f>
              <c:strCache>
                <c:ptCount val="5"/>
                <c:pt idx="0">
                  <c:v>重点医師</c:v>
                </c:pt>
                <c:pt idx="1">
                  <c:v>① 新規配信</c:v>
                </c:pt>
                <c:pt idx="2">
                  <c:v>② 増回</c:v>
                </c:pt>
                <c:pt idx="3">
                  <c:v>③ 隔月
(内科・耳鼻)</c:v>
                </c:pt>
                <c:pt idx="4">
                  <c:v>⑤ B案で追加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11900.0</c:v>
                </c:pt>
                <c:pt idx="1">
                  <c:v>3100.0</c:v>
                </c:pt>
                <c:pt idx="2">
                  <c:v>6000.0</c:v>
                </c:pt>
                <c:pt idx="3">
                  <c:v>9700.0</c:v>
                </c:pt>
                <c:pt idx="4">
                  <c:v>5000.0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飲み合わせ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0.5787671232876712</c:v>
                </c:pt>
                <c:pt idx="1">
                  <c:v>0.1149144254278728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24h持続性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0.1506849315068493</c:v>
                </c:pt>
                <c:pt idx="1">
                  <c:v>0.4400977995110024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副作用</c:v>
                </c:pt>
              </c:strCache>
            </c:strRef>
          </c:tx>
          <c:spPr>
            <a:solidFill>
              <a:srgbClr val="9DB4D8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0.2226027397260274</c:v>
                </c:pt>
                <c:pt idx="1">
                  <c:v>0.2860635696821516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効果発現速度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0.047945205479452</c:v>
                </c:pt>
                <c:pt idx="1">
                  <c:v>0.1589242053789731</c:v>
                </c:pt>
              </c:numCache>
            </c:numRef>
          </c:val>
        </c:ser>
        <c:dLbls>
          <c:numFmt formatCode="[&lt;0.06]&quot;&quot;;0%" sourceLinked="0"/>
          <c:txPr>
            <a:bodyPr/>
            <a:lstStyle/>
            <a:p>
              <a:pPr>
                <a:defRPr sz="1700" b="1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C04 飲み合わせガイド</c:v>
                </c:pt>
                <c:pt idx="1">
                  <c:v>2本目 C03 副作用プロファイル</c:v>
                </c:pt>
                <c:pt idx="2">
                  <c:v>3本目 C05 24時間カバーの臨床エビデンス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0.5787671232876712</c:v>
                </c:pt>
                <c:pt idx="1">
                  <c:v>0.2226027397260274</c:v>
                </c:pt>
                <c:pt idx="2">
                  <c:v>0.1506849315068493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C05 24時間カバーの臨床エビデンス</c:v>
                </c:pt>
                <c:pt idx="1">
                  <c:v>2本目 C03 副作用プロファイル</c:v>
                </c:pt>
                <c:pt idx="2">
                  <c:v>3本目 C01 即効メカニズム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0.4400977995110024</c:v>
                </c:pt>
                <c:pt idx="1">
                  <c:v>0.2860635696821516</c:v>
                </c:pt>
                <c:pt idx="2">
                  <c:v>0.1589242053789731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費用</c:v>
                </c:pt>
              </c:strCache>
            </c:strRef>
          </c:tx>
          <c:spPr>
            <a:solidFill>
              <a:srgbClr val="0B2A5B"/>
            </a:solidFill>
          </c:spPr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現状
3,481名</c:v>
                </c:pt>
                <c:pt idx="1">
                  <c:v>A案 予算維持型
3,672名</c:v>
                </c:pt>
                <c:pt idx="2">
                  <c:v>B案 追加投資型
3,932名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160.2</c:v>
                </c:pt>
                <c:pt idx="1">
                  <c:v>153.4</c:v>
                </c:pt>
                <c:pt idx="2">
                  <c:v>168.3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A案 予算維持型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Sheet1!$A$2:$A$4</c:f>
              <c:strCache>
                <c:ptCount val="3"/>
                <c:pt idx="0">
                  <c:v>保守
(転換率1%)</c:v>
                </c:pt>
                <c:pt idx="1">
                  <c:v>基準
(3%)</c:v>
                </c:pt>
                <c:pt idx="2">
                  <c:v>楽観
(6%)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0.00048149436868272113</c:v>
                </c:pt>
                <c:pt idx="1">
                  <c:v>0.0014444831060481628</c:v>
                </c:pt>
                <c:pt idx="2">
                  <c:v>0.0028889662120963255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B案 追加投資型</c:v>
                </c:pt>
              </c:strCache>
            </c:strRef>
          </c:tx>
          <c:spPr>
            <a:solidFill>
              <a:srgbClr val="0B2A5B"/>
            </a:solidFill>
          </c:spPr>
          <c:cat>
            <c:strRef>
              <c:f>Sheet1!$A$2:$A$4</c:f>
              <c:strCache>
                <c:ptCount val="3"/>
                <c:pt idx="0">
                  <c:v>保守
(転換率1%)</c:v>
                </c:pt>
                <c:pt idx="1">
                  <c:v>基準
(3%)</c:v>
                </c:pt>
                <c:pt idx="2">
                  <c:v>楽観
(6%)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0.001302670096700109</c:v>
                </c:pt>
                <c:pt idx="1">
                  <c:v>0.003908010290100326</c:v>
                </c:pt>
                <c:pt idx="2">
                  <c:v>0.007816020580200651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09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重点医師</c:v>
                </c:pt>
              </c:strCache>
            </c:strRef>
          </c:tx>
          <c:spPr>
            <a:solidFill>
              <a:srgbClr val="E8602C"/>
            </a:solidFill>
          </c:spPr>
          <c:cat>
            <c:strRef>
              <c:f>Sheet1!$A$2:$A$6</c:f>
              <c:strCache>
                <c:ptCount val="5"/>
                <c:pt idx="0">
                  <c:v>処方意向4以上</c:v>
                </c:pt>
                <c:pt idx="1">
                  <c:v>MR面談あり</c:v>
                </c:pt>
                <c:pt idx="2">
                  <c:v>MR君の配信率</c:v>
                </c:pt>
                <c:pt idx="3">
                  <c:v>既読医師率
(配信対象)</c:v>
                </c:pt>
                <c:pt idx="4">
                  <c:v>情報源
学会・論文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0.2215827338129496</c:v>
                </c:pt>
                <c:pt idx="1">
                  <c:v>0.1669064748201439</c:v>
                </c:pt>
                <c:pt idx="2">
                  <c:v>0.6762589928057554</c:v>
                </c:pt>
                <c:pt idx="3">
                  <c:v>0.4680851063829787</c:v>
                </c:pt>
                <c:pt idx="4">
                  <c:v>0.2431654676258992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類似高処方医師</c:v>
                </c:pt>
              </c:strCache>
            </c:strRef>
          </c:tx>
          <c:spPr>
            <a:solidFill>
              <a:srgbClr val="B8C2CF"/>
            </a:solidFill>
          </c:spPr>
          <c:cat>
            <c:strRef>
              <c:f>Sheet1!$A$2:$A$6</c:f>
              <c:strCache>
                <c:ptCount val="5"/>
                <c:pt idx="0">
                  <c:v>処方意向4以上</c:v>
                </c:pt>
                <c:pt idx="1">
                  <c:v>MR面談あり</c:v>
                </c:pt>
                <c:pt idx="2">
                  <c:v>MR君の配信率</c:v>
                </c:pt>
                <c:pt idx="3">
                  <c:v>既読医師率
(配信対象)</c:v>
                </c:pt>
                <c:pt idx="4">
                  <c:v>情報源
学会・論文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0.9238032636709228</c:v>
                </c:pt>
                <c:pt idx="1">
                  <c:v>0.5116941129996048</c:v>
                </c:pt>
                <c:pt idx="2">
                  <c:v>0.6804250271972989</c:v>
                </c:pt>
                <c:pt idx="3">
                  <c:v>0.5641498209476641</c:v>
                </c:pt>
                <c:pt idx="4">
                  <c:v>0.1152225319067807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 本日は、薬剤Aの処方拡大に向けて、MR君の配信対象と配信内容の最適化を提案します。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[0:10] 結果の全体像、提案の中身、最後に分析パートの順でお話しします。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結論です。提案は2つです。1つ目は配信対象の最適化で、潜在患者の多い医師に配信を寄せ、少ない医師は隔月にします。MR面談も重点医師に寄せます。2つ目は配信内容の最適化で、診療科ごとに重視される情報から届けます。予算を増やさずに実施でき、基準ケースで売上を0.14%、年722万円押し上げると試算しています。まずA案で検証し、その後に追加投資と全国展開を判断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薬剤Aの処方拡大に向けて、MR君の配信対象とコンテンツの最適化を提案します。</a:t>
            </a:r>
          </a:p>
          <a:p>
            <a:r>
              <a:t>MR君はすでに医師の69%に届き、MR面談のない医師では最も参考になった情報源の1位です。この基盤は強みです。ただし「誰に」と「何を」には改善の余地があります。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潜在未処方患者、つまり花粉症の患者のうち薬剤Aを処方されていない患者の77%は、内科と耳鼻咽喉科にいます。</a:t>
            </a:r>
          </a:p>
          <a:p>
            <a:r>
              <a:t>その中で潜在8人以上の701名、医師の21%が、潜在の41%を持っています。この701名を重点医師とします。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ところが配信率は、潜在患者が0〜2人の医師で71%、8人以上で68%とほぼ同じです。潜在患者の多さは配信先に反映されていないと考えられます。</a:t>
            </a:r>
          </a:p>
          <a:p>
            <a:r>
              <a:t>その結果、重点医師のうち191名には、MRもMR君も届いていません。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提案①、配信対象の最適化です。回答医師5,000名で、誰に何回届けるかを設計しました。</a:t>
            </a:r>
          </a:p>
          <a:p>
            <a:r>
              <a:t>MRもMR君も届いていない重点医師191名に、新たに月1回。配信中の重点医師392名は年10回を12回にし、未読の上位コンテンツを再配信します。</a:t>
            </a:r>
          </a:p>
          <a:p>
            <a:r>
              <a:t>財源は、潜在0〜2人の医師993名の配信を隔月にして生み出します。費用は年6.7万円下がり、予算は増やしません。浮いた予算は、MR面談の強化にも回せます。MR面談がある医師は処方率が4.1ポイント高いという関連があるため、MRの訪問先も重点医師に寄せることを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この5,000名での配置ルールを、全国に当てはめました。厚生労働省の医師数で、内科は30倍、耳鼻咽喉科は約7.7倍に外挿し、配信できる割合を9割と置いています。</a:t>
            </a:r>
          </a:p>
          <a:p>
            <a:r>
              <a:t>全国の重点医師は約1.2万人、新規配信の対象は約3,100人です。A案の既読課金は約2,076万円で、現状の約2,068万円とほぼ同じです。これは単純外挿による推計です。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重点医師が最も重視する特性は、診療科で違います。内科は58%が飲み合わせ、耳鼻咽喉科は44%が24時間持続性、29%が副作用です。</a:t>
            </a:r>
          </a:p>
          <a:p>
            <a:r>
              <a:t>また、MR面談を受けている医師は、重点医師では17%だけで、同じ診療科・患者数・施設区分で処方の多い医師では51%です。重点医師はMRに会えていないので、MR君で補います。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提案②、配信内容の最適化です。既存の10本の順番を、診療科ごとに変えます。その診療科で最も重視する医師が多いテーマから並べます。</a:t>
            </a:r>
          </a:p>
          <a:p>
            <a:r>
              <a:t>内科は飲み合わせのC04から、耳鼻咽喉科は24時間持続性のC05から。次は副作用のC03です。3本目までに重点医師の約9割に、最も重視するテーマが届きます。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費用は既読1件400円で計算しました。A案は153.4万円で、今の160.2万円の範囲内です。</a:t>
            </a:r>
          </a:p>
          <a:p>
            <a:r>
              <a:t>B案は未接触で潜在5〜7人の260名にも届け、A案より14.9万円増えます。配信設定や運用などの費用は、まだ確認できていません。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 最後に売上インパクトです。計算は2段階です。</a:t>
            </a:r>
          </a:p>
          <a:p>
            <a:r>
              <a:t>まず、回答医師5,000名で、処方患者が何%増えるかを求めました。今の処方患者11,280人に対して、基準ケースでA案は16人、0.14%、B案は44人、0.39%増えます。</a:t>
            </a:r>
          </a:p>
          <a:p>
            <a:r>
              <a:t>次に、この増加率を薬剤Aの年間売上50億円に当てはめます。A案は年722万円、B案は年1,954万円です。転換率の仮定によって、A案は241万円から1,444万円、B案は651万円から3,908万円の幅があります。</a:t>
            </a:r>
          </a:p>
          <a:p>
            <a:r>
              <a:t>仮定にもとづく試算のため、まずA案で既読・理解度・処方率を検証し、その後に追加投資と全国展開を判断することを提案します。以上です。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[] 分析パート(質疑用・時間があれば簡潔に)。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[] 分析パート(質疑用・時間があれば簡潔に)。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[] 分析パート(質疑用・時間があれば簡潔に)。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[] 分析パート(質疑用・時間があれば簡潔に)。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[] 分析パート(質疑用・時間があれば簡潔に)。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[] 追加分析アイディア。A/Bテストによる効果検証、配信記録の整備、非回答医師の潜在推計、MR訪問との費用対効果比較など。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6304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2000" b="1">
                <a:solidFill>
                  <a:srgbClr val="5F6B7A"/>
                </a:solidFill>
                <a:latin typeface="Meiryo"/>
              </a:rPr>
              <a:t>薬剤Aの処方拡大に向けた提案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011680"/>
            <a:ext cx="10515600" cy="16459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0B2A5B"/>
                </a:solidFill>
                <a:latin typeface="Meiryo"/>
              </a:rPr>
              <a:t>MR君の配信対象と</a:t>
            </a:r>
          </a:p>
          <a:p>
            <a:pPr algn="l"/>
            <a:r>
              <a:rPr sz="4400" b="1">
                <a:solidFill>
                  <a:srgbClr val="0B2A5B"/>
                </a:solidFill>
                <a:latin typeface="Meiryo"/>
              </a:rPr>
              <a:t>配信内容の最適化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79476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800" b="1">
                <a:solidFill>
                  <a:srgbClr val="E8602C"/>
                </a:solidFill>
                <a:latin typeface="Meiryo"/>
              </a:rPr>
              <a:t>― 医師ごとの処方拡大余地に応じた配信設計と、全国展開の可能性 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4572000"/>
            <a:ext cx="10241280" cy="0"/>
          </a:xfrm>
          <a:prstGeom prst="line">
            <a:avLst/>
          </a:prstGeom>
          <a:ln w="19050">
            <a:solidFill>
              <a:srgbClr val="0B2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05840" y="475488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2026年10月9日 最終発表</a:t>
            </a:r>
          </a:p>
          <a:p>
            <a:pPr algn="l"/>
            <a:r>
              <a:rPr sz="1500" b="0">
                <a:solidFill>
                  <a:srgbClr val="5F6B7A"/>
                </a:solidFill>
                <a:latin typeface="Meiryo"/>
              </a:rPr>
              <a:t>M3 データサイエンスインターン 王 子成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目次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数値は2026年アンケート回答医師5,000名と、MR面談・MR君の1年分(2025年6月〜2026年6月)の記録から計算。全国の数値は推計。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90472"/>
            <a:ext cx="201168" cy="201168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371600"/>
            <a:ext cx="7772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2200" b="1">
                <a:solidFill>
                  <a:srgbClr val="0B2A5B"/>
                </a:solidFill>
                <a:latin typeface="Meiryo"/>
              </a:rPr>
              <a:t>結果・分析全体像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371600"/>
            <a:ext cx="2286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r"/>
            <a:r>
              <a:rPr sz="1600" b="0">
                <a:solidFill>
                  <a:srgbClr val="5F6B7A"/>
                </a:solidFill>
                <a:latin typeface="Meiryo"/>
              </a:rPr>
              <a:t>p.3〜12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874520"/>
            <a:ext cx="868680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50" b="0">
                <a:solidFill>
                  <a:srgbClr val="1B1B1B"/>
                </a:solidFill>
                <a:latin typeface="Meiryo"/>
              </a:rPr>
              <a:t>○ 全体像: 2つの提案と予測効果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2203704"/>
            <a:ext cx="868680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50" b="0">
                <a:solidFill>
                  <a:srgbClr val="1B1B1B"/>
                </a:solidFill>
                <a:latin typeface="Meiryo"/>
              </a:rPr>
              <a:t>○ 現状と処方拡大の機会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532888"/>
            <a:ext cx="868680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50" b="0">
                <a:solidFill>
                  <a:srgbClr val="1B1B1B"/>
                </a:solidFill>
                <a:latin typeface="Meiryo"/>
              </a:rPr>
              <a:t>○ 提案① 配信対象の最適化(5,000名 → 全国)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2862072"/>
            <a:ext cx="868680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50" b="0">
                <a:solidFill>
                  <a:srgbClr val="1B1B1B"/>
                </a:solidFill>
                <a:latin typeface="Meiryo"/>
              </a:rPr>
              <a:t>○ 提案② 配信内容の最適化(診療科別)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3191256"/>
            <a:ext cx="868680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50" b="0">
                <a:solidFill>
                  <a:srgbClr val="1B1B1B"/>
                </a:solidFill>
                <a:latin typeface="Meiryo"/>
              </a:rPr>
              <a:t>○ 費用と予測効果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49039"/>
            <a:ext cx="201168" cy="20116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3630168"/>
            <a:ext cx="7772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2200" b="1">
                <a:solidFill>
                  <a:srgbClr val="0B2A5B"/>
                </a:solidFill>
                <a:latin typeface="Meiryo"/>
              </a:rPr>
              <a:t>分析パート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3630168"/>
            <a:ext cx="2286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r"/>
            <a:r>
              <a:rPr sz="1600" b="0">
                <a:solidFill>
                  <a:srgbClr val="5F6B7A"/>
                </a:solidFill>
                <a:latin typeface="Meiryo"/>
              </a:rPr>
              <a:t>p.13〜17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4133087"/>
            <a:ext cx="868680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50" b="0">
                <a:solidFill>
                  <a:srgbClr val="1B1B1B"/>
                </a:solidFill>
                <a:latin typeface="Meiryo"/>
              </a:rPr>
              <a:t>○ アンケート分析から得られた示唆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4462272"/>
            <a:ext cx="868680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50" b="0">
                <a:solidFill>
                  <a:srgbClr val="1B1B1B"/>
                </a:solidFill>
                <a:latin typeface="Meiryo"/>
              </a:rPr>
              <a:t>○ データ基本情報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4791456"/>
            <a:ext cx="868680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50" b="0">
                <a:solidFill>
                  <a:srgbClr val="1B1B1B"/>
                </a:solidFill>
                <a:latin typeface="Meiryo"/>
              </a:rPr>
              <a:t>○ 実施した分析一覧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5120640"/>
            <a:ext cx="868680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50" b="0">
                <a:solidFill>
                  <a:srgbClr val="1B1B1B"/>
                </a:solidFill>
                <a:latin typeface="Meiryo"/>
              </a:rPr>
              <a:t>○ 分析結果詳細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678424"/>
            <a:ext cx="201168" cy="20116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5559552"/>
            <a:ext cx="7772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2200" b="1">
                <a:solidFill>
                  <a:srgbClr val="0B2A5B"/>
                </a:solidFill>
                <a:latin typeface="Meiryo"/>
              </a:rPr>
              <a:t>追加分析アイディア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5559552"/>
            <a:ext cx="2286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r"/>
            <a:r>
              <a:rPr sz="1600" b="0">
                <a:solidFill>
                  <a:srgbClr val="5F6B7A"/>
                </a:solidFill>
                <a:latin typeface="Meiryo"/>
              </a:rPr>
              <a:t>p.18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MR君の「配信対象」と「配信内容」を最適化し、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予算を増やさずに処方拡大を狙う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全体像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回答医師5,000名での設計を全国に当てはめた推計。売上は増加率 × 年間売上50億円(基準 = 転換率3%、仮定)。因果効果ではない。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50292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提案① 配信対象の最適化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今の課題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965960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配信率は潜在患者数に関係なく約7割。重点医師191名は未接触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07208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807208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改善策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807208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未接触191名に月1回、配信中392名も月1回、潜在0〜2人993名は隔月。MR面談も重点医師へ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48456"/>
            <a:ext cx="5440680" cy="768096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48456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E8602C"/>
                </a:solidFill>
                <a:latin typeface="Meiryo"/>
              </a:rPr>
              <a:t>規模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648456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予算は年6.7万円減。全国の重点医師は約1.2万人(推計)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440680" cy="5029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</a:rPr>
              <a:t>提案② 配信内容の最適化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965960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今の課題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965960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全員に同じ10本。重視する情報は診療科で違う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07208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07208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改善策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807208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診療科別の配信順: 内科C04(飲み合わせ)→C03→C05、耳鼻C05(24h持続性)→C03→C01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648456"/>
            <a:ext cx="5440680" cy="768096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648456"/>
            <a:ext cx="11430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00" b="1">
                <a:solidFill>
                  <a:srgbClr val="0B2A5B"/>
                </a:solidFill>
                <a:latin typeface="Meiryo"/>
              </a:rPr>
              <a:t>規模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3648456"/>
            <a:ext cx="4114800" cy="76809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250" b="0">
                <a:solidFill>
                  <a:srgbClr val="1B1B1B"/>
                </a:solidFill>
                <a:latin typeface="Meiryo"/>
              </a:rPr>
              <a:t>3本目までに重点医師の約9割に最重視テーマが届く。新規制作なし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53712"/>
            <a:ext cx="11183112" cy="868680"/>
          </a:xfrm>
          <a:prstGeom prst="rect">
            <a:avLst/>
          </a:prstGeom>
          <a:noFill/>
          <a:ln w="15875">
            <a:solidFill>
              <a:srgbClr val="0B2A5B"/>
            </a:solidFill>
          </a:ln>
          <a:effectLst/>
        </p:spPr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0B2A5B"/>
                </a:solidFill>
                <a:latin typeface="Meiryo"/>
              </a:rPr>
              <a:t>予測効果(基準・試算)  </a:t>
            </a:r>
            <a:r>
              <a:rPr sz="1900" b="1">
                <a:solidFill>
                  <a:srgbClr val="E8602C"/>
                </a:solidFill>
                <a:latin typeface="Meiryo"/>
              </a:rPr>
              <a:t>A案(予算内) 売上+0.14% = 年722万円</a:t>
            </a:r>
            <a:r>
              <a:rPr sz="1700" b="1">
                <a:solidFill>
                  <a:srgbClr val="0B2A5B"/>
                </a:solidFill>
                <a:latin typeface="Meiryo"/>
              </a:rPr>
              <a:t>   B案 +0.39% = 年1,954万円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まずA案で効果を検証し、その後に追加投資(B案)と全国展開を判断する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薬剤AはMRとMR君で情報を届けている。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次の成長には「誰に」「何を」の見直しが必要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データの医師10,000名の配信対象・MR面談記録(2025年6月〜2026年6月)。50%: アンケートQ5(MR面談なし・配信中の回答医師2,603名)。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MR君の強み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173736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09728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0B2A5B"/>
                </a:solidFill>
                <a:latin typeface="Meiryo"/>
              </a:rPr>
              <a:t>69%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78308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医師にMR君を配信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10,000名のうち6,948名。MR面談のない医師にも約7割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5486400" cy="173736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657600"/>
            <a:ext cx="109728" cy="17373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65760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0B2A5B"/>
                </a:solidFill>
                <a:latin typeface="Meiryo"/>
              </a:rPr>
              <a:t>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65760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最も参考になった情報源の1位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MR面談がなく、MR君が届く医師の回答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37160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E8602C"/>
                </a:solidFill>
                <a:latin typeface="Meiryo"/>
              </a:rPr>
              <a:t>改善の余地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86400" cy="17373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109728" cy="173736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3952" y="178308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E8602C"/>
                </a:solidFill>
                <a:latin typeface="Meiryo"/>
              </a:rPr>
              <a:t>誰に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78308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配信先が潜在患者数と無関係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潜在患者が多くても少なくても配信率は約7割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657600"/>
            <a:ext cx="5486400" cy="17373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657600"/>
            <a:ext cx="109728" cy="173736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3657600"/>
            <a:ext cx="16002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600" b="1">
                <a:solidFill>
                  <a:srgbClr val="E8602C"/>
                </a:solidFill>
                <a:latin typeface="Meiryo"/>
              </a:rPr>
              <a:t>何を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2" y="3657600"/>
            <a:ext cx="3429000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全員に同じ10本を配信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重視する情報は診療科で違う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既存の配信基盤を活かし、配信対象とコンテンツを最適化する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潜在未処方患者の77%は内科・耳鼻咽喉科に集中。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その41%を潜在8人以上の医師が持つ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機会(実測)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薬剤A処方患者数(2026年アンケート回答医師5,000名、直近1年・自己申告)。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診療科別の潜在未処方患者(人)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内科・耳鼻の医師の21%(701名)が、潜在の41%を持つ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潜在8人以上の医師 = 重点医師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内科・耳鼻で潜在8人以上の701名を「重点医師」とする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配信対象は潜在患者数と無関係(配信率は約7割)。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重点医師191名にはMRもMR君も届いていない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提案① 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配信率 = MR君の配信対象の割合(内科・耳鼻の回答医師3,286名)。配信対象の選定理由はデータにないため未確認。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MR君の配信率(潜在未処方の人数別)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重点医師701名のうち、MRもMR君も届いていない医師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1人あたり潜在未処方10.7人(重点医師で最多)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配信対象を、潜在患者数で選び直す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提案① 高潜在医師への配信を増やし、低潜在は隔月に。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MR面談も高潜在医師へ寄せる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提案① 改善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回答医師5,000名での設計。12回 = 10本 + 未読の上位コンテンツの再配信2回。+4.1pt = 内科・耳鼻・患者8人以上の重回帰(因果ではない)。MRの訪問費用はデータになし。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誰に・何回(医師1人あたりの年間配信回数)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−6.7万円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834640"/>
            <a:ext cx="3547872" cy="100583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年間費用の変化(A案、回答医師)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増やす分 +11.9万円(①②)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減らす分 −18.6万円(③)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931919"/>
            <a:ext cx="3547872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B2A5B"/>
                </a:solidFill>
                <a:latin typeface="Meiryo"/>
              </a:rPr>
              <a:t>浮いた予算はMR面談の強化にも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MR面談がある医師は処方率が+4.1pt高い(関連)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→ MRの訪問先も重点医師に寄せる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予算を増やさずに配信を移し、浮いた予算はMR面談の強化に回せる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提案①を全国へ: 重点医師は約1.2万人(推計)。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A案の費用は現状とほぼ同じ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提案① 全国へ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厚労省 令和6年 医療施設従事医師(主たる診療科): 内科62,161名、耳鼻咽喉科9,300名(暫定)。倍率 内科30.0倍・耳鼻7.66倍。配信は実施可能割合90%(仮定)。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全国の配信対象(内科・耳鼻、推計)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000" b="1">
                <a:solidFill>
                  <a:srgbClr val="E8602C"/>
                </a:solidFill>
                <a:latin typeface="Meiryo"/>
              </a:rPr>
              <a:t>2,076万円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A案の全国の既読課金(年)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現状 2,068万円とほぼ同じ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B案は2,365万円(A案より+289万円)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既読課金以外の費用は未確認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5,000名での配置ルールを、そのまま全国の内科・耳鼻に当てはめる(推計値)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今は全員に同じ10本。でも重視する情報は診療科で違う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(内科は飲み合わせ、耳鼻科は24h持続性・副作用)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提案② 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重点医師701名がアンケートQ2で1位にした特性。類似高処方医師 = 同じ診療科・患者数帯・施設区分で処方率50%以上(634名)。差は関連。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重点医師が最も重視する特性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800" b="1">
                <a:solidFill>
                  <a:srgbClr val="0B2A5B"/>
                </a:solidFill>
                <a:latin typeface="Meiryo"/>
              </a:rPr>
              <a:t>17% vs 51%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MR面談を受けている医師の割合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重点医師17%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処方の多い類似医師51%(同じ診療科・患者数・施設区分)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→ 重点医師はMRに会えていない。MR君で補う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MR君で、診療科ごとに重視される情報から届ける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提案② 診療科別に届けるコンテンツを変える。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内科は飲み合わせ、耳鼻科は24h持続性から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提案② 改善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コンテンツ名と主要テーマで選定(本文は配信前に確認)。%は、そのテーマを最も重視する重点医師の割合。4本目以降も重視する医師が多い順。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内科の重点医師に届ける順番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耳鼻咽喉科の重点医師に届ける順番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11183112" cy="12344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09728" cy="1234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237744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E8602C"/>
                </a:solidFill>
                <a:latin typeface="Meiryo"/>
              </a:rPr>
              <a:t>約9割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160520"/>
            <a:ext cx="841248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3本目までに、重点医師の約9割に、自分が最も重視するテーマが届く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内科95%・耳鼻咽喉科89%。医師は重視テーマのコンテンツを約1.3倍読む(既読率13.9% vs 11.0%)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既存の10本の順番を変えるだけ(新規制作なし)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A案は今の予算内。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B案は+14.9万円で未接触260名にも広げる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費用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回答医師5,000名・1年分。既読課金 = 既読件数 × 400円(既読率は群別の実測値)。配信設定・制作・運用管理・効果検証の費用は未確認(0円ではない)。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MR君の既読課金(年、万円)と配信する医師数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153.4万円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A案(現状160.2万円の範囲内)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A案 = 施策①+②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B案 = A案+未接触・潜在5〜7人の260名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(A案より+14.9万円)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A案は今の予算のまま実施できる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A案は売上を+0.14%(年722万円)、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B案は+0.39%(年1,954万円)押し上げる(基準・試算)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予測効果(試算)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増加率 = 回答医師の追加処方患者 ÷ 処方患者11,280人。× 年間売上50億円(1回のみ)。回答医師が市場と同じ構成と仮定。転換率は仮定で因果効果ではない。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売上の増加率(年、市場全体50億円に対して)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計算の流れ(基準)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38528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① 回答医師で増える処方患者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A案 +16人 / B案 +44人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807208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② 現在の処方患者11,280人に対する率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1B1B1B"/>
                </a:solidFill>
                <a:latin typeface="Meiryo"/>
              </a:rPr>
              <a:t>A案 +0.14% / B案 +0.39%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675887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③ × 年間売上50億円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E8602C"/>
                </a:solidFill>
                <a:latin typeface="Meiryo"/>
              </a:rPr>
              <a:t>A案 +722万円 / B案 +1,954万円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553712"/>
            <a:ext cx="3547872" cy="7772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250" b="1">
                <a:solidFill>
                  <a:srgbClr val="0B2A5B"/>
                </a:solidFill>
                <a:latin typeface="Meiryo"/>
              </a:rPr>
              <a:t>幅(保守〜楽観): A案 241〜1,444万円</a:t>
            </a:r>
          </a:p>
          <a:p>
            <a:pPr algn="l"/>
            <a:r>
              <a:rPr sz="1250" b="1">
                <a:solidFill>
                  <a:srgbClr val="0B2A5B"/>
                </a:solidFill>
                <a:latin typeface="Meiryo"/>
              </a:rPr>
              <a:t>B案 651〜3,908万円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① A案で既読・理解度・処方率を検証 → ② B案(追加投資) → ③ 全国展開を判断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分析パート ① アンケート分析から得られた示唆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分析パート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回答医師5,000名(2026年)。比較の差は関連であり、因果ではない。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45352"/>
                <a:gridCol w="292608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テーマ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分かったこと(実測)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施策への示唆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処方拡大の機会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潜在未処方の77%が内科・耳鼻。医師の21%(701名)が41%を持つ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重点医師に配信を寄せる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配信の決まり方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配信率は潜在0〜2人71%・3〜7人69%・8人以上68%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潜在患者数で選び直す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情報ニーズ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最重視: 内科は飲み合わせ58%、耳鼻は24h持続性44%・副作用29%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診療科別の配信順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重点医師の特徴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MR面談17% vs 51%、理解度2.1 vs 3.8(処方の多い類似医師)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MR君で補い、MR訪問も寄せる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読まれ方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自分の重視テーマの既読率13.9% vs その他11.0%(約1.3倍)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重視テーマから届ける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MR面談との関係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MR面談がある医師は処方率+4.1pt(重回帰、関連)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重点医師へのMR訪問を優先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患者数の変動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潜在8人以上の医師は翌年0.78倍に減る(平均への回帰)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効果試算で補正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示唆はすべて「配信対象」と「配信内容」の2つの提案に集約される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分析パート ② データ基本情報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分析パート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課題資料・データ仕様書: 薬剤Aの年間売上50億円、MR君は既読1件400円、10コンテンツを配信対象に配信。個人を特定する情報は出力していない。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1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7342631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ファイル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件数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eiryo"/>
                        </a:rPr>
                        <a:t>主な内容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doctor_attributes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10,000名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性別・年代・診療科(内科・小児科・眼科・耳鼻咽喉科)・地域・施設区分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survey_2026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5,000名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Q1理解度(5特性)・Q2重視する特性の順位・Q3花粉症/処方患者数・Q4処方意向・Q5情報源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survey_2025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5,000名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前年の同じ質問(Q5なし)。平均への回帰・前年比較に使用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mr_visits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10,000名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MR面談回数(2025年6月〜2026年6月)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mrkun_targets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6,948名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MR君の配信対象(全医師の69%)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mrkun_logs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8,192件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既読ログ(医師・コンテンツ・視聴時間)。配信日・配信件数の記録はない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mrkun_contents_summary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10本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1B1B"/>
                          </a:solidFill>
                          <a:latin typeface="Meiryo"/>
                        </a:rPr>
                        <a:t>コンテンツ名・主要テーマ・長さ(本文はない)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潜在未処方 = Q3の花粉症患者数 − 薬剤A処方患者数(自己申告にもとづく理論値)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分析パート ③ 実施した分析一覧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分析パート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分析コード: final_deliverables/v5/analysis(v5_analysis.py → v5_plan.py → v5_content.py)。他グループの分析(完読・コンテンツ別効果・動画の長さ)は使っていない。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206240"/>
                <a:gridCol w="2834640"/>
                <a:gridCol w="1307592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分析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方法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主な結果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使った頁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潜在未処方の集中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診療科・潜在帯別の集計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77%、21% → 41%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p.5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配信状況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潜在帯別の配信率、接触状況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約7割で一定、未接触191名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p.6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類似高処方医師との比較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診療科×患者数×施設区分で重み付け、回帰で確認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MR面談17% vs 51%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p.9, 16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診療科別の情報ニーズ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Q2の1位の構成比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58%・44%・29%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p.9, 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重視テーマの読まれ方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既読ログ × 本人の重視テーマ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13.9% vs 11.0%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p.10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処方率の関連要因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重回帰(理解度・意向・MR面談など)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MR面談 +4.1pt(関連)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p.7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平均への回帰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両年回答・接点のない医師の翌年比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8人以上 0.78倍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p.12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配信計画・費用・効果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群別モデル(既読率は実測、転換率は仮定)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A案153.4万円、+0.14%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p.7, 11, 12, 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全国外挿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厚労省の医師数で診療科別に換算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重点医師 約1.2万人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p.8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新しい分析を増やすより、施策の根拠になる分析に絞った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分析パート ④ 分析結果詳細: 類似高処方医師との比較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分析パート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重点医師695名 vs 類似高処方医師634名(処方率50%以上)。診療科×患者数帯×施設区分で重み付け。地域・年代・性別の差は4pt以内。差は関連。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498079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割合の比較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7498079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8275320" y="1783080"/>
            <a:ext cx="3410712" cy="361188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t" wrap="square" lIns="137160" rIns="13716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5B"/>
                </a:solidFill>
                <a:latin typeface="Meiryo"/>
              </a:rPr>
              <a:t>理解度(5段階)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E8602C"/>
                </a:solidFill>
                <a:latin typeface="Meiryo"/>
              </a:rPr>
              <a:t>2.08 vs 3.75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1B1B"/>
                </a:solidFill>
                <a:latin typeface="Meiryo"/>
              </a:rPr>
              <a:t>5特性とも1.6〜1.7低い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A5B"/>
                </a:solidFill>
                <a:latin typeface="Meiryo"/>
              </a:rPr>
              <a:t>MR君の配信率は同じ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1B1B"/>
                </a:solidFill>
                <a:latin typeface="Meiryo"/>
              </a:rPr>
              <a:t>68% vs 68%。違いはMR面談・理解度・処方意向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MRに会えていない重点医師を、MR君とMR訪問の両方で補う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分析パート ④ 分析結果詳細: 試算の内訳(回答医師)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分析パート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既読医師率(f回) = 1 −(1 − 10回時の既読医師率)^(f/10)。追加処方患者 = 既読医師の増減 × 1人あたり潜在 × 翌年比 × 転換率。③で失う効果も差し引く。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868680"/>
                <a:gridCol w="1600200"/>
                <a:gridCol w="1463040"/>
                <a:gridCol w="868680"/>
                <a:gridCol w="1225296"/>
                <a:gridCol w="122529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群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医師数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年間回数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現状→A→B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費用(万円)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現状→A案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翌年比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追加処方患者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A案(基準)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追加処方患者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B案(基準)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① 未接触・潜在8人以上(重点医師)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191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0→12→12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0.0→8.9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0.78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+26.2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+26.2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② 配信中・潜在8人以上(重点医師)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392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10→12→12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15.2→18.2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0.78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+6.0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+6.0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③ 配信中・潜在0〜2人(財源)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993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10→6→6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46.6→28.0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2.16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−15.9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−15.9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④ MR面談あり・潜在8人以上(重点医師、配信中)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10→10→10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3.0→3.0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0.78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⑤ 未接触・潜在5〜7人(B案で追加)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260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0→0→12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0.0→0.0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1.02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+27.8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その他の配信中(変更なし)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2,014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10→10→10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95.4→95.4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1.00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合計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160.2→153.4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16.3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B"/>
                          </a:solidFill>
                          <a:latin typeface="Meiryo"/>
                        </a:rPr>
                        <a:t>44.1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増加率 = 追加処方患者 ÷ 処方患者11,280人(A案 +0.14%)。これを売上50億円に当てはめる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追加分析アイディア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今後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現時点のデータでは確認できないため、施策の実施と合わせて取り組む。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440680" cy="118872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91440" cy="118872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90472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効果の検証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5120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配信あり/なしを無作為に分けて試す(A/Bテスト)。今の差は関連のみ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440680" cy="118872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91440" cy="118872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90472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配信記録の整備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20240"/>
            <a:ext cx="5120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医師別に配信日・コンテンツID・配信件数・既読を記録(今は既読のみ)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43200"/>
            <a:ext cx="5440680" cy="118872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91440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16352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非回答医師の潜在推計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5120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m3.comのアンケートで潜在患者数を把握し、全国の配信対象を特定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743200"/>
            <a:ext cx="5440680" cy="118872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743200"/>
            <a:ext cx="91440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816352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MR面談との最適配分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46120"/>
            <a:ext cx="5120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MRの訪問費用を入手し、MR訪問とMR君の費用対効果を比較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69080"/>
            <a:ext cx="5440680" cy="118872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069080"/>
            <a:ext cx="91440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142232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コンテンツの中身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72000"/>
            <a:ext cx="5120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本文を確認し、理解度の変化(次回調査)との関係を評価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069080"/>
            <a:ext cx="5440680" cy="118872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069080"/>
            <a:ext cx="91440" cy="11887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142232"/>
            <a:ext cx="512064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全国推計の精緻化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572000"/>
            <a:ext cx="512064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厚労省の診療科定義との対応(内科の専門内科、耳鼻の最新値)、患者単価の実データ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まずA案で検証しながらデータを整え、B案・全国展開の判断材料にする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