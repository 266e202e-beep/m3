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3,481名</c:v>
                </c:pt>
                <c:pt idx="1">
                  <c:v>A案 予算維持型
3,672名</c:v>
                </c:pt>
                <c:pt idx="2">
                  <c:v>B案 追加投資型
3,932名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160.2</c:v>
                </c:pt>
                <c:pt idx="1">
                  <c:v>153.4</c:v>
                </c:pt>
                <c:pt idx="2">
                  <c:v>168.3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高ポテンシャル医師</c:v>
                </c:pt>
                <c:pt idx="1">
                  <c:v>① 新規配信</c:v>
                </c:pt>
                <c:pt idx="2">
                  <c:v>② 増回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3100.0</c:v>
                </c:pt>
                <c:pt idx="2">
                  <c:v>6000.0</c:v>
                </c:pt>
                <c:pt idx="3">
                  <c:v>9700.0</c:v>
                </c:pt>
                <c:pt idx="4">
                  <c:v>5000.0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追加費用(既読課金)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A案 予算維持型</c:v>
                </c:pt>
                <c:pt idx="1">
                  <c:v>B案 追加投資型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追加売上(基準)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A案 予算維持型</c:v>
                </c:pt>
                <c:pt idx="1">
                  <c:v>B案 追加投資型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893</c:v>
                </c:pt>
                <c:pt idx="1">
                  <c:v>2356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本日は、薬剤Aの処方を増やすための提案として、「MR君の配信対象と配信内容の最適化」をお話しします。</a:t>
            </a:r>
          </a:p>
          <a:p>
            <a:r>
              <a:t>MR君は、今すでに医師の約7割に配信されています。この仕組みを活かして、「誰に送るか」と「何を送るか」を見直します。</a:t>
            </a:r>
          </a:p>
          <a:p>
            <a:r>
              <a:t>順番は、現状、問題点、施策、そして施策の効果の見込みです。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まず、どこに処方を増やせる余地があるかです。使ったのは、2026年のアンケートに答えた医師5,000名のデータです。</a:t>
            </a:r>
          </a:p>
          <a:p>
            <a:r>
              <a:t>花粉症の患者数から、薬剤Aを処方している患者数を引いた数を「潜在未処方患者」と呼びます。この潜在未処方患者の77%が、内科と耳鼻咽喉科にいます。</a:t>
            </a:r>
          </a:p>
          <a:p>
            <a:r>
              <a:t>さらに、この2つの科で潜在が8人以上の医師701名、全体の21%が、潜在の41%を持っています。この701名を「高ポテンシャル医師」と呼びます。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次に、MR君の配信先を見ました。MR君の配信リストとアンケートを、医師ごとにつなげて調べています。</a:t>
            </a:r>
          </a:p>
          <a:p>
            <a:r>
              <a:t>配信率は、潜在が0〜2人の医師で71%、8人以上の医師で68%と、ほとんど同じです。患者の多さは、配信先に反映されていないと考えられます。</a:t>
            </a:r>
          </a:p>
          <a:p>
            <a:r>
              <a:t>その結果、高ポテンシャル医師のうち191名には、MRもMR君も届いていません。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では、高ポテンシャル医師はどんな情報を求めているか。アンケートで「最も重視する特性」として1位に選ばれたものを集計しました。</a:t>
            </a:r>
          </a:p>
          <a:p>
            <a:r>
              <a:t>内科は58%が「飲み合わせ」、耳鼻咽喉科は44%が「24時間持続性」、29%が「副作用」です。</a:t>
            </a:r>
          </a:p>
          <a:p>
            <a:r>
              <a:t>また、MR面談を受けている医師は、高ポテンシャル医師では17%だけです。同じ科・同じ患者数・同じ施設の種類で、処方の多い医師と比べると51%でした。高ポテンシャル医師はMRに会えていないので、MR君で補う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まとめると、問題は3つです。</a:t>
            </a:r>
          </a:p>
          <a:p>
            <a:r>
              <a:t>1つ目は届け先です。高ポテンシャル医師191名に、MRもMR君も届いていません。</a:t>
            </a:r>
          </a:p>
          <a:p>
            <a:r>
              <a:t>2つ目は内容です。全員に同じ10本を送っていますが、重視する情報は科によって違います。</a:t>
            </a:r>
          </a:p>
          <a:p>
            <a:r>
              <a:t>3つ目はMRとの接点です。MR面談がある高ポテンシャル医師は17%だけです。</a:t>
            </a:r>
          </a:p>
          <a:p>
            <a:r>
              <a:t>1つ目は提案①、2つ目は提案②で解決し、3つ目はMRの訪問先の見直しで補います。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提案①は、配信対象の見直しです。</a:t>
            </a:r>
          </a:p>
          <a:p>
            <a:r>
              <a:t>MRもMR君も届いていない高ポテンシャル医師191名には、新しく月1回送ります。すでに送っている高ポテンシャル医師392名は、年10回を12回にして、読んでいない重要な内容をもう一度送ります。</a:t>
            </a:r>
          </a:p>
          <a:p>
            <a:r>
              <a:t>その分の費用は、潜在が0〜2人と少ない医師993名への配信を、隔月にして生み出します。ゼロにはしません。</a:t>
            </a:r>
          </a:p>
          <a:p>
            <a:r>
              <a:t>費用は「読まれた件数×400円」で計算し、読まれる割合は実際の既読データを使いました。全体で年6.7万円下がるので、予算は増えません。</a:t>
            </a:r>
          </a:p>
          <a:p>
            <a:r>
              <a:t>浮いた予算は、MR面談の強化にも使えます。MR面談がある医師は、処方率が4.1ポイント高いという関係があります。そこで、MRの訪問先も高ポテンシャル医師に寄せることを提案します。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提案②は、送る内容の見直しです。新しく作らず、今ある10本の順番を科ごとに変えます。</a:t>
            </a:r>
          </a:p>
          <a:p>
            <a:r>
              <a:t>決め方は簡単で、その科で重視する医師が多いテーマから順に送ります。内科は飲み合わせのC04から、耳鼻咽喉科は24時間持続性のC05から始め、次は副作用のC03です。</a:t>
            </a:r>
          </a:p>
          <a:p>
            <a:r>
              <a:t>こうすると3本目までに、高ポテンシャル医師の約9割に、自分が一番重視するテーマが届きます。実際に既読データを見ると、医師は自分が重視するテーマの内容を、ほかより約1.3倍よく読んでいます。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費用を比べます。</a:t>
            </a:r>
          </a:p>
          <a:p>
            <a:r>
              <a:t>A案は、提案①と②を行う予算維持型です。費用は153.4万円で、今の160.2万円より少なく収まります。</a:t>
            </a:r>
          </a:p>
          <a:p>
            <a:r>
              <a:t>B案は追加投資型で、まだ届いていない潜在5〜7人の医師260名にも送ります。A案より14.9万円多くかかります。</a:t>
            </a:r>
          </a:p>
          <a:p>
            <a:r>
              <a:t>なお、配信の設定や運用の費用は、まだ確認できていません。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ここまでは回答医師5,000名での計算です。これを全国に広げました。</a:t>
            </a:r>
          </a:p>
          <a:p>
            <a:r>
              <a:t>厚生労働省の医師数を使って、内科は30倍、耳鼻咽喉科は約7.7倍に広げています。全国の医師数をアンケートの医師数で割った倍率です。</a:t>
            </a:r>
          </a:p>
          <a:p>
            <a:r>
              <a:t>そうすると、全国の高ポテンシャル医師は約1.2万人、新しく送る対象は約3,100人になります。</a:t>
            </a:r>
          </a:p>
          <a:p>
            <a:r>
              <a:t>MR君の費用は全国で約2,068万円から2,076万円になり、A案で増える費用は年8万円とほぼゼロです。これは単純に広げた推計です。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最後に、売上がどれくらい増えるかです。計算は「増える処方患者×1人あたりの売上」です。</a:t>
            </a:r>
          </a:p>
          <a:p>
            <a:r>
              <a:t>増える処方患者は、「新しく読む医師の数×1人あたりの潜在患者×新しく処方される割合」で求めました。この割合は、配信している医師としていない医師の、処方率の伸びの差から計算した参考値の下限に近い、3%を基準にしています。</a:t>
            </a:r>
          </a:p>
          <a:p>
            <a:r>
              <a:t>1人あたりの売上は、50億円のうち内科・耳鼻咽喉科の分を、全国の処方患者数の推計で割って、約2.7万円としました。</a:t>
            </a:r>
          </a:p>
          <a:p>
            <a:r>
              <a:t>基準ケースでは、A案は増える費用8万円で、売上が893万円、0.18%増えます。B案は増える費用297万円で、売上が2,356万円増えます。</a:t>
            </a:r>
          </a:p>
          <a:p>
            <a:r>
              <a:t>これは仮定を置いた試算です。まずA案で、読まれ方や処方の変化を確かめてから、B案と全国展開を判断することを提案します。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まとめです。</a:t>
            </a:r>
          </a:p>
          <a:p>
            <a:r>
              <a:t>MR君の配信先を、潜在患者の多い高ポテンシャル医師に寄せます。そして、送る内容を科ごとに変えます。</a:t>
            </a:r>
          </a:p>
          <a:p>
            <a:r>
              <a:t>予算をほとんど増やさずに、処方を増やすことを目指します。まずA案で効果を確かめ、その後にB案と全国展開を考えます。</a:t>
            </a:r>
          </a:p>
          <a:p>
            <a:r>
              <a:t>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2000" b="1">
                <a:solidFill>
                  <a:srgbClr val="5F6B7A"/>
                </a:solidFill>
                <a:latin typeface="Meiryo"/>
              </a:rPr>
              <a:t>薬剤Aの処方拡大に向けた提案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1168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MR君の配信対象と</a:t>
            </a:r>
          </a:p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配信内容の最適化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― 医師ごとの処方拡大余地に応じた配信設計と、全国展開の可能性 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572000"/>
            <a:ext cx="10241280" cy="0"/>
          </a:xfrm>
          <a:prstGeom prst="line">
            <a:avLst/>
          </a:prstGeom>
          <a:ln w="19050">
            <a:solidFill>
              <a:srgbClr val="0B2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05840" y="475488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2026年10月9日 最終発表</a:t>
            </a:r>
          </a:p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M3 データサイエンスインターン 王 子成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高ポテンシャル医師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内科・耳鼻で潜在8人以上の701名を「高ポテンシャル医師」とする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配信率は潜在患者数と無関係に約7割。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高ポテンシャル医師191名にはMR・MR君が届いていない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高ポテンシャル医師701名のうち、MRもMR君も届いていない医師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1人あたり潜在未処方10.7人(高ポテンシャル医師で最多)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高ポテンシャル医師701名がアンケートQ2で1位にした特性。類似高処方医師 = 同じ診療科・患者数帯・施設区分で処方率50%以上(634名)。差は関連。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高ポテンシャル医師が最も重視する特性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高ポテンシャル医師17%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高ポテンシャル医師はMRに会えていない。MR君で補う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問題点は3つ。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届け先・届ける内容・MRとの接点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問題点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p.2〜4の要点。17% vs 51%は、同じ診療科・患者数・施設区分で処方の多い医師との比較(関連)。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① 届け先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潜在の多い高ポテンシャル医師に、MRもMR君も届いていない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配信率は潜在患者数に関係なく約7割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91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② 届ける内容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E8602C"/>
                </a:solidFill>
                <a:latin typeface="Meiryo"/>
              </a:rPr>
              <a:t>10本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全員に同じ10本を同じように配信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重視する情報は診療科で違う(内科は飲み合わせ58%、耳鼻は24h持続性44%)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11880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3611880" cy="91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600200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0B2A5B"/>
                </a:solidFill>
                <a:latin typeface="Meiryo"/>
              </a:rPr>
              <a:t>③ MRとの接点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103120"/>
            <a:ext cx="32918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800" b="1">
                <a:solidFill>
                  <a:srgbClr val="0B2A5B"/>
                </a:solidFill>
                <a:latin typeface="Meiryo"/>
              </a:rPr>
              <a:t>17%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291840"/>
            <a:ext cx="329184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MR面談がある高ポテンシャル医師の割合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処方の多い類似医師は51%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①は提案①(配信対象)、②は提案②(配信内容)で解決し、③はMR訪問の優先順位で補う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 配信対象: 高ポテンシャル医師への配信を増やし、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低ポテンシャル医師は隔月に(MR面談も寄せる)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回答医師5,000名での設計。12回 = 10本 + 未読の上位コンテンツの再配信2回。+4.1pt = 内科・耳鼻・患者8人以上の重回帰(因果ではない)。MRの訪問費用はデータになし。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−6.7万円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年間費用の変化(A案、回答医師)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+11.9万円(①②)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−18.6万円(③)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浮いた予算はMR面談の強化にも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MR面談がある医師は処方率が+4.1pt高い(関連)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MRの訪問先も高ポテンシャル医師に寄せる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予算を増やさずに配信を移し、浮いた予算はMR面談の強化に回せる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提案② 配信内容: 診療科別に届ける順番を変える。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コンテンツ名と主要テーマで選定(本文は配信前に確認)。%は、そのテーマを最も重視する高ポテンシャル医師の割合。4本目以降も重視する医師が多い順。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内科の高ポテンシャル医師に届ける順番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耳鼻咽喉科の高ポテンシャル医師に届ける順番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3本目までに、高ポテンシャル医師の約9割に、自分が最も重視するテーマが届く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 A案・B案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回答医師5,000名・1年分。既読課金 = 既読件数 × 400円(既読率は群別の実測値)。配信設定・制作・運用管理・効果検証の費用は未確認(0円ではない)。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MR君の既読課金(年、万円)と配信する医師数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153.4万円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A案(現状160.2万円の範囲内)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提案①+②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A案+未接触・潜在5〜7人の260名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(A案より+14.9万円)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予測評価① 全国の高ポテンシャル医師は約1.2万人。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A案の追加費用はほぼゼロ(推計)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内科62,161名、耳鼻咽喉科9,300名(暫定)。倍率 内科30.0倍・耳鼻7.66倍。配信は実施可能割合90%(仮定)。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全国の配信対象(内科・耳鼻、推計)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+8万円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A案の追加費用(全国、年)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 2,068万円 → 2,076万円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B案は+297万円(現状比)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既読課金以外の費用は未確認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5,000名での配置ルールを、そのまま全国の内科・耳鼻に当てはめる(推計値)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予測評価② A案は追加費用+8万円で売上+893万円、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B案は+297万円で+2,356万円(全国・基準・試算)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全国の内科・耳鼻。1人あたり年間売上 = 50億円 × 87%(内科・耳鼻の処方患者の割合) ÷ 全国の処方患者推計。転換率は仮定。売上≠利益。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追加費用と追加売上(全国、年、万円、基準)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① 全国の追加処方患者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約330人 / B案 約870人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06624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② × 1人あたり年間売上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約2.7万円(推計)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493008"/>
            <a:ext cx="3547872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③ = 追加売上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E8602C"/>
                </a:solidFill>
                <a:latin typeface="Meiryo"/>
              </a:rPr>
              <a:t>A案 +893万円 / B案 +2,356万円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43400"/>
            <a:ext cx="3547872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売上50億円の +0.18%(A案)/ +0.47%(B案)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幅 A案 298〜1,787万円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0B2A5B"/>
                </a:solidFill>
                <a:latin typeface="Meiryo"/>
              </a:rPr>
              <a:t>幅 B案 785〜4,712万円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 A案で既読・理解度・処方率を検証 → ② B案(追加投資) → ③ 全国展開を判断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まとめ: 配信対象と配信内容を最適化し、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予算を増やさずに処方拡大を狙う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回答医師5,000名での設計を全国の内科・耳鼻に当てはめた推計(基準 = 転換率3%、仮定)。因果効果ではない。売上であり利益ではない。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5029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提案① 配信対象の最適化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今の課題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配信率は潜在患者数に関係なく約7割。高ポテンシャル医師191名は未接触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改善策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未接触191名に月1回、配信中392名も月1回、潜在0〜2人993名は隔月。MR面談も高ポテンシャル医師へ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回答医師では費用が年6.7万円減。全国の高ポテンシャル医師は約1.2万人(推計)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4406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提案② 配信内容の最適化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今の課題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全員に同じ10本。重視する情報は診療科で違う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07208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改善策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診療科別の配信順: 内科C04(飲み合わせ)→C03→C05、耳鼻C05(24h持続性)→C03→C01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48456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規模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3本目までに高ポテンシャル医師の約9割に最重視テーマが届く。新規制作なし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53712"/>
            <a:ext cx="11183112" cy="86868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0B2A5B"/>
                </a:solidFill>
                <a:latin typeface="Meiryo"/>
              </a:rPr>
              <a:t>予測効果(全国・基準)  </a:t>
            </a:r>
            <a:r>
              <a:rPr sz="1800" b="1">
                <a:solidFill>
                  <a:srgbClr val="E8602C"/>
                </a:solidFill>
                <a:latin typeface="Meiryo"/>
              </a:rPr>
              <a:t>A案 追加費用+8万円 → 売上+893万円</a:t>
            </a:r>
            <a:r>
              <a:rPr sz="1600" b="1">
                <a:solidFill>
                  <a:srgbClr val="0B2A5B"/>
                </a:solidFill>
                <a:latin typeface="Meiryo"/>
              </a:rPr>
              <a:t>   B案 +297万円 → +2,356万円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まずA案で効果を検証し、その後に追加投資(B案)と全国展開を判断する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