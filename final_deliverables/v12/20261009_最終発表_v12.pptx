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E8602C"/>
              </a:solidFill>
            </c:spPr>
          </c:dPt>
          <c:dPt>
            <c:idx val="1"/>
            <c:spPr>
              <a:solidFill>
                <a:srgbClr val="E8602C"/>
              </a:solidFill>
            </c:spPr>
          </c:dPt>
          <c:dPt>
            <c:idx val="2"/>
            <c:spPr>
              <a:solidFill>
                <a:srgbClr val="B8C2CF"/>
              </a:solidFill>
            </c:spPr>
          </c:dPt>
          <c:dPt>
            <c:idx val="3"/>
            <c:spPr>
              <a:solidFill>
                <a:srgbClr val="B8C2CF"/>
              </a:solidFill>
            </c:spPr>
          </c:dPt>
          <c:cat>
            <c:strRef>
              <c:f>Sheet1!$A$2:$A$5</c:f>
              <c:strCache>
                <c:ptCount val="4"/>
                <c:pt idx="0">
                  <c:v>内科</c:v>
                </c:pt>
                <c:pt idx="1">
                  <c:v>耳鼻咽喉科</c:v>
                </c:pt>
                <c:pt idx="2">
                  <c:v>小児科</c:v>
                </c:pt>
                <c:pt idx="3">
                  <c:v>眼科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9538</c:v>
                </c:pt>
                <c:pt idx="1">
                  <c:v>8128</c:v>
                </c:pt>
                <c:pt idx="2">
                  <c:v>3988</c:v>
                </c:pt>
                <c:pt idx="3">
                  <c:v>1280</c:v>
                </c:pt>
              </c:numCache>
            </c:numRef>
          </c:val>
        </c:ser>
        <c:dLbls>
          <c:numFmt formatCode="#,##0&quot;人&quot;" sourceLinked="0"/>
          <c:txPr>
            <a:bodyPr/>
            <a:lstStyle/>
            <a:p>
              <a:pPr>
                <a:defRPr sz="1700" b="1">
                  <a:latin typeface="Meiry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5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50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配信率</c:v>
                </c:pt>
              </c:strCache>
            </c:strRef>
          </c:tx>
          <c:spPr>
            <a:solidFill>
              <a:srgbClr val="0B2A5B"/>
            </a:solidFill>
          </c:spPr>
          <c:invertIfNegative val="0"/>
          <c:dPt>
            <c:idx val="0"/>
            <c:spPr>
              <a:solidFill>
                <a:srgbClr val="B8C2CF"/>
              </a:solidFill>
            </c:spPr>
          </c:dPt>
          <c:dPt>
            <c:idx val="1"/>
            <c:spPr>
              <a:solidFill>
                <a:srgbClr val="B8C2CF"/>
              </a:solidFill>
            </c:spPr>
          </c:dPt>
          <c:dPt>
            <c:idx val="2"/>
            <c:spPr>
              <a:solidFill>
                <a:srgbClr val="E8602C"/>
              </a:solidFill>
            </c:spPr>
          </c:dPt>
          <c:cat>
            <c:strRef>
              <c:f>Sheet1!$A$2:$A$4</c:f>
              <c:strCache>
                <c:ptCount val="3"/>
                <c:pt idx="0">
                  <c:v>潜在0〜2人</c:v>
                </c:pt>
                <c:pt idx="1">
                  <c:v>潜在3〜7人</c:v>
                </c:pt>
                <c:pt idx="2">
                  <c:v>潜在8人以上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0.7093425605536332</c:v>
                </c:pt>
                <c:pt idx="1">
                  <c:v>0.6920777279521674</c:v>
                </c:pt>
                <c:pt idx="2">
                  <c:v>0.6761768901569187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22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5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飲み合わせ</c:v>
                </c:pt>
              </c:strCache>
            </c:strRef>
          </c:tx>
          <c:spPr>
            <a:solidFill>
              <a:srgbClr val="E8602C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内科</c:v>
                </c:pt>
                <c:pt idx="1">
                  <c:v>耳鼻咽喉科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0.5787671232876712</c:v>
                </c:pt>
                <c:pt idx="1">
                  <c:v>0.1149144254278728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24h持続性</c:v>
                </c:pt>
              </c:strCache>
            </c:strRef>
          </c:tx>
          <c:spPr>
            <a:solidFill>
              <a:srgbClr val="0B2A5B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内科</c:v>
                </c:pt>
                <c:pt idx="1">
                  <c:v>耳鼻咽喉科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0.1506849315068493</c:v>
                </c:pt>
                <c:pt idx="1">
                  <c:v>0.4400977995110024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副作用</c:v>
                </c:pt>
              </c:strCache>
            </c:strRef>
          </c:tx>
          <c:spPr>
            <a:solidFill>
              <a:srgbClr val="9DB4D8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内科</c:v>
                </c:pt>
                <c:pt idx="1">
                  <c:v>耳鼻咽喉科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0.2226027397260274</c:v>
                </c:pt>
                <c:pt idx="1">
                  <c:v>0.2860635696821516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効果発現速度</c:v>
                </c:pt>
              </c:strCache>
            </c:strRef>
          </c:tx>
          <c:spPr>
            <a:solidFill>
              <a:srgbClr val="B8C2CF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内科</c:v>
                </c:pt>
                <c:pt idx="1">
                  <c:v>耳鼻咽喉科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0.047945205479452</c:v>
                </c:pt>
                <c:pt idx="1">
                  <c:v>0.1589242053789731</c:v>
                </c:pt>
              </c:numCache>
            </c:numRef>
          </c:val>
        </c:ser>
        <c:dLbls>
          <c:numFmt formatCode="[&lt;0.06]&quot;&quot;;0%" sourceLinked="0"/>
          <c:txPr>
            <a:bodyPr/>
            <a:lstStyle/>
            <a:p>
              <a:pPr>
                <a:defRPr sz="1700" b="1">
                  <a:solidFill>
                    <a:srgbClr val="FFFFFF"/>
                  </a:solidFill>
                  <a:latin typeface="Meiryo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5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300">
              <a:latin typeface="Meiry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現状</c:v>
                </c:pt>
              </c:strCache>
            </c:strRef>
          </c:tx>
          <c:spPr>
            <a:solidFill>
              <a:srgbClr val="B8C2CF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① 未接触の
高ポテンシャル医師
191名</c:v>
                </c:pt>
                <c:pt idx="1">
                  <c:v>② 配信中の
高ポテンシャル医師
392名</c:v>
                </c:pt>
                <c:pt idx="2">
                  <c:v>③ 潜在0〜2人の医師
(全診療科)
993名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10</c:v>
                </c:pt>
                <c:pt idx="2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A案</c:v>
                </c:pt>
              </c:strCache>
            </c:strRef>
          </c:tx>
          <c:spPr>
            <a:solidFill>
              <a:srgbClr val="E8602C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① 未接触の
高ポテンシャル医師
191名</c:v>
                </c:pt>
                <c:pt idx="1">
                  <c:v>② 配信中の
高ポテンシャル医師
392名</c:v>
                </c:pt>
                <c:pt idx="2">
                  <c:v>③ 潜在0〜2人の医師
(全診療科)
993名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</c:v>
                </c:pt>
                <c:pt idx="1">
                  <c:v>12</c:v>
                </c:pt>
                <c:pt idx="2">
                  <c:v>6</c:v>
                </c:pt>
              </c:numCache>
            </c:numRef>
          </c:val>
        </c:ser>
        <c:dLbls>
          <c:numFmt formatCode="0&quot;回&quot;" sourceLinked="0"/>
          <c:txPr>
            <a:bodyPr/>
            <a:lstStyle/>
            <a:p>
              <a:pPr>
                <a:defRPr sz="18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3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300">
              <a:latin typeface="Meiry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そのテーマを最も重視する医師</c:v>
                </c:pt>
              </c:strCache>
            </c:strRef>
          </c:tx>
          <c:spPr>
            <a:solidFill>
              <a:srgbClr val="0B2A5B"/>
            </a:solidFill>
          </c:spPr>
          <c:invertIfNegative val="0"/>
          <c:dPt>
            <c:idx val="0"/>
            <c:spPr>
              <a:solidFill>
                <a:srgbClr val="E8602C"/>
              </a:solidFill>
            </c:spPr>
          </c:dPt>
          <c:dPt>
            <c:idx val="1"/>
            <c:spPr>
              <a:solidFill>
                <a:srgbClr val="0B2A5B"/>
              </a:solidFill>
            </c:spPr>
          </c:dPt>
          <c:dPt>
            <c:idx val="2"/>
            <c:spPr>
              <a:solidFill>
                <a:srgbClr val="0B2A5B"/>
              </a:solidFill>
            </c:spPr>
          </c:dPt>
          <c:cat>
            <c:strRef>
              <c:f>Sheet1!$A$2:$A$4</c:f>
              <c:strCache>
                <c:ptCount val="3"/>
                <c:pt idx="0">
                  <c:v>1本目 C04 飲み合わせガイド</c:v>
                </c:pt>
                <c:pt idx="1">
                  <c:v>2本目 C03 副作用プロファイル</c:v>
                </c:pt>
                <c:pt idx="2">
                  <c:v>3本目 C05 24時間カバーの臨床エビデンス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0.5787671232876712</c:v>
                </c:pt>
                <c:pt idx="1">
                  <c:v>0.2226027397260274</c:v>
                </c:pt>
                <c:pt idx="2">
                  <c:v>0.1506849315068493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6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25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そのテーマを最も重視する医師</c:v>
                </c:pt>
              </c:strCache>
            </c:strRef>
          </c:tx>
          <c:spPr>
            <a:solidFill>
              <a:srgbClr val="0B2A5B"/>
            </a:solidFill>
          </c:spPr>
          <c:invertIfNegative val="0"/>
          <c:dPt>
            <c:idx val="0"/>
            <c:spPr>
              <a:solidFill>
                <a:srgbClr val="E8602C"/>
              </a:solidFill>
            </c:spPr>
          </c:dPt>
          <c:dPt>
            <c:idx val="1"/>
            <c:spPr>
              <a:solidFill>
                <a:srgbClr val="0B2A5B"/>
              </a:solidFill>
            </c:spPr>
          </c:dPt>
          <c:dPt>
            <c:idx val="2"/>
            <c:spPr>
              <a:solidFill>
                <a:srgbClr val="0B2A5B"/>
              </a:solidFill>
            </c:spPr>
          </c:dPt>
          <c:cat>
            <c:strRef>
              <c:f>Sheet1!$A$2:$A$4</c:f>
              <c:strCache>
                <c:ptCount val="3"/>
                <c:pt idx="0">
                  <c:v>1本目 C05 24時間カバーの臨床エビデンス</c:v>
                </c:pt>
                <c:pt idx="1">
                  <c:v>2本目 C03 副作用プロファイル</c:v>
                </c:pt>
                <c:pt idx="2">
                  <c:v>3本目 C01 即効メカニズム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0.4400977995110024</c:v>
                </c:pt>
                <c:pt idx="1">
                  <c:v>0.2860635696821516</c:v>
                </c:pt>
                <c:pt idx="2">
                  <c:v>0.1589242053789731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6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25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A案</c:v>
                </c:pt>
              </c:strCache>
            </c:strRef>
          </c:tx>
          <c:spPr>
            <a:solidFill>
              <a:srgbClr val="E8602C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内科</c:v>
                </c:pt>
                <c:pt idx="1">
                  <c:v>耳鼻咽喉科</c:v>
                </c:pt>
                <c:pt idx="2">
                  <c:v>小児科</c:v>
                </c:pt>
                <c:pt idx="3">
                  <c:v>眼科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-1.04</c:v>
                </c:pt>
                <c:pt idx="1">
                  <c:v>5.27</c:v>
                </c:pt>
                <c:pt idx="2">
                  <c:v>-7.32</c:v>
                </c:pt>
                <c:pt idx="3">
                  <c:v>-3.62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B案</c:v>
                </c:pt>
              </c:strCache>
            </c:strRef>
          </c:tx>
          <c:spPr>
            <a:solidFill>
              <a:srgbClr val="0B2A5B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内科</c:v>
                </c:pt>
                <c:pt idx="1">
                  <c:v>耳鼻咽喉科</c:v>
                </c:pt>
                <c:pt idx="2">
                  <c:v>小児科</c:v>
                </c:pt>
                <c:pt idx="3">
                  <c:v>眼科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8.22</c:v>
                </c:pt>
                <c:pt idx="1">
                  <c:v>10.88</c:v>
                </c:pt>
                <c:pt idx="2">
                  <c:v>-7.32</c:v>
                </c:pt>
                <c:pt idx="3">
                  <c:v>-3.62</c:v>
                </c:pt>
              </c:numCache>
            </c:numRef>
          </c:val>
        </c:ser>
        <c:dLbls>
          <c:numFmt formatCode="+0.00;&quot;−&quot;0.00" sourceLinked="0"/>
          <c:txPr>
            <a:bodyPr/>
            <a:lstStyle/>
            <a:p>
              <a:pPr>
                <a:defRPr sz="15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5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3.0"/>
          <c:min val="-1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300">
              <a:latin typeface="Meiry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医師数</c:v>
                </c:pt>
              </c:strCache>
            </c:strRef>
          </c:tx>
          <c:spPr>
            <a:solidFill>
              <a:srgbClr val="0B2A5B"/>
            </a:solidFill>
          </c:spPr>
          <c:invertIfNegative val="0"/>
          <c:dPt>
            <c:idx val="0"/>
            <c:spPr>
              <a:solidFill>
                <a:srgbClr val="B8C2CF"/>
              </a:solidFill>
            </c:spPr>
          </c:dPt>
          <c:dPt>
            <c:idx val="1"/>
            <c:spPr>
              <a:solidFill>
                <a:srgbClr val="E8602C"/>
              </a:solidFill>
            </c:spPr>
          </c:dPt>
          <c:dPt>
            <c:idx val="2"/>
            <c:spPr>
              <a:solidFill>
                <a:srgbClr val="E8602C"/>
              </a:solidFill>
            </c:spPr>
          </c:dPt>
          <c:dPt>
            <c:idx val="3"/>
            <c:spPr>
              <a:solidFill>
                <a:srgbClr val="0B2A5B"/>
              </a:solidFill>
            </c:spPr>
          </c:dPt>
          <c:dPt>
            <c:idx val="4"/>
            <c:spPr>
              <a:solidFill>
                <a:srgbClr val="9DB4D8"/>
              </a:solidFill>
            </c:spPr>
          </c:dPt>
          <c:cat>
            <c:strRef>
              <c:f>Sheet1!$A$2:$A$6</c:f>
              <c:strCache>
                <c:ptCount val="5"/>
                <c:pt idx="0">
                  <c:v>高ポテンシャル
医師</c:v>
                </c:pt>
                <c:pt idx="1">
                  <c:v>① 新規配信</c:v>
                </c:pt>
                <c:pt idx="2">
                  <c:v>② 年12回へ</c:v>
                </c:pt>
                <c:pt idx="3">
                  <c:v>③ 隔月
(内科・耳鼻)</c:v>
                </c:pt>
                <c:pt idx="4">
                  <c:v>⑤ B案で追加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11900.0</c:v>
                </c:pt>
                <c:pt idx="1">
                  <c:v>3450.0</c:v>
                </c:pt>
                <c:pt idx="2">
                  <c:v>6630.0</c:v>
                </c:pt>
                <c:pt idx="3">
                  <c:v>10810.0</c:v>
                </c:pt>
                <c:pt idx="4">
                  <c:v>5610.0</c:v>
                </c:pt>
              </c:numCache>
            </c:numRef>
          </c:val>
        </c:ser>
        <c:dLbls>
          <c:numFmt formatCode="#,##0&quot;人&quot;" sourceLinked="0"/>
          <c:txPr>
            <a:bodyPr/>
            <a:lstStyle/>
            <a:p>
              <a:pPr>
                <a:defRPr sz="15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3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0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A案</c:v>
                </c:pt>
              </c:strCache>
            </c:strRef>
          </c:tx>
          <c:spPr>
            <a:solidFill>
              <a:srgbClr val="E8602C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保守(1%)</c:v>
                </c:pt>
                <c:pt idx="1">
                  <c:v>基準(3%)</c:v>
                </c:pt>
                <c:pt idx="2">
                  <c:v>楽観(6%)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298</c:v>
                </c:pt>
                <c:pt idx="1">
                  <c:v>893</c:v>
                </c:pt>
                <c:pt idx="2">
                  <c:v>1787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B案</c:v>
                </c:pt>
              </c:strCache>
            </c:strRef>
          </c:tx>
          <c:spPr>
            <a:solidFill>
              <a:srgbClr val="0B2A5B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保守(1%)</c:v>
                </c:pt>
                <c:pt idx="1">
                  <c:v>基準(3%)</c:v>
                </c:pt>
                <c:pt idx="2">
                  <c:v>楽観(6%)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785</c:v>
                </c:pt>
                <c:pt idx="1">
                  <c:v>2355</c:v>
                </c:pt>
                <c:pt idx="2">
                  <c:v>4711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600" b="1"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2CF"/>
            </a:solidFill>
          </a:ln>
        </c:spPr>
        <c:txPr>
          <a:bodyPr/>
          <a:lstStyle/>
          <a:p>
            <a:pPr>
              <a:defRPr sz="15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2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300">
              <a:latin typeface="Meiry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[0:45] 結論から申し上げます。MR君の「配信対象」と「配信内容」を変えることを提案します。</a:t>
            </a:r>
          </a:p>
          <a:p>
            <a:r>
              <a:t>高ポテンシャル医師には年12回送り、潜在の少ない医師は隔月にします。内容は、診療科ごとに重視されるテーマから届けます。</a:t>
            </a:r>
          </a:p>
          <a:p>
            <a:r>
              <a:t>全国で試算すると、A案は費用の増加が年8.4万円で、売上は年893万円増えます。転換率3%を仮定した試算で、利益ではありません。</a:t>
            </a:r>
          </a:p>
          <a:p>
            <a:r>
              <a:t>アンケートに答えた医師5,000名で配信ルールを作り、同じルールを全国に広げています。まずA案で検証することを提案します。ここから根拠をお話しします。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[0:40] まず、処方を増やせる余地がどこにあるかです。</a:t>
            </a:r>
          </a:p>
          <a:p>
            <a:r>
              <a:t>花粉症の患者数から、薬剤Aを処方している患者数を引いた数を「潜在未処方」と呼びます。その77%が、内科と耳鼻咽喉科にあります。</a:t>
            </a:r>
          </a:p>
          <a:p>
            <a:r>
              <a:t>この2つの科で潜在が8人以上の医師701名、2科の医師の21%が、2科の潜在の41%を持っています。この701名を「高ポテンシャル医師」と呼びます。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[0:35] 次に、今の配信先です。MR君の配信リストとアンケートを、医師ごとにつなげて調べました。</a:t>
            </a:r>
          </a:p>
          <a:p>
            <a:r>
              <a:t>配信率は、潜在が0〜2人の医師で71%、8人以上の医師で68%と、ほとんど同じです。</a:t>
            </a:r>
          </a:p>
          <a:p>
            <a:r>
              <a:t>その結果、高ポテンシャル医師のうち191名には、MRもMR君も届いていません。これが1つ目の問題、「届け先」です。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[0:45] 2つ目の問題は「内容」です。高ポテンシャル医師が最も重視する特性は、科によって違います。内科は58%が飲み合わせ、耳鼻咽喉科は44%が24時間持続性、29%が副作用です。それでも今は、全員に同じ10本を送っています。</a:t>
            </a:r>
          </a:p>
          <a:p>
            <a:r>
              <a:t>また、MR面談を受けている割合は17%です。同じ科・患者数・施設区分で処方の多い医師では51%でした。これは関連で、因果ではありませんが、MR君で接点を補う理由になります。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[0:50] 提案①は、配信対象の見直しです。</a:t>
            </a:r>
          </a:p>
          <a:p>
            <a:r>
              <a:t>MRもMR君も届いていない高ポテンシャル医師191名には、新しく年12回送ります。配信中でMR面談のない392名は、年10回を12回にして、読まれていない重要なコンテンツをもう一度送ります。</a:t>
            </a:r>
          </a:p>
          <a:p>
            <a:r>
              <a:t>その分、潜在が0〜2人の医師993名は、10回を6回、つまり隔月にします。ゼロにはしません。</a:t>
            </a:r>
          </a:p>
          <a:p>
            <a:r>
              <a:t>12回は提案する回数で、最適な回数はまだ検証していません。MR面談がある医師は処方率が4.1ポイント高いという関連があるので、MRの訪問先の優先順位にも、この医師リストを共有します。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[0:45] 提案②は、配信内容の見直しです。新しく作らず、今ある10本の順番を科ごとに変えます。</a:t>
            </a:r>
          </a:p>
          <a:p>
            <a:r>
              <a:t>その科で最も重視する医師が多いテーマから並べます。内科は飲み合わせのC04、耳鼻咽喉科は24時間持続性のC05から始めます。</a:t>
            </a:r>
          </a:p>
          <a:p>
            <a:r>
              <a:t>こうすると、配信計画の上では、3本目までに高ポテンシャル医師の約9割の「最も重視するテーマ」が入ります。実際に読まれる割合ではありません。ただ、医師は重視するテーマのコンテンツを約1.3倍よく読んで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[0:45] 費用です。「既読1件400円」で、群ごとに実際の既読率を使って計算しました。</a:t>
            </a:r>
          </a:p>
          <a:p>
            <a:r>
              <a:t>回答医師5,000名では、現状160.16万円に対して、A案は153.45万円で、6.71万円下がります。B案は、まだ届いていない潜在5〜7人の医師260名にも送り、168.32万円、A案より14.87万円多くなります。</a:t>
            </a:r>
          </a:p>
          <a:p>
            <a:r>
              <a:t>科別に見ると、下がる分の多くは小児科と眼科です。内科と耳鼻咽喉科だけでは、A案でも4.23万円増えます。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[0:45] 次に全国です。厚生労働省の医療施設従事医師数を、アンケートの医師数で割り、内科は30.0倍、耳鼻咽喉科は7.69倍と、科ごとに広げました。小児科と眼科は全国の数を使っていないので、含めていません。</a:t>
            </a:r>
          </a:p>
          <a:p>
            <a:r>
              <a:t>全国の高ポテンシャル医師は約11,900人です。施策を実施できる医師を90%と仮定すると、MR君の費用は、現状の推計約2,298万円に対して、A案で8.4万円、B案で297.3万円増えます。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[0:45] 最後に売上です。増える処方患者は、「新しく読む医師×1人あたりの潜在×転換率」で計算しました。転換率は仮定で、基準3%、幅は1%から6%です。</a:t>
            </a:r>
          </a:p>
          <a:p>
            <a:r>
              <a:t>1人あたりの売上は、50億円のうち内科と耳鼻咽喉科の分87%を、全国の処方患者の推計で割った約2.7万円です。検証できていない参考値です。</a:t>
            </a:r>
          </a:p>
          <a:p>
            <a:r>
              <a:t>基準では、A案で893万円、B案で2,355万円の売上増です。まずA案で既読と処方の変化を確かめ、その後にB案と全国展開を判断します。以上です。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結論: MR君の「配信対象」と「配信内容」を変え、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費用+8.4万円で売上+893万円を狙う(全国・年・試算)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結論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2026年10月9日 最終発表 / M3 データサイエンスインターン 王 子成。売上は転換率3%(仮定)の試算で、利益ではない。費用は既読課金のみ(制作・運用・MRは未確認)。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3611880" cy="457200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l"/>
            <a:r>
              <a:rPr sz="1600" b="1">
                <a:solidFill>
                  <a:srgbClr val="FFFFFF"/>
                </a:solidFill>
                <a:latin typeface="Meiryo"/>
              </a:rPr>
              <a:t>何をするか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01952"/>
            <a:ext cx="3611880" cy="1261872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E8602C"/>
                </a:solidFill>
                <a:latin typeface="Meiryo"/>
              </a:rPr>
              <a:t>提案① 配信対象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B1B1B"/>
                </a:solidFill>
                <a:latin typeface="Meiryo"/>
              </a:rPr>
              <a:t>高ポテンシャル医師に年12回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B1B1B"/>
                </a:solidFill>
                <a:latin typeface="Meiryo"/>
              </a:rPr>
              <a:t>潜在0〜2人の医師は隔月(年6回)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246120"/>
            <a:ext cx="3611880" cy="1261872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E8602C"/>
                </a:solidFill>
                <a:latin typeface="Meiryo"/>
              </a:rPr>
              <a:t>提案② 配信内容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B1B1B"/>
                </a:solidFill>
                <a:latin typeface="Meiryo"/>
              </a:rPr>
              <a:t>診療科ごとに重視テーマから届ける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B1B1B"/>
                </a:solidFill>
                <a:latin typeface="Meiryo"/>
              </a:rPr>
              <a:t>(内科は飲み合わせ、耳鼻は24h持続性)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611880" cy="4572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l"/>
            <a:r>
              <a:rPr sz="1600" b="1">
                <a:solidFill>
                  <a:srgbClr val="FFFFFF"/>
                </a:solidFill>
                <a:latin typeface="Meiryo"/>
              </a:rPr>
              <a:t>全国の効果(年・試算)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901952"/>
            <a:ext cx="3611880" cy="1261872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A5B"/>
                </a:solidFill>
                <a:latin typeface="Meiryo"/>
              </a:rPr>
              <a:t>A案(提案①+②)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1B1B1B"/>
                </a:solidFill>
                <a:latin typeface="Meiryo"/>
              </a:rPr>
              <a:t>売上 +893万円 / 費用 +8.4万円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3246120"/>
            <a:ext cx="3611880" cy="1261872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B2A5B"/>
                </a:solidFill>
                <a:latin typeface="Meiryo"/>
              </a:rPr>
              <a:t>B案(A案+潜在5〜7人)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1B1B1B"/>
                </a:solidFill>
                <a:latin typeface="Meiryo"/>
              </a:rPr>
              <a:t>売上 +2,355万円 / 費用 +297.3万円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371600"/>
            <a:ext cx="3611880" cy="457200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l"/>
            <a:r>
              <a:rPr sz="1600" b="1">
                <a:solidFill>
                  <a:srgbClr val="FFFFFF"/>
                </a:solidFill>
                <a:latin typeface="Meiryo"/>
              </a:rPr>
              <a:t>次の一手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901952"/>
            <a:ext cx="3611880" cy="1261872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E8602C"/>
                </a:solidFill>
                <a:latin typeface="Meiryo"/>
              </a:rPr>
              <a:t>まずA案で検証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B1B1B"/>
                </a:solidFill>
                <a:latin typeface="Meiryo"/>
              </a:rPr>
              <a:t>既読率・理解度・処方率を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B1B1B"/>
                </a:solidFill>
                <a:latin typeface="Meiryo"/>
              </a:rPr>
              <a:t>配信の群ごとに比べる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3246120"/>
            <a:ext cx="3611880" cy="1261872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E8602C"/>
                </a:solidFill>
                <a:latin typeface="Meiryo"/>
              </a:rPr>
              <a:t>効果を確認後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B1B1B"/>
                </a:solidFill>
                <a:latin typeface="Meiryo"/>
              </a:rPr>
              <a:t>B案 → 全国展開を判断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681728"/>
            <a:ext cx="11183112" cy="731520"/>
          </a:xfrm>
          <a:prstGeom prst="rect">
            <a:avLst/>
          </a:prstGeom>
          <a:noFill/>
          <a:ln w="19050">
            <a:solidFill>
              <a:srgbClr val="0B2A5B"/>
            </a:solidFill>
          </a:ln>
          <a:effectLst/>
        </p:spPr>
        <p:txBody>
          <a:bodyPr rtlCol="0" anchor="ctr" wrap="square"/>
          <a:lstStyle/>
          <a:p>
            <a:pPr algn="ctr"/>
            <a:r>
              <a:rPr sz="1900" b="1">
                <a:solidFill>
                  <a:srgbClr val="0B2A5B"/>
                </a:solidFill>
                <a:latin typeface="Meiryo"/>
              </a:rPr>
              <a:t>5,000名の回答データから配信ルールを設計し、同じルールを全国の対象医師へ展開する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根拠: 誰に(p.2〜3) → 何を(p.4) → 何回(p.5〜6) → 費用(p.7〜8) → 全国の売上(p.9)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潜在未処方患者の77%は内科・耳鼻咽喉科に集中。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その41%を潜在8人以上の医師が持つ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現状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潜在未処方 = 花粉症患者数 − 薬剤A処方患者数(2026年アンケート回答医師5,000名、直近1年・自己申告)。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診療科別の潜在未処方患者(人)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00200"/>
            <a:ext cx="3547872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5400" b="1">
                <a:solidFill>
                  <a:srgbClr val="E8602C"/>
                </a:solidFill>
                <a:latin typeface="Meiryo"/>
              </a:rPr>
              <a:t>41%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3383280"/>
            <a:ext cx="3547872" cy="187451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内科・耳鼻の医師の21%(701名)が、潜在の41%を持つ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潜在8人以上の医師 = 高ポテンシャル医師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内科・耳鼻で潜在8人以上の701名を「高ポテンシャル医師」とする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配信率は潜在患者数と無関係に約7割。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高ポテンシャル医師191名にはMR・MR君が届いていない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現状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配信率 = MR君の配信対象の割合(内科・耳鼻の回答医師3,286名)。配信対象の選定理由はデータにないため未確認。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MR君の配信率(潜在未処方の人数別)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00200"/>
            <a:ext cx="3547872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5400" b="1">
                <a:solidFill>
                  <a:srgbClr val="E8602C"/>
                </a:solidFill>
                <a:latin typeface="Meiryo"/>
              </a:rPr>
              <a:t>191名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3383280"/>
            <a:ext cx="3547872" cy="187451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高ポテンシャル医師701名のうち、MRもMR君も届いていない医師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1人あたり潜在未処方10.7人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問題①「届け先」: 配信対象を潜在患者数で選び直す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重視する情報は診療科で違う。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内科は飲み合わせ、耳鼻科は24h持続性・副作用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現状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高ポテンシャル医師701名がアンケートQ2で1位にした特性。類似高処方医師 = 同じ診療科・患者数帯・施設区分で処方率50%以上(634名)。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高ポテンシャル医師が最も重視する特性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00200"/>
            <a:ext cx="3547872" cy="17373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3800" b="1">
                <a:solidFill>
                  <a:srgbClr val="0B2A5B"/>
                </a:solidFill>
                <a:latin typeface="Meiryo"/>
              </a:rPr>
              <a:t>17% vs 51%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3383280"/>
            <a:ext cx="3547872" cy="187451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MR面談を受けている医師の割合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高ポテンシャル医師17%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処方の多い類似医師51%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(同じ診療科・患者数・施設区分)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差は関連であり、因果ではない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問題②「内容」: 診療科ごとに重視される情報から届ける。MRとの接点はMR君で補う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提案① 配信対象: 高ポテンシャル医師は年12回、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潜在0〜2人の医師は隔月(年6回)に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提案①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回答医師5,000名での設計。④MR面談あり・配信中の高ポテンシャル医師82名は年10回のまま。+4.1ptは重回帰の係数(関連)。MR訪問費用は未算定。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誰に・何回(医師1人あたりの年間配信回数)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00200"/>
            <a:ext cx="3547872" cy="11887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4600" b="1">
                <a:solidFill>
                  <a:srgbClr val="E8602C"/>
                </a:solidFill>
                <a:latin typeface="Meiryo"/>
              </a:rPr>
              <a:t>年12回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2834640"/>
            <a:ext cx="3547872" cy="100583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高ポテンシャル医師への提案頻度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既存10本+未読上位の再配信2回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Meiryo"/>
              </a:rPr>
              <a:t>最適な回数は未検証(A案で検証)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3931919"/>
            <a:ext cx="3547872" cy="13716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B2A5B"/>
                </a:solidFill>
                <a:latin typeface="Meiryo"/>
              </a:rPr>
              <a:t>MRとの連携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B1B"/>
                </a:solidFill>
                <a:latin typeface="Meiryo"/>
              </a:rPr>
              <a:t>MR面談あり医師は処方率+4.1pt(関連)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B1B"/>
                </a:solidFill>
                <a:latin typeface="Meiryo"/>
              </a:rPr>
              <a:t>→ 同じリストをMR訪問の優先先に共有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配信を潜在の多い医師に寄せ、少ない医師はゼロにせず隔月にする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提案② 配信内容: 診療科別に届ける順番を変える。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内科は飲み合わせ、耳鼻科は24h持続性から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提案②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コンテンツ名と主要テーマで選定(本文は配信前に確認)。%は、そのテーマを最も重視する高ポテンシャル医師の割合。4本目以降も重視する医師が多い順。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44068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内科の高ポテンシャル医師に届ける順番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5440680" cy="2240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6172200" y="1371600"/>
            <a:ext cx="544068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耳鼻咽喉科の高ポテンシャル医師に届ける順番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172200" y="1783080"/>
          <a:ext cx="5440680" cy="22402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4160520"/>
            <a:ext cx="11183112" cy="1234440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4160520"/>
            <a:ext cx="109728" cy="1234440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160520"/>
            <a:ext cx="2377440" cy="12344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4400" b="1">
                <a:solidFill>
                  <a:srgbClr val="E8602C"/>
                </a:solidFill>
                <a:latin typeface="Meiryo"/>
              </a:rPr>
              <a:t>約9割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80" y="4160520"/>
            <a:ext cx="8412480" cy="12344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650" b="1">
                <a:solidFill>
                  <a:srgbClr val="1B1B1B"/>
                </a:solidFill>
                <a:latin typeface="Meiryo"/>
              </a:rPr>
              <a:t>計画上、3本目までに高ポテンシャル医師の約9割の最重視テーマが含まれる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5F6B7A"/>
                </a:solidFill>
                <a:latin typeface="Meiryo"/>
              </a:rPr>
              <a:t>内科95%・耳鼻咽喉科89%(計画上のカバー率。実際の既読率ではない)。実測: 重視テーマの既読率13.9% vs その他11.0%(約1.3倍、関連)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既存の10本の順番を変えるだけ(新規制作なし)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回答医師5,000名では、A案は費用が6.71万円減り、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B案はA案より14.87万円増える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費用(5,000名)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既読課金 = 医師数 × 年間回数 × 群別の既読率(実測) × 400円。現状は実際の既読4,004件 × 400円。配信設定・制作・運用・効果検証の費用は未確認(0円ではない)。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診療科別の費用の変化(現状比、年、万円)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481328"/>
            <a:ext cx="3547872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500" b="1">
                <a:solidFill>
                  <a:srgbClr val="0B2A5B"/>
                </a:solidFill>
                <a:latin typeface="Meiryo"/>
              </a:rPr>
              <a:t>費用(既読課金、年)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920240"/>
            <a:ext cx="3547872" cy="8412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5F6B7A"/>
                </a:solidFill>
                <a:latin typeface="Meiryo"/>
              </a:rPr>
              <a:t>現状</a:t>
            </a:r>
          </a:p>
          <a:p>
            <a:pPr algn="l">
              <a:spcAft>
                <a:spcPts val="100"/>
              </a:spcAft>
            </a:pPr>
            <a:r>
              <a:rPr sz="1450" b="1">
                <a:solidFill>
                  <a:srgbClr val="1B1B1B"/>
                </a:solidFill>
                <a:latin typeface="Meiryo"/>
              </a:rPr>
              <a:t>160.16万円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2761488"/>
            <a:ext cx="3547872" cy="8412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5F6B7A"/>
                </a:solidFill>
                <a:latin typeface="Meiryo"/>
              </a:rPr>
              <a:t>A案 = 提案①+②</a:t>
            </a:r>
          </a:p>
          <a:p>
            <a:pPr algn="l">
              <a:spcAft>
                <a:spcPts val="100"/>
              </a:spcAft>
            </a:pPr>
            <a:r>
              <a:rPr sz="1450" b="1">
                <a:solidFill>
                  <a:srgbClr val="E8602C"/>
                </a:solidFill>
                <a:latin typeface="Meiryo"/>
              </a:rPr>
              <a:t>153.45万円(−6.71万円)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3602736"/>
            <a:ext cx="3547872" cy="8412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5F6B7A"/>
                </a:solidFill>
                <a:latin typeface="Meiryo"/>
              </a:rPr>
              <a:t>B案 = A案 + 未接触・潜在5〜7人の260名</a:t>
            </a:r>
          </a:p>
          <a:p>
            <a:pPr algn="l">
              <a:spcAft>
                <a:spcPts val="100"/>
              </a:spcAft>
            </a:pPr>
            <a:r>
              <a:rPr sz="1450" b="1">
                <a:solidFill>
                  <a:srgbClr val="1B1B1B"/>
                </a:solidFill>
                <a:latin typeface="Meiryo"/>
              </a:rPr>
              <a:t>168.32万円(A案比+14.87万円)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4443984"/>
            <a:ext cx="3547872" cy="8412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5F6B7A"/>
                </a:solidFill>
                <a:latin typeface="Meiryo"/>
              </a:rPr>
              <a:t>A案の内訳</a:t>
            </a:r>
          </a:p>
          <a:p>
            <a:pPr algn="l">
              <a:spcAft>
                <a:spcPts val="100"/>
              </a:spcAft>
            </a:pPr>
            <a:r>
              <a:rPr sz="1450" b="1">
                <a:solidFill>
                  <a:srgbClr val="1B1B1B"/>
                </a:solidFill>
                <a:latin typeface="Meiryo"/>
              </a:rPr>
              <a:t>内科・耳鼻 +4.23万円</a:t>
            </a:r>
          </a:p>
          <a:p>
            <a:pPr algn="l">
              <a:spcAft>
                <a:spcPts val="100"/>
              </a:spcAft>
            </a:pPr>
            <a:r>
              <a:rPr sz="1450" b="1">
                <a:solidFill>
                  <a:srgbClr val="1B1B1B"/>
                </a:solidFill>
                <a:latin typeface="Meiryo"/>
              </a:rPr>
              <a:t>小児・眼科 −10.94万円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A案の節約は主に小児科・眼科の隔月化 → 内科・耳鼻だけを広げる全国では費用は少し増える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全国の内科・耳鼻へ科別に広げると、高ポテンシャル医師は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約11,900人。費用の増加はA案+8.4万円(推計)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全国展開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厚労省 令和6年 医療施設従事医師(主たる診療科): 内科62,161名・耳鼻咽喉科9,330名(耳鼻は原典再確認中)。費用の変化に実施可能割合90%(仮定、m3.com登録率ではない)を掛ける。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全国の対象医師数(内科・耳鼻、推計)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481328"/>
            <a:ext cx="3547872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500" b="1">
                <a:solidFill>
                  <a:srgbClr val="0B2A5B"/>
                </a:solidFill>
                <a:latin typeface="Meiryo"/>
              </a:rPr>
              <a:t>計算の流れ(科別)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920240"/>
            <a:ext cx="3547872" cy="80467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5F6B7A"/>
                </a:solidFill>
                <a:latin typeface="Meiryo"/>
              </a:rPr>
              <a:t>倍率 = 全国医師数 ÷ 回答医師数</a:t>
            </a:r>
          </a:p>
          <a:p>
            <a:pPr algn="l">
              <a:spcAft>
                <a:spcPts val="100"/>
              </a:spcAft>
            </a:pPr>
            <a:r>
              <a:rPr sz="1350" b="1">
                <a:solidFill>
                  <a:srgbClr val="1B1B1B"/>
                </a:solidFill>
                <a:latin typeface="Meiryo"/>
              </a:rPr>
              <a:t>内科 62,161÷2,072 = 30.0倍</a:t>
            </a:r>
          </a:p>
          <a:p>
            <a:pPr algn="l">
              <a:spcAft>
                <a:spcPts val="100"/>
              </a:spcAft>
            </a:pPr>
            <a:r>
              <a:rPr sz="1350" b="1">
                <a:solidFill>
                  <a:srgbClr val="1B1B1B"/>
                </a:solidFill>
                <a:latin typeface="Meiryo"/>
              </a:rPr>
              <a:t>耳鼻 9,330÷1,214 = 7.69倍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2724912"/>
            <a:ext cx="3547872" cy="80467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5F6B7A"/>
                </a:solidFill>
                <a:latin typeface="Meiryo"/>
              </a:rPr>
              <a:t>費用の変化 = 5,000名での変化 × 倍率 × 90%</a:t>
            </a:r>
          </a:p>
          <a:p>
            <a:pPr algn="l">
              <a:spcAft>
                <a:spcPts val="100"/>
              </a:spcAft>
            </a:pPr>
            <a:r>
              <a:rPr sz="1350" b="1">
                <a:solidFill>
                  <a:srgbClr val="E8602C"/>
                </a:solidFill>
                <a:latin typeface="Meiryo"/>
              </a:rPr>
              <a:t>A案 +8.4万円</a:t>
            </a:r>
          </a:p>
          <a:p>
            <a:pPr algn="l">
              <a:spcAft>
                <a:spcPts val="100"/>
              </a:spcAft>
            </a:pPr>
            <a:r>
              <a:rPr sz="1350" b="1">
                <a:solidFill>
                  <a:srgbClr val="E8602C"/>
                </a:solidFill>
                <a:latin typeface="Meiryo"/>
              </a:rPr>
              <a:t>(内科 −28.1 / 耳鼻 +36.5)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3529584"/>
            <a:ext cx="3547872" cy="80467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5F6B7A"/>
                </a:solidFill>
                <a:latin typeface="Meiryo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350" b="1">
                <a:solidFill>
                  <a:srgbClr val="1B1B1B"/>
                </a:solidFill>
                <a:latin typeface="Meiryo"/>
              </a:rPr>
              <a:t>B案 +297.3万円</a:t>
            </a:r>
          </a:p>
          <a:p>
            <a:pPr algn="l">
              <a:spcAft>
                <a:spcPts val="100"/>
              </a:spcAft>
            </a:pPr>
            <a:r>
              <a:rPr sz="1350" b="1">
                <a:solidFill>
                  <a:srgbClr val="1B1B1B"/>
                </a:solidFill>
                <a:latin typeface="Meiryo"/>
              </a:rPr>
              <a:t>(内科 +222.1 / 耳鼻 +75.2)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4334256"/>
            <a:ext cx="3547872" cy="80467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5F6B7A"/>
                </a:solidFill>
                <a:latin typeface="Meiryo"/>
              </a:rPr>
              <a:t>現状の既読課金(推計)</a:t>
            </a:r>
          </a:p>
          <a:p>
            <a:pPr algn="l">
              <a:spcAft>
                <a:spcPts val="100"/>
              </a:spcAft>
            </a:pPr>
            <a:r>
              <a:rPr sz="1350" b="1">
                <a:solidFill>
                  <a:srgbClr val="1B1B1B"/>
                </a:solidFill>
                <a:latin typeface="Meiryo"/>
              </a:rPr>
              <a:t>約2,298万円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→ 5,000名で作った配信ルールを、科ごとの倍率で全国の内科・耳鼻に当てはめる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9144000" cy="89611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全国の追加売上(試算・基準)はA案+893万円、</a:t>
            </a:r>
          </a:p>
          <a:p>
            <a:pPr algn="l"/>
            <a:r>
              <a:rPr sz="2600" b="1">
                <a:solidFill>
                  <a:srgbClr val="0B2A5B"/>
                </a:solidFill>
                <a:latin typeface="Meiryo"/>
              </a:rPr>
              <a:t>B案+2,355万円。まずA案で検証する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207008"/>
            <a:ext cx="11183112" cy="0"/>
          </a:xfrm>
          <a:prstGeom prst="line">
            <a:avLst/>
          </a:prstGeom>
          <a:ln w="28575">
            <a:solidFill>
              <a:srgbClr val="0B2A5B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9829800" y="365760"/>
            <a:ext cx="1856231" cy="42062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602C"/>
            </a:solidFill>
            <a:prstDash val="dash"/>
          </a:ln>
          <a:effectLst/>
        </p:spPr>
        <p:txBody>
          <a:bodyPr rtlCol="0" anchor="ctr" wrap="square" lIns="18288" rIns="18288"/>
          <a:lstStyle/>
          <a:p>
            <a:pPr algn="ctr"/>
            <a:r>
              <a:rPr sz="1200" b="1">
                <a:solidFill>
                  <a:srgbClr val="E8602C"/>
                </a:solidFill>
                <a:latin typeface="Meiryo"/>
              </a:rPr>
              <a:t>全国の売上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088136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050" b="0">
                <a:solidFill>
                  <a:srgbClr val="5F6B7A"/>
                </a:solidFill>
                <a:latin typeface="Meiryo"/>
              </a:rPr>
              <a:t>転換率は仮定。3%は、配信あり/なしの処方率変化の差(+2.3pt、関連)から計算した参考値6.0%(95%下限2.8%)の下限付近。因果効果ではない。売上であり利益ではない。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0" y="6400800"/>
            <a:ext cx="530352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r"/>
            <a:r>
              <a:rPr sz="1100" b="0">
                <a:solidFill>
                  <a:srgbClr val="5F6B7A"/>
                </a:solidFill>
                <a:latin typeface="Meiryo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/>
          <a:lstStyle/>
          <a:p>
            <a:pPr algn="l"/>
            <a:r>
              <a:rPr sz="1600" b="1">
                <a:solidFill>
                  <a:srgbClr val="0B2A5B"/>
                </a:solidFill>
                <a:latin typeface="Meiryo"/>
              </a:rPr>
              <a:t>全国の追加売上(年、万円)― 転換率の仮定別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783080"/>
          <a:ext cx="690372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26679" y="1417320"/>
            <a:ext cx="3959352" cy="3977639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417320"/>
            <a:ext cx="109728" cy="3977639"/>
          </a:xfrm>
          <a:prstGeom prst="rect">
            <a:avLst/>
          </a:prstGeom>
          <a:solidFill>
            <a:srgbClr val="E860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481328"/>
            <a:ext cx="3547872" cy="4114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/>
          <a:lstStyle/>
          <a:p>
            <a:pPr algn="l"/>
            <a:r>
              <a:rPr sz="1500" b="1">
                <a:solidFill>
                  <a:srgbClr val="0B2A5B"/>
                </a:solidFill>
                <a:latin typeface="Meiryo"/>
              </a:rPr>
              <a:t>計算の流れ(基準)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920240"/>
            <a:ext cx="3547872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5F6B7A"/>
                </a:solidFill>
                <a:latin typeface="Meiryo"/>
              </a:rPr>
              <a:t>① 追加処方患者 = 新たに読む医師×潜在×転換率</a:t>
            </a:r>
          </a:p>
          <a:p>
            <a:pPr algn="l">
              <a:spcAft>
                <a:spcPts val="100"/>
              </a:spcAft>
            </a:pPr>
            <a:r>
              <a:rPr sz="1350" b="1">
                <a:solidFill>
                  <a:srgbClr val="1B1B1B"/>
                </a:solidFill>
                <a:latin typeface="Meiryo"/>
              </a:rPr>
              <a:t>A案 約330人 / B案 約870人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2743200"/>
            <a:ext cx="3547872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5F6B7A"/>
                </a:solidFill>
                <a:latin typeface="Meiryo"/>
              </a:rPr>
              <a:t>② 1人あたり売上 = 50億円×87%÷全国処方患者16.2万人</a:t>
            </a:r>
          </a:p>
          <a:p>
            <a:pPr algn="l">
              <a:spcAft>
                <a:spcPts val="100"/>
              </a:spcAft>
            </a:pPr>
            <a:r>
              <a:rPr sz="1350" b="1">
                <a:solidFill>
                  <a:srgbClr val="1B1B1B"/>
                </a:solidFill>
                <a:latin typeface="Meiryo"/>
              </a:rPr>
              <a:t>約2.7万円(参考値・未検証)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3566160"/>
            <a:ext cx="3547872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5F6B7A"/>
                </a:solidFill>
                <a:latin typeface="Meiryo"/>
              </a:rPr>
              <a:t>③ 追加売上 = ① × ②</a:t>
            </a:r>
          </a:p>
          <a:p>
            <a:pPr algn="l">
              <a:spcAft>
                <a:spcPts val="100"/>
              </a:spcAft>
            </a:pPr>
            <a:r>
              <a:rPr sz="1350" b="1">
                <a:solidFill>
                  <a:srgbClr val="E8602C"/>
                </a:solidFill>
                <a:latin typeface="Meiryo"/>
              </a:rPr>
              <a:t>A案 +893万円 / B案 +2,355万円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4389120"/>
            <a:ext cx="3547872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5F6B7A"/>
                </a:solidFill>
                <a:latin typeface="Meiryo"/>
              </a:rPr>
              <a:t>費用の増加(既読課金のみ)</a:t>
            </a:r>
          </a:p>
          <a:p>
            <a:pPr algn="l">
              <a:spcAft>
                <a:spcPts val="100"/>
              </a:spcAft>
            </a:pPr>
            <a:r>
              <a:rPr sz="1350" b="1">
                <a:solidFill>
                  <a:srgbClr val="1B1B1B"/>
                </a:solidFill>
                <a:latin typeface="Meiryo"/>
              </a:rPr>
              <a:t>A案 +8.4万円 / B案 +297.3万円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596128"/>
            <a:ext cx="11183112" cy="5669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提案: ① A案で既読・理解度・処方率を検証 → ② 効果を確認できればB案 → ③ 全国展開を判断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