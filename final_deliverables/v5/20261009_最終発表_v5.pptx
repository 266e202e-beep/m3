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医師数の割合</c:v>
                </c:pt>
              </c:strCache>
            </c:strRef>
          </c:tx>
          <c:spPr>
            <a:solidFill>
              <a:srgbClr val="B8C2CF"/>
            </a:solidFill>
          </c:spPr>
          <c:cat>
            <c:strRef>
              <c:f>Sheet1!$A$2:$A$4</c:f>
              <c:strCache>
                <c:ptCount val="3"/>
                <c:pt idx="0">
                  <c:v>潜在0〜2人</c:v>
                </c:pt>
                <c:pt idx="1">
                  <c:v>潜在3〜7人</c:v>
                </c:pt>
                <c:pt idx="2">
                  <c:v>潜在8人以上
(重点医師)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0.1758977480219111</c:v>
                </c:pt>
                <c:pt idx="1">
                  <c:v>0.6107729762629337</c:v>
                </c:pt>
                <c:pt idx="2">
                  <c:v>0.2133292757151552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潜在未処方の割合</c:v>
                </c:pt>
              </c:strCache>
            </c:strRef>
          </c:tx>
          <c:spPr>
            <a:solidFill>
              <a:srgbClr val="E8602C"/>
            </a:solidFill>
          </c:spPr>
          <c:cat>
            <c:strRef>
              <c:f>Sheet1!$A$2:$A$4</c:f>
              <c:strCache>
                <c:ptCount val="3"/>
                <c:pt idx="0">
                  <c:v>潜在0〜2人</c:v>
                </c:pt>
                <c:pt idx="1">
                  <c:v>潜在3〜7人</c:v>
                </c:pt>
                <c:pt idx="2">
                  <c:v>潜在8人以上
(重点医師)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0.0537756141741197</c:v>
                </c:pt>
                <c:pt idx="1">
                  <c:v>0.5393977131212498</c:v>
                </c:pt>
                <c:pt idx="2">
                  <c:v>0.4068266727046303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4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Meiry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配信率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B8C2CF"/>
              </a:solidFill>
            </c:spPr>
          </c:dPt>
          <c:dPt>
            <c:idx val="1"/>
            <c:spPr>
              <a:solidFill>
                <a:srgbClr val="B8C2CF"/>
              </a:solidFill>
            </c:spPr>
          </c:dPt>
          <c:dPt>
            <c:idx val="2"/>
            <c:spPr>
              <a:solidFill>
                <a:srgbClr val="E8602C"/>
              </a:solidFill>
            </c:spPr>
          </c:dPt>
          <c:cat>
            <c:strRef>
              <c:f>Sheet1!$A$2:$A$4</c:f>
              <c:strCache>
                <c:ptCount val="3"/>
                <c:pt idx="0">
                  <c:v>潜在0〜2人
(578名)</c:v>
                </c:pt>
                <c:pt idx="1">
                  <c:v>潜在3〜7人
(2,007名)</c:v>
                </c:pt>
                <c:pt idx="2">
                  <c:v>潜在8人以上
(701名)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0.7093425605536332</c:v>
                </c:pt>
                <c:pt idx="1">
                  <c:v>0.6920777279521674</c:v>
                </c:pt>
                <c:pt idx="2">
                  <c:v>0.6761768901569187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22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4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飲み合わせ</c:v>
                </c:pt>
              </c:strCache>
            </c:strRef>
          </c:tx>
          <c:spPr>
            <a:solidFill>
              <a:srgbClr val="E8602C"/>
            </a:solidFill>
          </c:spPr>
          <c:cat>
            <c:strRef>
              <c:f>Sheet1!$A$2:$A$3</c:f>
              <c:strCache>
                <c:ptCount val="2"/>
                <c:pt idx="0">
                  <c:v>内科
(292名)</c:v>
                </c:pt>
                <c:pt idx="1">
                  <c:v>耳鼻咽喉科
(409名)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0.5787671232876712</c:v>
                </c:pt>
                <c:pt idx="1">
                  <c:v>0.1149144254278728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24h持続性</c:v>
                </c:pt>
              </c:strCache>
            </c:strRef>
          </c:tx>
          <c:spPr>
            <a:solidFill>
              <a:srgbClr val="0B2A5B"/>
            </a:solidFill>
          </c:spPr>
          <c:cat>
            <c:strRef>
              <c:f>Sheet1!$A$2:$A$3</c:f>
              <c:strCache>
                <c:ptCount val="2"/>
                <c:pt idx="0">
                  <c:v>内科
(292名)</c:v>
                </c:pt>
                <c:pt idx="1">
                  <c:v>耳鼻咽喉科
(409名)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0.1506849315068493</c:v>
                </c:pt>
                <c:pt idx="1">
                  <c:v>0.4400977995110024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副作用</c:v>
                </c:pt>
              </c:strCache>
            </c:strRef>
          </c:tx>
          <c:spPr>
            <a:solidFill>
              <a:srgbClr val="9DB4D8"/>
            </a:solidFill>
          </c:spPr>
          <c:cat>
            <c:strRef>
              <c:f>Sheet1!$A$2:$A$3</c:f>
              <c:strCache>
                <c:ptCount val="2"/>
                <c:pt idx="0">
                  <c:v>内科
(292名)</c:v>
                </c:pt>
                <c:pt idx="1">
                  <c:v>耳鼻咽喉科
(409名)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0.2226027397260274</c:v>
                </c:pt>
                <c:pt idx="1">
                  <c:v>0.2860635696821516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効果発現速度</c:v>
                </c:pt>
              </c:strCache>
            </c:strRef>
          </c:tx>
          <c:spPr>
            <a:solidFill>
              <a:srgbClr val="B8C2CF"/>
            </a:solidFill>
          </c:spPr>
          <c:cat>
            <c:strRef>
              <c:f>Sheet1!$A$2:$A$3</c:f>
              <c:strCache>
                <c:ptCount val="2"/>
                <c:pt idx="0">
                  <c:v>内科
(292名)</c:v>
                </c:pt>
                <c:pt idx="1">
                  <c:v>耳鼻咽喉科
(409名)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0.047945205479452</c:v>
                </c:pt>
                <c:pt idx="1">
                  <c:v>0.1589242053789731</c:v>
                </c:pt>
              </c:numCache>
            </c:numRef>
          </c:val>
        </c:ser>
        <c:dLbls>
          <c:numFmt formatCode="[&lt;0.06]&quot;&quot;;0%" sourceLinked="0"/>
          <c:txPr>
            <a:bodyPr/>
            <a:lstStyle/>
            <a:p>
              <a:pPr>
                <a:defRPr sz="1700" b="1">
                  <a:solidFill>
                    <a:srgbClr val="FFFFFF"/>
                  </a:solidFill>
                  <a:latin typeface="Meiryo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5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Meiry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現状</c:v>
                </c:pt>
              </c:strCache>
            </c:strRef>
          </c:tx>
          <c:spPr>
            <a:solidFill>
              <a:srgbClr val="B8C2CF"/>
            </a:solidFill>
          </c:spPr>
          <c:cat>
            <c:strRef>
              <c:f>Sheet1!$A$2:$A$4</c:f>
              <c:strCache>
                <c:ptCount val="3"/>
                <c:pt idx="0">
                  <c:v>① 未接触の重点医師
191名</c:v>
                </c:pt>
                <c:pt idx="1">
                  <c:v>② 配信中の重点医師
392名</c:v>
                </c:pt>
                <c:pt idx="2">
                  <c:v>③ 潜在0〜2人の医師
993名(全診療科)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A案</c:v>
                </c:pt>
              </c:strCache>
            </c:strRef>
          </c:tx>
          <c:spPr>
            <a:solidFill>
              <a:srgbClr val="E8602C"/>
            </a:solidFill>
          </c:spPr>
          <c:cat>
            <c:strRef>
              <c:f>Sheet1!$A$2:$A$4</c:f>
              <c:strCache>
                <c:ptCount val="3"/>
                <c:pt idx="0">
                  <c:v>① 未接触の重点医師
191名</c:v>
                </c:pt>
                <c:pt idx="1">
                  <c:v>② 配信中の重点医師
392名</c:v>
                </c:pt>
                <c:pt idx="2">
                  <c:v>③ 潜在0〜2人の医師
993名(全診療科)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</c:v>
                </c:pt>
                <c:pt idx="1">
                  <c:v>12</c:v>
                </c:pt>
                <c:pt idx="2">
                  <c:v>6</c:v>
                </c:pt>
              </c:numCache>
            </c:numRef>
          </c:val>
        </c:ser>
        <c:dLbls>
          <c:numFmt formatCode="0&quot;回&quot;" sourceLinked="0"/>
          <c:txPr>
            <a:bodyPr/>
            <a:lstStyle/>
            <a:p>
              <a:pPr>
                <a:defRPr sz="18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3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Meiry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そのテーマを最も重視する医師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E8602C"/>
              </a:solidFill>
            </c:spPr>
          </c:dPt>
          <c:dPt>
            <c:idx val="1"/>
            <c:spPr>
              <a:solidFill>
                <a:srgbClr val="0B2A5B"/>
              </a:solidFill>
            </c:spPr>
          </c:dPt>
          <c:dPt>
            <c:idx val="2"/>
            <c:spPr>
              <a:solidFill>
                <a:srgbClr val="0B2A5B"/>
              </a:solidFill>
            </c:spPr>
          </c:dPt>
          <c:cat>
            <c:strRef>
              <c:f>Sheet1!$A$2:$A$4</c:f>
              <c:strCache>
                <c:ptCount val="3"/>
                <c:pt idx="0">
                  <c:v>1本目 C04 飲み合わせガイド</c:v>
                </c:pt>
                <c:pt idx="1">
                  <c:v>2本目 C03 副作用プロファイル</c:v>
                </c:pt>
                <c:pt idx="2">
                  <c:v>3本目 C05 24時間カバーの臨床エビデンス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0.5787671232876712</c:v>
                </c:pt>
                <c:pt idx="1">
                  <c:v>0.2226027397260274</c:v>
                </c:pt>
                <c:pt idx="2">
                  <c:v>0.1506849315068493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25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そのテーマを最も重視する医師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E8602C"/>
              </a:solidFill>
            </c:spPr>
          </c:dPt>
          <c:dPt>
            <c:idx val="1"/>
            <c:spPr>
              <a:solidFill>
                <a:srgbClr val="0B2A5B"/>
              </a:solidFill>
            </c:spPr>
          </c:dPt>
          <c:dPt>
            <c:idx val="2"/>
            <c:spPr>
              <a:solidFill>
                <a:srgbClr val="0B2A5B"/>
              </a:solidFill>
            </c:spPr>
          </c:dPt>
          <c:cat>
            <c:strRef>
              <c:f>Sheet1!$A$2:$A$4</c:f>
              <c:strCache>
                <c:ptCount val="3"/>
                <c:pt idx="0">
                  <c:v>1本目 C05 24時間カバーの臨床エビデンス</c:v>
                </c:pt>
                <c:pt idx="1">
                  <c:v>2本目 C03 副作用プロファイル</c:v>
                </c:pt>
                <c:pt idx="2">
                  <c:v>3本目 C01 即効メカニズム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0.4400977995110024</c:v>
                </c:pt>
                <c:pt idx="1">
                  <c:v>0.2860635696821516</c:v>
                </c:pt>
                <c:pt idx="2">
                  <c:v>0.1589242053789731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25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費用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B8C2CF"/>
              </a:solidFill>
            </c:spPr>
          </c:dPt>
          <c:dPt>
            <c:idx val="1"/>
            <c:spPr>
              <a:solidFill>
                <a:srgbClr val="E8602C"/>
              </a:solidFill>
            </c:spPr>
          </c:dPt>
          <c:dPt>
            <c:idx val="2"/>
            <c:spPr>
              <a:solidFill>
                <a:srgbClr val="0B2A5B"/>
              </a:solidFill>
            </c:spPr>
          </c:dPt>
          <c:cat>
            <c:strRef>
              <c:f>Sheet1!$A$2:$A$4</c:f>
              <c:strCache>
                <c:ptCount val="3"/>
                <c:pt idx="0">
                  <c:v>現状
3,481名</c:v>
                </c:pt>
                <c:pt idx="1">
                  <c:v>A案 予算維持型
3,672名</c:v>
                </c:pt>
                <c:pt idx="2">
                  <c:v>B案 追加投資型
3,932名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160.2</c:v>
                </c:pt>
                <c:pt idx="1">
                  <c:v>153.4</c:v>
                </c:pt>
                <c:pt idx="2">
                  <c:v>168.3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2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4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A案</c:v>
                </c:pt>
              </c:strCache>
            </c:strRef>
          </c:tx>
          <c:spPr>
            <a:solidFill>
              <a:srgbClr val="E8602C"/>
            </a:solidFill>
          </c:spPr>
          <c:cat>
            <c:strRef>
              <c:f>Sheet1!$A$2:$A$4</c:f>
              <c:strCache>
                <c:ptCount val="3"/>
                <c:pt idx="0">
                  <c:v>保守
(転換率1%)</c:v>
                </c:pt>
                <c:pt idx="1">
                  <c:v>基準
(3%)</c:v>
                </c:pt>
                <c:pt idx="2">
                  <c:v>楽観
(6%)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361</c:v>
                </c:pt>
                <c:pt idx="2">
                  <c:v>722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B案</c:v>
                </c:pt>
              </c:strCache>
            </c:strRef>
          </c:tx>
          <c:spPr>
            <a:solidFill>
              <a:srgbClr val="0B2A5B"/>
            </a:solidFill>
          </c:spPr>
          <c:cat>
            <c:strRef>
              <c:f>Sheet1!$A$2:$A$4</c:f>
              <c:strCache>
                <c:ptCount val="3"/>
                <c:pt idx="0">
                  <c:v>保守
(転換率1%)</c:v>
                </c:pt>
                <c:pt idx="1">
                  <c:v>基準
(3%)</c:v>
                </c:pt>
                <c:pt idx="2">
                  <c:v>楽観
(6%)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326</c:v>
                </c:pt>
                <c:pt idx="1">
                  <c:v>977</c:v>
                </c:pt>
                <c:pt idx="2">
                  <c:v>1954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4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Meiry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[0:45] 薬剤Aの処方拡大に向けて、MR君の配信対象とコンテンツの最適化を提案します。</a:t>
            </a:r>
          </a:p>
          <a:p>
            <a:r>
              <a:t>MR君はすでに全医師の69%に届き、MR面談のない医師では「最も参考になった情報源」の1位です。この基盤は強みです。</a:t>
            </a:r>
          </a:p>
          <a:p>
            <a:r>
              <a:t>ただし、「誰に届けるか」と「何を届けるか」には、まだ改善の余地があります。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[0:45] まず、機会はどこにあるか。</a:t>
            </a:r>
          </a:p>
          <a:p>
            <a:r>
              <a:t>花粉症の患者数から薬剤Aの処方患者数を引いた「潜在未処方患者」で見ると、その77%が内科と耳鼻咽喉科にいます。そのうち潜在8人以上の701名、医師の21%が、潜在の41%を持っています。</a:t>
            </a:r>
          </a:p>
          <a:p>
            <a:r>
              <a:t>この701名を重点医師とし、MR君の配信を寄せます。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[0:40] ところが今の配信率は、潜在患者が0〜2人の医師で71%、8人以上で68%と、ほぼ同じです。潜在患者の多さは、配信先に反映されていないと考えられます。</a:t>
            </a:r>
          </a:p>
          <a:p>
            <a:r>
              <a:t>その結果、重点医師のうち191名には、MRもMR君も届いていません。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[0:55] では、重点医師に何を届けるか。</a:t>
            </a:r>
          </a:p>
          <a:p>
            <a:r>
              <a:t>最も重視する特性は、診療科で違います。内科は58%が飲み合わせ、耳鼻咽喉科は44%が24時間持続性、29%が副作用です。</a:t>
            </a:r>
          </a:p>
          <a:p>
            <a:r>
              <a:t>また、同じ診療科・患者規模・施設区分で処方率が高い医師と比べると、重点医師はMR面談が少なく、17%対51%です。この差は関連ですが、MRが届かない分をMR君で補う理由になります。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施策①は、配信対象の最適化です。</a:t>
            </a:r>
          </a:p>
          <a:p>
            <a:r>
              <a:t>MRもMR君も届いていない重点医師191名に、新たに月1回届けます。配信中の重点医師392名は、年10回を12回にして、未読の上位コンテンツを再配信します。</a:t>
            </a:r>
          </a:p>
          <a:p>
            <a:r>
              <a:t>財源は、潜在患者が0〜2人の医師993名です。1人あたりの潜在は1.5人と少ないため、配信をゼロにはせず、隔月にします。</a:t>
            </a:r>
          </a:p>
          <a:p>
            <a:r>
              <a:t>これで、予算は増やさず、費用は年6.7万円下がります。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施策②は、コンテンツの最適化です。新しく作らず、既存の10本の順番を変えます。</a:t>
            </a:r>
          </a:p>
          <a:p>
            <a:r>
              <a:t>決め方はシンプルで、その診療科で最も重視する医師が多いテーマから並べます。内科は飲み合わせのC04から、耳鼻咽喉科は24時間持続性のC05から始め、次に副作用のC03を届けます。</a:t>
            </a:r>
          </a:p>
          <a:p>
            <a:r>
              <a:t>こうすると3本目までに、重点医師の約9割に、自分が最も重視するテーマが届きます。実際に医師は、重視するテーマのコンテンツを約1.3倍読んでいます。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[0:35] 費用は、既読1件400円で、群ごとの実際の既読率から計算しました。A案は施策①と②で153.4万円。今の160.2万円の範囲内です。</a:t>
            </a:r>
          </a:p>
          <a:p>
            <a:r>
              <a:t>B案は、未接触で潜在5〜7人の260名にも届け、A案より14.9万円増えます。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[0:55] 効果は、配信で新たに読む医師の数に、1人あたりの潜在未処方と、そこから新たに処方される割合をかけて試算しました。この割合は1%、3%、6%と仮定し、潜在が翌年に変わる分も補正しています。</a:t>
            </a:r>
          </a:p>
          <a:p>
            <a:r>
              <a:t>A案は追加の費用なしで、追加売上は年120万円から722万円、基準で361万円です。B案はさらに206万円から1,232万円です。</a:t>
            </a:r>
          </a:p>
          <a:p>
            <a:r>
              <a:t>仮定にもとづく試算のため、まずA案で始め、既読と次回調査の理解度・処方率で確かめてから、B案を判断することを提案します。以上です。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補足資料(質疑用)。本編では使わない。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補足資料(質疑用)。本編では使わない。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MR君は医師の約7割に届く基盤。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「誰に」「何を」届けるかに改善の余地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現状(実測)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全医師10,000名の配信対象・MR面談記録(2025年6月〜2026年6月)。情報源 = アンケートQ5(MR面談なし・配信中の回答医師2,603名)。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8640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評価できる点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5486400" cy="1737360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109728" cy="173736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0B2A5B"/>
                </a:solidFill>
                <a:latin typeface="Meiryo"/>
              </a:rPr>
              <a:t>69%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178308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全医師にMR君を配信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10,000名のうち6,948名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657600"/>
            <a:ext cx="5486400" cy="1737360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657600"/>
            <a:ext cx="109728" cy="173736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65760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0B2A5B"/>
                </a:solidFill>
                <a:latin typeface="Meiryo"/>
              </a:rPr>
              <a:t>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365760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最も参考になった情報源の1位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MR面談がなく、MR君が届く医師の回答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371600"/>
            <a:ext cx="548640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E8602C"/>
                </a:solidFill>
                <a:latin typeface="Meiryo"/>
              </a:rPr>
              <a:t>改善の余地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1783080"/>
            <a:ext cx="5486400" cy="1737360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109728" cy="1737360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3952" y="178308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E8602C"/>
                </a:solidFill>
                <a:latin typeface="Meiryo"/>
              </a:rPr>
              <a:t>誰に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178308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配信先が潜在患者数と無関係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潜在患者が多くても少なくても配信率は約7割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3657600"/>
            <a:ext cx="5486400" cy="1737360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3657600"/>
            <a:ext cx="109728" cy="1737360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3952" y="365760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E8602C"/>
                </a:solidFill>
                <a:latin typeface="Meiryo"/>
              </a:rPr>
              <a:t>何を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9872" y="365760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全員に同じ10本を配信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重視する情報は診療科で違う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既存の基盤を活かし、「誰に」「何を」届けるかを最適化する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処方拡大の機会は、内科・耳鼻科の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重点医師701名に集中している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機会(実測)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潜在未処方 = 花粉症患者数 − 薬剤A処方患者数(2026年アンケート、直近1年・自己申告)。内科・耳鼻の回答医師3,286名。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内科・耳鼻の医師: 潜在未処方の人数別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5400" b="1">
                <a:solidFill>
                  <a:srgbClr val="E8602C"/>
                </a:solidFill>
                <a:latin typeface="Meiryo"/>
              </a:rPr>
              <a:t>41%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医師の21%(701名)が、潜在未処方の41%を持つ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潜在未処方の77%は内科・耳鼻咽喉科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内科・耳鼻で潜在8人以上の701名を「重点医師」とし、MR君を寄せる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配信率は潜在患者数に関係なく約7割。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重点医師の191名にはMRもMR君も届いていない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現状(実測)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配信率 = MR君の配信対象の割合(内科・耳鼻の回答医師3,286名)。配信対象の選定理由はデータにないため未確認。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MR君の配信率(潜在未処方の人数別)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5400" b="1">
                <a:solidFill>
                  <a:srgbClr val="E8602C"/>
                </a:solidFill>
                <a:latin typeface="Meiryo"/>
              </a:rPr>
              <a:t>191名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重点医師のうち、MRもMR君も届いていない医師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1人あたり潜在未処方10.7人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配信対象を、潜在患者数で選び直す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重点医師が求める情報は診療科で違う。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内科は飲み合わせ、耳鼻科は24h持続性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発見(実測)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最も重視する特性 = アンケートQ2の1位。類似高処方医師 = 同じ診療科・患者数帯・施設区分で処方率50%以上(634名、重み付け)。差は関連。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重点医師が最も重視する特性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800" b="1">
                <a:solidFill>
                  <a:srgbClr val="0B2A5B"/>
                </a:solidFill>
                <a:latin typeface="Meiryo"/>
              </a:rPr>
              <a:t>17% vs 51%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MR面談がある医師の割合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重点医師 vs 処方の多い類似医師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→ MRが届かない分をMR君で補う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MR君で、診療科ごとに重視される情報から届ける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施策① 配信を潜在患者の多い医師に寄せる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(予算は増やさない)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施策①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12回 = 10本 + 未読の上位コンテンツの再配信2回。前提: 新規配信先の配信資格・同意、医師別の回数設定(未確認)。MR面談がある重点医師は現状維持。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医師1人あたりの年間配信回数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600" b="1">
                <a:solidFill>
                  <a:srgbClr val="E8602C"/>
                </a:solidFill>
                <a:latin typeface="Meiryo"/>
              </a:rPr>
              <a:t>−6.7万円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年間費用の変化(A案)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増やす分 +11.9万円(①②)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減らす分 −18.6万円(③)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未接触の191名に月1回、配信中の392名も月1回、潜在0〜2人の993名は隔月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施策② 診療科の重視テーマから届ける。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内科は飲み合わせ、耳鼻科は24h持続性から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施策②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コンテンツ名と主要テーマで選定(本文は配信前に確認)。%は、そのテーマを最も重視する重点医師の割合。10本すべての順番は補足2。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4068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内科(重点医師292名)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5440680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371600"/>
            <a:ext cx="544068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耳鼻咽喉科(重点医師409名)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172200" y="1783080"/>
          <a:ext cx="544068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4160520"/>
            <a:ext cx="11183112" cy="1234440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160520"/>
            <a:ext cx="109728" cy="1234440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160520"/>
            <a:ext cx="2377440" cy="12344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400" b="1">
                <a:solidFill>
                  <a:srgbClr val="E8602C"/>
                </a:solidFill>
                <a:latin typeface="Meiryo"/>
              </a:rPr>
              <a:t>約9割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4160520"/>
            <a:ext cx="8412480" cy="12344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3本目までに、重点医師の約9割に、自分が最も重視するテーマが届く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内科95%・耳鼻咽喉科89%。医師は重視テーマのコンテンツを約1.3倍読む(既読率13.9% vs 11.0%)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既存の10本の順番を変えるだけ(新規制作なし)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A案は今の予算内。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B案は+14.9万円で未接触260名にも広げる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費用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回答医師5,000名・1年分。費用 = 既読件数 × 400円(既読率は群別の実測値)。配信設定・運用費は未確認で含まない。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MR君の年間費用(万円)と配信する医師数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600" b="1">
                <a:solidFill>
                  <a:srgbClr val="E8602C"/>
                </a:solidFill>
                <a:latin typeface="Meiryo"/>
              </a:rPr>
              <a:t>153.4万円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A案(現状160.2万円の範囲内)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A案 = 施策①+②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B案 = A案+未接触260名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(A案より+14.9万円)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A案は今の予算のまま実施できる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A案は予算内で追加売上 年120〜722万円(試算)。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まずA案で始める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試算(仮定あり)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増分転換率1・3・6%と、処方患者1人あたり年間売上22.2万円は仮定。翌年の潜在の変化(平均への回帰)を補正。売上であり利益ではない。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想定追加売上(年、万円)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18872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600" b="1">
                <a:solidFill>
                  <a:srgbClr val="E8602C"/>
                </a:solidFill>
                <a:latin typeface="Meiryo"/>
              </a:rPr>
              <a:t>361万円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2834640"/>
            <a:ext cx="3547872" cy="100583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A案の追加売上(基準、年)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追加処方患者16人。仮定にもとづく試算で、効果は実証されていない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3931919"/>
            <a:ext cx="3547872" cy="137160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B2A5B"/>
                </a:solidFill>
                <a:latin typeface="Meiryo"/>
              </a:rPr>
              <a:t>進め方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B1B1B"/>
                </a:solidFill>
                <a:latin typeface="Meiryo"/>
              </a:rPr>
              <a:t>1. A案を開始(配信資格・本文を確認)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B1B1B"/>
                </a:solidFill>
                <a:latin typeface="Meiryo"/>
              </a:rPr>
              <a:t>2. 毎月: 既読医師率・重視テーマの既読率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1B1B1B"/>
                </a:solidFill>
                <a:latin typeface="Meiryo"/>
              </a:rPr>
              <a:t>3. 次回調査: 理解度・処方率 → B案を判断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B案はさらに+206〜1,232万円。効果を確かめてから判断する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補足1 試算の内訳と前提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補足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既読医師率(f回) = 1 −(1 − 10回時の既読医師率)^(f/10)。追加処方患者 = 既読医師の増減 × 1人あたり潜在 × 翌年比 × 増分転換率。詳細は効果試算_v5.xlsx。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183112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868680"/>
                <a:gridCol w="1600200"/>
                <a:gridCol w="1463040"/>
                <a:gridCol w="868680"/>
                <a:gridCol w="1225296"/>
                <a:gridCol w="1225296"/>
              </a:tblGrid>
              <a:tr h="40576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群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医師数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年間回数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現状→A案→B案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費用(万円)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現状→A案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翌年比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追加処方患者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A案(基準)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追加処方患者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B案(基準)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① 未接触・潜在8人以上(重点医師)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191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0→12→12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0.0→8.9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0.78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+26.2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+26.2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② 配信中・潜在8人以上(重点医師)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392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10→12→12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15.2→18.2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0.78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+6.0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+6.0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③ 配信中・潜在0〜2人(財源)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993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10→6→6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46.6→28.0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2.16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−15.9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−15.9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④ MR面談あり・潜在8人以上(重点医師、配信中)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10→10→10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3.0→3.0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0.78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⑤ 未接触・潜在5〜7人(B案で追加)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260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0→0→12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0.0→0.0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1.02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+27.8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その他の配信中(変更なし)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2,014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10→10→10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95.4→95.4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1.00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B1B1B"/>
                          </a:solidFill>
                          <a:latin typeface="Meiryo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B1B1B"/>
                          </a:solidFill>
                          <a:latin typeface="Meiryo"/>
                        </a:rPr>
                        <a:t>合計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1B1B"/>
                          </a:solidFill>
                          <a:latin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1B1B"/>
                          </a:solidFill>
                          <a:latin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1B1B"/>
                          </a:solidFill>
                          <a:latin typeface="Meiryo"/>
                        </a:rPr>
                        <a:t>160.2→153.4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1B1B"/>
                          </a:solidFill>
                          <a:latin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1B1B"/>
                          </a:solidFill>
                          <a:latin typeface="Meiryo"/>
                        </a:rPr>
                        <a:t>16.3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B1B1B"/>
                          </a:solidFill>
                          <a:latin typeface="Meiryo"/>
                        </a:rPr>
                        <a:t>44.1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4709160"/>
            <a:ext cx="11183112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45720" rIns="45720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E8602C"/>
                </a:solidFill>
                <a:latin typeface="Meiryo"/>
              </a:rPr>
              <a:t>仮定: </a:t>
            </a:r>
            <a:r>
              <a:rPr sz="1100" b="0">
                <a:solidFill>
                  <a:srgbClr val="1B1B1B"/>
                </a:solidFill>
                <a:latin typeface="Meiryo"/>
              </a:rPr>
              <a:t>増分転換率1・3・6%(参考: 配信対象は処方率の伸びが+2.3pt、換算2.8%〜6.0%。観察値で因果ではない)、1人あたり年間売上22.2万円(50億円 ÷ 全医師の処方患者推計)、新規配信先の既読率は②の実測値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B2A5B"/>
                </a:solidFill>
                <a:latin typeface="Meiryo"/>
              </a:rPr>
              <a:t>実測: </a:t>
            </a:r>
            <a:r>
              <a:rPr sz="1100" b="0">
                <a:solidFill>
                  <a:srgbClr val="1B1B1B"/>
                </a:solidFill>
                <a:latin typeface="Meiryo"/>
              </a:rPr>
              <a:t>翌年比 = 翌年の潜在 ÷ 今年(接点のない両年回答医師)。潜在8人以上0.78倍、5〜7人1.02倍、0〜2人2.16倍。③で失う効果も同じ転換率で差し引く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施策②の上乗せと、施策をしなくても起きる変化は含めない。売上であり利益ではない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補足2 診療科別の配信順(10本)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補足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各特性の代表コンテンツ1本ずつを、その特性を最も重視する医師が多い順に並べ、各特性の2本目以降を後半に置く。内科・耳鼻は重点医師、小児科・眼科は全回答医師の割合。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183112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59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  <a:gridCol w="987552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</a:rPr>
                        <a:t>診療科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</a:rPr>
                        <a:t>1本目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</a:rPr>
                        <a:t>2本目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</a:rPr>
                        <a:t>3本目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</a:rPr>
                        <a:t>4本目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</a:rPr>
                        <a:t>5本目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</a:rPr>
                        <a:t>6本目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</a:rPr>
                        <a:t>7本目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</a:rPr>
                        <a:t>8本目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</a:rPr>
                        <a:t>9本目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</a:rPr>
                        <a:t>10本目</a:t>
                      </a:r>
                    </a:p>
                  </a:txBody>
                  <a:tcPr anchor="ctr" marL="73152" marR="73152">
                    <a:solidFill>
                      <a:srgbClr val="0B2A5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1B1B"/>
                          </a:solidFill>
                          <a:latin typeface="Meiryo"/>
                        </a:rPr>
                        <a:t>内科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飲み合わせ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58%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副作用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22%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C05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24h持続性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15%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適用症状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C09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飲み合わせ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58%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C10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24h持続性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C08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適用症状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1B1B"/>
                          </a:solidFill>
                          <a:latin typeface="Meiryo"/>
                        </a:rPr>
                        <a:t>耳鼻咽喉科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C05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24h持続性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44%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副作用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29%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16%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飲み合わせ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適用症状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C10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24h持続性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44%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C09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飲み合わせ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C08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適用症状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1B1B"/>
                          </a:solidFill>
                          <a:latin typeface="Meiryo"/>
                        </a:rPr>
                        <a:t>小児科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副作用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65%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C05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24h持続性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19%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飲み合わせ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10%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適用症状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C10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24h持続性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C09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飲み合わせ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C08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適用症状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B1B1B"/>
                          </a:solidFill>
                          <a:latin typeface="Meiryo"/>
                        </a:rPr>
                        <a:t>眼科</a:t>
                      </a:r>
                    </a:p>
                  </a:txBody>
                  <a:tcPr anchor="ctr" marL="73152" marR="73152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副作用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50%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C05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24h持続性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30%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12%</a:t>
                      </a:r>
                    </a:p>
                  </a:txBody>
                  <a:tcPr anchor="ctr" marL="73152" marR="73152">
                    <a:solidFill>
                      <a:srgbClr val="FF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飲み合わせ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適用症状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C10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24h持続性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30%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効果発現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12%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C09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飲み合わせ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C08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適用症状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1B1B1B"/>
                          </a:solidFill>
                          <a:latin typeface="Meiryo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年12回の医師は11・12回目に未読の1〜3本目を再配信。隔月(③)は上位6本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