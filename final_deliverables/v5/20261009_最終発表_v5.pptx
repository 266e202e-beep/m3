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医師数の割合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
(重点医師)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0.1758977480219111</c:v>
                </c:pt>
                <c:pt idx="1">
                  <c:v>0.6107729762629337</c:v>
                </c:pt>
                <c:pt idx="2">
                  <c:v>0.2133292757151552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潜在未処方の割合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
(重点医師)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0.0537756141741197</c:v>
                </c:pt>
                <c:pt idx="1">
                  <c:v>0.5393977131212498</c:v>
                </c:pt>
                <c:pt idx="2">
                  <c:v>0.4068266727046303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約1.2万人</c:v>
                </c:pt>
                <c:pt idx="1">
                  <c:v>② 配信中の重点医師
約2.4万人</c:v>
                </c:pt>
                <c:pt idx="2">
                  <c:v>③ 潜在0〜2人の医師
約6.2万人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約1.2万人</c:v>
                </c:pt>
                <c:pt idx="1">
                  <c:v>② 配信中の重点医師
約2.4万人</c:v>
                </c:pt>
                <c:pt idx="2">
                  <c:v>③ 潜在0〜2人の医師
約6.2万人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現状
約21.6万人</c:v>
                </c:pt>
                <c:pt idx="1">
                  <c:v>A案 予算維持型
約22.8万人</c:v>
                </c:pt>
                <c:pt idx="2">
                  <c:v>B案 追加投資型
約24.4万人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9930</c:v>
                </c:pt>
                <c:pt idx="1">
                  <c:v>9514</c:v>
                </c:pt>
                <c:pt idx="2">
                  <c:v>10436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241</c:v>
                </c:pt>
                <c:pt idx="1">
                  <c:v>722</c:v>
                </c:pt>
                <c:pt idx="2">
                  <c:v>1444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651</c:v>
                </c:pt>
                <c:pt idx="1">
                  <c:v>1954</c:v>
                </c:pt>
                <c:pt idx="2">
                  <c:v>3908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6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薬剤Aの処方拡大に向けて、MR君の配信対象とコンテンツの最適化を提案します。</a:t>
            </a:r>
          </a:p>
          <a:p>
            <a:r>
              <a:t>MR君は、国内の医師の約9割、31万人が登録するm3.comで配信でき、今回のデータでも医師の69%に届いています。MR面談のない医師では「最も参考になった情報源」の1位です。この基盤は強みです。</a:t>
            </a:r>
          </a:p>
          <a:p>
            <a:r>
              <a:t>ただし、「誰に届けるか」と「何を届けるか」には、まだ改善の余地があります。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まず、機会はどこにあるか。</a:t>
            </a:r>
          </a:p>
          <a:p>
            <a:r>
              <a:t>花粉症の患者数から薬剤Aの処方患者数を引いた「潜在未処方患者」は、処方患者の約2倍います。すべて処方されたとすると、理論上は約100億円分に当たります。</a:t>
            </a:r>
          </a:p>
          <a:p>
            <a:r>
              <a:t>その77%は内科と耳鼻咽喉科にいて、潜在8人以上の医師、全体の21%が、潜在の41%を持っています。全国に換算すると約4.3万人です。</a:t>
            </a:r>
          </a:p>
          <a:p>
            <a:r>
              <a:t>この医師を重点医師とし、MR君の配信を寄せます。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ところが今の配信率は、潜在患者が0〜2人の医師で71%、8人以上で68%と、ほぼ同じです。潜在患者の多さは、配信先に反映されていないと考えられます。</a:t>
            </a:r>
          </a:p>
          <a:p>
            <a:r>
              <a:t>その結果、重点医師の27%、全国に換算すると約1.2万人には、MRもMR君も届いていません。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では、重点医師に何を届けるか。</a:t>
            </a:r>
          </a:p>
          <a:p>
            <a:r>
              <a:t>最も重視する特性は、診療科で違います。内科は58%が飲み合わせ、耳鼻咽喉科は44%が24時間持続性、29%が副作用です。</a:t>
            </a:r>
          </a:p>
          <a:p>
            <a:r>
              <a:t>また、同じ診療科・患者規模・施設区分で処方率が高い医師と比べると、重点医師はMR面談が少なく、17%対51%です。この差は関連ですが、MRが届かない分をMR君で補う理由になります。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施策①は、配信対象の最適化です。</a:t>
            </a:r>
          </a:p>
          <a:p>
            <a:r>
              <a:t>MRもMR君も届いていない重点医師に、新たに月1回届けます。配信中の重点医師は、年10回を12回にして、未読の上位コンテンツを再配信します。</a:t>
            </a:r>
          </a:p>
          <a:p>
            <a:r>
              <a:t>財源は、潜在患者が0〜2人の医師です。1人あたりの潜在は1.5人と少ないため、ゼロにはせず、隔月にします。</a:t>
            </a:r>
          </a:p>
          <a:p>
            <a:r>
              <a:t>全国に換算すると、予算は増やさず、費用は年416万円下がります。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施策②は、コンテンツの最適化です。新しく作らず、既存の10本の順番を変えます。</a:t>
            </a:r>
          </a:p>
          <a:p>
            <a:r>
              <a:t>決め方はシンプルで、その診療科で最も重視する医師が多いテーマから並べます。内科は飲み合わせのC04から、耳鼻咽喉科は24時間持続性のC05から始め、次に副作用のC03を届けます。</a:t>
            </a:r>
          </a:p>
          <a:p>
            <a:r>
              <a:t>こうすると3本目までに、重点医師の約9割に、自分が最も重視するテーマが届きます。実際に医師は、重視するテーマのコンテンツを約1.3倍読んでいます。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費用は、既読1件400円で、群ごとの実際の既読率から計算し、全国に換算しました。</a:t>
            </a:r>
          </a:p>
          <a:p>
            <a:r>
              <a:t>A案は施策①と②で年9,514万円。今の9,930万円の範囲内です。</a:t>
            </a:r>
          </a:p>
          <a:p>
            <a:r>
              <a:t>B案は、未接触で潜在5〜7人の医師にも届け、A案より922万円増えます。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効果は、新たに読む医師の数に、1人あたりの潜在未処方と、そこから新たに処方される割合をかけて試算しました。この割合は1%、3%、6%と仮定し、潜在が翌年に変わる分も補正しています。</a:t>
            </a:r>
          </a:p>
          <a:p>
            <a:r>
              <a:t>全国に換算すると、A案は費用を抑えたまま、追加売上は年241万円から1,444万円、基準で722万円、売上の0.14%増です。</a:t>
            </a:r>
          </a:p>
          <a:p>
            <a:r>
              <a:t>B案は922万円の追加費用に対して、追加売上はさらに410万円から2,464万円です。基準では、回収に利益率75%が必要になります。</a:t>
            </a:r>
          </a:p>
          <a:p>
            <a:r>
              <a:t>そこで、まずA案で始め、既読と次回調査の理解度・処方率で効果を確かめてから、B案を判断することを提案します。以上です。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補足資料(質疑用)。本編では使わない。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補足資料(質疑用)。本編では使わない。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MR君は医師の約9割に届けられる基盤。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「誰に」「何を」届けるかに改善の余地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31万人: M3会社資料。69%: データの医師10,000名の配信対象(2025年6月〜2026年6月)。50%: アンケートQ5(回答医師2,603名)。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評価できる点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143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1143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16002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000" b="1">
                <a:solidFill>
                  <a:srgbClr val="0B2A5B"/>
                </a:solidFill>
                <a:latin typeface="Meiryo"/>
              </a:rPr>
              <a:t>31万人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783080"/>
            <a:ext cx="34290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m3.comに登録する医師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国内の医師の約9割。MR君はこの基盤で配信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486400" cy="1143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09728" cy="1143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017520"/>
            <a:ext cx="16002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69%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017520"/>
            <a:ext cx="34290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MR君の配信先(データの医師)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データの10,000名のうち6,948名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51960"/>
            <a:ext cx="5486400" cy="1143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51960"/>
            <a:ext cx="109728" cy="1143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51960"/>
            <a:ext cx="16002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4251960"/>
            <a:ext cx="34290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最も参考になった情報源の1位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MR面談がなく、MR君が届く医師の回答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E8602C"/>
                </a:solidFill>
                <a:latin typeface="Meiryo"/>
              </a:rPr>
              <a:t>改善の余地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783080"/>
            <a:ext cx="5486400" cy="17373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783080"/>
            <a:ext cx="109728" cy="17373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178308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誰に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178308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配信先が潜在患者数と無関係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潜在患者が多くても少なくても配信率は約7割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3657600"/>
            <a:ext cx="5486400" cy="17373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657600"/>
            <a:ext cx="109728" cy="17373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73952" y="365760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何を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365760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全員に同じ10本を配信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重視する情報は診療科で違う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既存の基盤を活かし、「誰に」「何を」届けるかを最適化する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処方拡大の機会は、内科・耳鼻科の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潜在患者の多い医師(重点医師)に集中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機会(実測)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薬剤A処方患者数(2026年アンケート、直近1年・自己申告)。全国換算 = 回答医師5,000名 × 62(m3.com登録医師31万人)。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内科・耳鼻の医師: 潜在未処方の人数別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医師の21%(全国換算 約4.3万人)が、潜在未処方の41%を持つ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潜在未処方は処方患者の約2倍(全国換算 約142万人)。すべて処方されれば約100億円(理論上の上限)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内科・耳鼻で潜在8人以上の医師を「重点医師」とし、MR君を寄せる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配信率は潜在患者数に関係なく約7割。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重点医師の27%にはMRもMR君も届いていない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MR君の配信対象の割合(内科・耳鼻の回答医師3,286名)。配信対象の選定理由はデータにないため未確認。全国換算 = 回答医師 × 62。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約1.2万人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MRもMR君も届いていない重点医師(全国換算)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回答医師では701名のうち191名。1人あたり潜在未処方10.7人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配信対象を、潜在患者数で選び直す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重点医師が求める情報は診療科で違う。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発見(実測)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最も重視する特性 = アンケートQ2の1位。類似高処方医師 = 同じ診療科・患者数帯・施設区分で処方率50%以上(634名、重み付け)。差は関連。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重点医師が最も重視する特性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MR面談がある医師の割合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重点医師 vs 処方の多い類似医師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→ MRが届かない分をMR君で補う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MR君で、診療科ごとに重視される情報から届ける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施策① 配信を潜在患者の多い医師に寄せる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(予算は増やさない)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人数・費用は全国換算(回答医師 × 62)。12回 = 10本 + 未読の上位コンテンツの再配信2回。前提: 新規配信先の配信資格・同意、医師別の回数設定(未確認)。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医師1人あたりの年間配信回数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−416万円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年間費用の変化(A案、全国)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増やす分 約740万円(①②)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減らす分 約1,160万円(③)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未接触の重点医師に月1回、配信中の重点医師も月1回、潜在0〜2人の医師は隔月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施策② 診療科の重視テーマから届ける。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コンテンツ名と主要テーマで選定(本文は配信前に確認)。%は、そのテーマを最も重視する重点医師の割合。10本すべての順番は補足2。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内科の重点医師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耳鼻咽喉科の重点医師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3本目までに、重点医師の約9割に、自分が最も重視するテーマが届く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内科95%・耳鼻咽喉科89%。医師は重視テーマのコンテンツを約1.3倍読む(既読率13.9% vs 11.0%)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A案は今の予算内。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B案は+922万円で未接触の医師にも広げる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全国換算(回答医師 × 62)。費用 = 既読件数 × 400円(既読率は群別の実測値)。配信設定・運用費は未確認で含まない。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MR君の年間費用(全国、万円)と配信する医師数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9,514万円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A案(現状9,930万円の範囲内)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A案 = 施策①+②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 = A案+未接触・潜在5〜7人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(約1.6万人、A案より+922万円)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A案は今の予算のまま実施できる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A案は費用を抑えて追加売上 年241〜1,444万円(試算)。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まずA案で始める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試算(仮定あり)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全国換算(× 62)。1人あたり年間売上 約7,149円 = 50億円 ÷ 全国の処方患者推計。転換率1・3・6%は仮定。翌年の潜在の変化を補正。売上≠利益。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想定追加売上(年、全国、万円)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722万円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A案の追加売上(基準、年)= 売上の+0.14%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追加処方患者 約1,010人(全国)。仮定にもとづく試算で、効果は実証されていない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進め方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1. A案を開始(配信資格・本文を確認)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2. 毎月: 既読医師率・重視テーマの既読率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3. 次回調査: 理解度・処方率 → B案を判断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B案は+922万円で追加売上+410〜2,464万円。効果を確かめてから判断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補足1 試算の内訳と前提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補足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既読医師率(f回) = 1 −(1 − 10回時の既読医師率)^(f/10)。追加処方患者 = 既読医師の増減 × 1人あたり潜在 × 翌年比 × 増分転換率。詳細は効果試算_v5.xlsx。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868680"/>
                <a:gridCol w="1600200"/>
                <a:gridCol w="1463040"/>
                <a:gridCol w="868680"/>
                <a:gridCol w="1225296"/>
                <a:gridCol w="1225296"/>
              </a:tblGrid>
              <a:tr h="360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群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医師数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年間回数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現状→A案→B案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費用(万円)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現状→A案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翌年比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追加処方患者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A案(基準)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追加処方患者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B案(基準)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① 未接触・潜在8人以上(重点医師)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191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0→12→12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0.0→8.9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+26.2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+26.2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② 配信中・潜在8人以上(重点医師)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392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10→12→12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15.2→18.2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+6.0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+6.0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③ 配信中・潜在0〜2人(財源)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993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10→6→6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46.6→28.0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2.16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−15.9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−15.9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④ MR面談あり・潜在8人以上(重点医師、配信中)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10→10→10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3.0→3.0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⑤ 未接触・潜在5〜7人(B案で追加)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260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0→0→12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0.0→0.0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1.02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+27.8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その他の配信中(変更なし)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2,014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10→10→10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95.4→95.4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1.00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合計(回答医師)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160.2→153.4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16.3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44.1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全国換算(× 62)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9,930→9,514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1,010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1B1B"/>
                          </a:solidFill>
                          <a:latin typeface="Meiryo"/>
                        </a:rPr>
                        <a:t>2,733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709160"/>
            <a:ext cx="11183112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45720" rIns="4572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8602C"/>
                </a:solidFill>
                <a:latin typeface="Meiryo"/>
              </a:rPr>
              <a:t>仮定: </a:t>
            </a:r>
            <a:r>
              <a:rPr sz="1100" b="0">
                <a:solidFill>
                  <a:srgbClr val="1B1B1B"/>
                </a:solidFill>
                <a:latin typeface="Meiryo"/>
              </a:rPr>
              <a:t>増分転換率1・3・6%(参考: 配信対象は処方率の伸びが+2.3pt、換算2.8%〜6.0%。観察値で因果ではない)、全国換算の倍率62(m3.com登録医師31万人 ÷ 回答医師5,000名)、1人あたり年間売上 約7,149円(50億円 ÷ 全国の処方患者推計)、新規配信先の既読率は②の実測値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B2A5B"/>
                </a:solidFill>
                <a:latin typeface="Meiryo"/>
              </a:rPr>
              <a:t>実測: </a:t>
            </a:r>
            <a:r>
              <a:rPr sz="1100" b="0">
                <a:solidFill>
                  <a:srgbClr val="1B1B1B"/>
                </a:solidFill>
                <a:latin typeface="Meiryo"/>
              </a:rPr>
              <a:t>翌年比 = 翌年の潜在 ÷ 今年(接点のない両年回答医師)。潜在8人以上0.78倍、5〜7人1.02倍、0〜2人2.16倍。③で失う効果も同じ転換率で差し引く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施策②の上乗せと、施策をしなくても起きる変化は含めない。売上であり利益ではない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補足2 診療科別の配信順(10本)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補足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各特性の代表コンテンツ1本ずつを、その特性を最も重視する医師が多い順に並べ、各特性の2本目以降を後半に置く。内科・耳鼻は重点医師、小児科・眼科は全回答医師の割合。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831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診療科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1本目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2本目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3本目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4本目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5本目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6本目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7本目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8本目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9本目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</a:rPr>
                        <a:t>10本目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内科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C04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58%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C03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副作用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22%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C05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15%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C01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C02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58%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C10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C07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C06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C08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耳鼻咽喉科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C05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44%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C03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副作用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29%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C01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16%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C04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C02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C10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44%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C07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C06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C08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小児科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C03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副作用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65%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C05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19%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C04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10%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C01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C02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C10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C07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C06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C08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眼科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C03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副作用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50%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C05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30%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C01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12%</a:t>
                      </a:r>
                    </a:p>
                  </a:txBody>
                  <a:tcPr anchor="ctr" marL="73152" marR="73152">
                    <a:solidFill>
                      <a:srgbClr val="F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C04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C02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C10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24h持続性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30%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C07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C06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効果発現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12%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C09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飲み合わせ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C08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適用症状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B1B1B"/>
                          </a:solidFill>
                          <a:latin typeface="Meiryo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年12回の医師は11・12回目に未読の1〜3本目を再配信。隔月(③)は上位6本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