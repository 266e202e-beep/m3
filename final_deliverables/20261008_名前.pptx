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latin typeface="Meiryo"/>
              </a:rPr>
              <a:t>診療科別の潜在未処方患者数(人)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潜在未処方(人)</c:v>
                </c:pt>
              </c:strCache>
            </c:strRef>
          </c:tx>
          <c:dPt>
            <c:idx val="0"/>
            <c:spPr>
              <a:solidFill>
                <a:srgbClr val="103C73"/>
              </a:solidFill>
            </c:spPr>
          </c:dPt>
          <c:dPt>
            <c:idx val="1"/>
            <c:spPr>
              <a:solidFill>
                <a:srgbClr val="103C73"/>
              </a:solidFill>
            </c:spPr>
          </c:dPt>
          <c:dPt>
            <c:idx val="2"/>
            <c:spPr>
              <a:solidFill>
                <a:srgbClr val="9BBFE8"/>
              </a:solidFill>
            </c:spPr>
          </c:dPt>
          <c:dPt>
            <c:idx val="3"/>
            <c:spPr>
              <a:solidFill>
                <a:srgbClr val="9BBFE8"/>
              </a:solidFill>
            </c:spPr>
          </c:dPt>
          <c:cat>
            <c:strRef>
              <c:f>Sheet1!$A$2:$A$5</c:f>
              <c:strCache>
                <c:ptCount val="4"/>
                <c:pt idx="0">
                  <c:v>内科</c:v>
                </c:pt>
                <c:pt idx="1">
                  <c:v>耳鼻咽喉科</c:v>
                </c:pt>
                <c:pt idx="2">
                  <c:v>小児科</c:v>
                </c:pt>
                <c:pt idx="3">
                  <c:v>眼科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9538</c:v>
                </c:pt>
                <c:pt idx="1">
                  <c:v>8128</c:v>
                </c:pt>
                <c:pt idx="2">
                  <c:v>3988</c:v>
                </c:pt>
                <c:pt idx="3">
                  <c:v>1280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400">
                  <a:latin typeface="Meiry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配信対象外</c:v>
                </c:pt>
              </c:strCache>
            </c:strRef>
          </c:tx>
          <c:spPr>
            <a:solidFill>
              <a:srgbClr val="103C73"/>
            </a:solidFill>
          </c:spPr>
          <c:cat>
            <c:strRef>
              <c:f>Sheet1!$A$2:$A$3</c:f>
              <c:strCache>
                <c:ptCount val="2"/>
                <c:pt idx="0">
                  <c:v>B層(117名)</c:v>
                </c:pt>
                <c:pt idx="1">
                  <c:v>A層(316名)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</c:v>
                </c:pt>
                <c:pt idx="1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配信対象だが既読の記録なし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Sheet1!$A$2:$A$3</c:f>
              <c:strCache>
                <c:ptCount val="2"/>
                <c:pt idx="0">
                  <c:v>B層(117名)</c:v>
                </c:pt>
                <c:pt idx="1">
                  <c:v>A層(316名)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41</c:v>
                </c:pt>
                <c:pt idx="1">
                  <c:v>111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既読の記録あり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Sheet1!$A$2:$A$3</c:f>
              <c:strCache>
                <c:ptCount val="2"/>
                <c:pt idx="0">
                  <c:v>B層(117名)</c:v>
                </c:pt>
                <c:pt idx="1">
                  <c:v>A層(316名)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38</c:v>
                </c:pt>
                <c:pt idx="1">
                  <c:v>85</c:v>
                </c:pt>
              </c:numCache>
            </c:numRef>
          </c:val>
        </c:ser>
        <c:dLbls>
          <c:numFmt formatCode="0&quot;名&quot;" sourceLinked="0"/>
          <c:txPr>
            <a:bodyPr/>
            <a:lstStyle/>
            <a:p>
              <a:pPr>
                <a:defRPr sz="1500">
                  <a:solidFill>
                    <a:srgbClr val="FFFFFF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Meiryo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>
              <a:latin typeface="Meiryo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[0:25] 薬剤Aの処方拡大に向けて、MR君の見直しを提案します。柱は三つです。誰に届けるかを選ぶ。内容を出し分ける。既読の記録を次に活かす。いずれも未実施の提案で、処方増加につながるかは、まだ分かっていません。変化を継続的に確認しながら進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まず、どこに余地があるかです。アンケートでは、花粉症の患者さんのうち、薬剤Aを処方していない人、つまり潜在未処方が、全体で約2万3千人いました。そのうち内科が9,538人、耳鼻咽喉科が8,128人で、二つ合わせて77%です。ただし、これは患者数の自己申告から計算した理論上の数で、実際に処方に切り替えられる人数ではありません。重点は、内科と耳鼻咽喉科に置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次に、誰に届けるかです。内科と耳鼻咽喉科の回答医師3,286名のうち、潜在未処方が8人以上の医師は701名、約2割です。この701名で、両診療科の潜在未処方の約41%、7,187人を占めます。患者規模で、重点医師を絞り込めます。ただし、患者が多いことと、情報提供に反応することは別の話です。次のページで、医師の状態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この701名は、同じ状態ではありません。理解度と処方意向で分けると、最も多いのは、理解度も意向も低い316名で、潜在未処方は3,355人です。中程度の医師は117名、1,196人です。316名は、薬剤Aの五つの特徴すべてで、理解度が低い傾向でした。一方、最も重視する点は診療科で異なり、内科は飲み合わせ、耳鼻咽喉科は24時間持続性を挙げる医師が多くいました。そこで、理解度と診療科に応じた出し分けを検討します。ただし、今の配信内容が合っていない、という意味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では、MR君は、この医師たちに届いているのでしょうか。316名のうち、配信対象外が120名、配信対象でも既読の記録がない医師が111名、既読の記録がある医師が85名です。配信対象の中で既読がある割合は43%で、約57%には既読の記録がありません。117名の層でも、配信対象外が38名います。この43%が高いか低いかは、比べる基準がなく、判断できません。未読の理由も分かりません。配信対象の見直しと、既読を次に活かす余地がある、という整理にとど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[1:20] 提案は、三つの優先順位です。一つ目は、新規配信の候補158名、A層120名とB層38名について、配信できる資格や、実施の可否を確認します。二つ目は、すでに配信対象の275名、A層196名とB層79名に、診療科と理解度に応じて、コンテンツを出し分けます。例えば、理解度が低い層には、五つの特徴の基本情報を。内科には飲み合わせ、耳鼻咽喉科には24時間持続性を重視した情報を加えます。候補は、既存の10本から、タイトルとテーマで選んだもので、本文は未確認です。三つ目は、既読の情報を記録し、次の情報提供の改善につなげることです。MR面談は通常業務として維持し、今回の追加投資の対象には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[1:00] 実施の方法と費用です。対象は、新規候補が158名、既存の配信対象が275名です。ただし、新規候補に配信できるかは、データからは確認できず、実施前の確認が必要です。費用の単価は、既読1件あたり400円です。現在の記録では、A層の既読費用が66,400円、B層が31,600円、合わせて98,000円です。これは既存の記録に基づく既読課金額で、プロモーション全体の費用ではありません。将来の追加費用は、追加した施策による既読件数に400円を掛けて把握します。ほかに、配信設定や運用管理などの費用が別途必要です。単価が低いことは、リスクがないという意味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[0:45] 最後に、進め方です。配信数、既読率、既読件数を継続的に確認し、次回の調査で、理解度、処方意向、処方患者数の変化を確認します。変化が見られても、MR君の効果とは断定しません。そのために、医師ごとの配信日、コンテンツID、配信件数、既読状況を記録することを提案します。結果を見て、内容や順番を見直し、他の高ポテンシャル医師、他の診療科へと、段階的に広げます。同じ結果になるとは限らないため、各段階で確認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MR君の配信対象と内容を、データで見直し続ける提案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施策仮説(未実施)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提案はすべて未実施です。数値は2025〜2026年のアンケートとMR・MR君の記録に基づきます。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64240" cy="7315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900" b="1">
                <a:solidFill>
                  <a:srgbClr val="103C73"/>
                </a:solidFill>
                <a:latin typeface="Meiryo"/>
              </a:rPr>
              <a:t>潜在未処方が多い医師をデータから選び、診療科と理解度に応じて既存コンテンツを出し分け、既読データで改善を続ける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3520440" cy="6858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Targeting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926080"/>
            <a:ext cx="3520440" cy="21031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2A78D6"/>
                </a:solidFill>
                <a:latin typeface="Meiryo"/>
              </a:rPr>
              <a:t>誰に届けるか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潜在未処方が多いのに、MR君の配信対象になっていない医師(158名)を、新たな配信候補として確認する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2240280"/>
            <a:ext cx="3520440" cy="68580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Personalization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79" y="2926080"/>
            <a:ext cx="3520440" cy="21031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EB6834"/>
                </a:solidFill>
                <a:latin typeface="Meiryo"/>
              </a:rPr>
              <a:t>何を届けるか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診療科と理解度に応じて、既存コンテンツを出し分ける(すでに配信対象の275名)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19" y="2240280"/>
            <a:ext cx="3520440" cy="6858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Meiryo"/>
              </a:rPr>
              <a:t>Engagement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926080"/>
            <a:ext cx="3520440" cy="210312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1BAF7A"/>
                </a:solidFill>
                <a:latin typeface="Meiryo"/>
              </a:rPr>
              <a:t>次にどう活かすか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配信日・コンテンツ・既読を医師ごとに記録し、次の情報提供の改善につなげる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5349240"/>
            <a:ext cx="11338560" cy="777240"/>
          </a:xfrm>
          <a:prstGeom prst="rect">
            <a:avLst/>
          </a:prstGeom>
          <a:solidFill>
            <a:srgbClr val="FFF3EC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施策は未実施です。処方増加につながるかは未検証のため、配信・既読と次回調査の変化を継続的に確認します。MR面談は通常業務として維持します。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潜在未処方の77%は、内科と耳鼻咽喉科に集中している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実測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出典: 2026年アンケート(回答者、花粉症患者数は直近1年・自己申告)。潜在未処方=花粉症患者数−薬剤A処方患者数(理論上の規模で、転換できる患者数ではありません)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2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" y="1371600"/>
          <a:ext cx="6766560" cy="42976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463040"/>
            <a:ext cx="4114800" cy="15544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ctr"/>
            <a:r>
              <a:rPr sz="1600" b="0">
                <a:solidFill>
                  <a:srgbClr val="6B6B6B"/>
                </a:solidFill>
                <a:latin typeface="Meiryo"/>
              </a:rPr>
              <a:t>内科+耳鼻咽喉科</a:t>
            </a:r>
          </a:p>
          <a:p>
            <a:pPr algn="ctr"/>
            <a:r>
              <a:rPr sz="5400" b="1">
                <a:solidFill>
                  <a:srgbClr val="103C73"/>
                </a:solidFill>
                <a:latin typeface="Meiryo"/>
              </a:rPr>
              <a:t>77.0%</a:t>
            </a:r>
          </a:p>
          <a:p>
            <a:pPr algn="ctr"/>
            <a:r>
              <a:rPr sz="1600" b="0">
                <a:solidFill>
                  <a:srgbClr val="1B1B1B"/>
                </a:solidFill>
                <a:latin typeface="Meiryo"/>
              </a:rPr>
              <a:t>17,666人 / 全体22,934人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3246120"/>
            <a:ext cx="4114800" cy="242316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3C73"/>
                </a:solidFill>
                <a:latin typeface="Meiryo"/>
              </a:rPr>
              <a:t>ポイント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・重点は内科・耳鼻咽喉科に置く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・潜在未処方は自己申告から計算した理論上の数で、実際に処方へ転換できる患者数ではない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760720"/>
            <a:ext cx="11338560" cy="502920"/>
          </a:xfrm>
          <a:prstGeom prst="rect">
            <a:avLst/>
          </a:prstGeom>
          <a:solidFill>
            <a:srgbClr val="FFF3E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対象: 回答医師5,000名。内科9,538人、耳鼻咽喉科8,128人、小児科3,988人、眼科1,280人(合計22,934人)。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潜在未処方が8人以上の701名が、重点候補になる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実測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出典: 2026年アンケート(内科・耳鼻咽喉科の回答医師)。基準を7人以上・10人以上に変えても、少数の医師に集中する構造は同じです。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6949440" cy="118872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eiryo"/>
              </a:rPr>
              <a:t>内科・耳鼻咽喉科の回答医師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3,286名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eiryo"/>
              </a:rPr>
              <a:t>潜在未処方 17,666人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79" y="2788920"/>
            <a:ext cx="585216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eiryo"/>
              </a:rPr>
              <a:t>潜在未処方が8人以上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701名(21.3%)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eiryo"/>
              </a:rPr>
              <a:t>内科292名・耳鼻咽喉科409名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19" y="4160520"/>
            <a:ext cx="4754880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0">
                <a:solidFill>
                  <a:srgbClr val="FFFFFF"/>
                </a:solidFill>
                <a:latin typeface="Meiryo"/>
              </a:rPr>
              <a:t>その医師たちの潜在未処方</a:t>
            </a:r>
          </a:p>
          <a:p>
            <a:pPr algn="ctr"/>
            <a:r>
              <a:rPr sz="2600" b="1">
                <a:solidFill>
                  <a:srgbClr val="FFFFFF"/>
                </a:solidFill>
                <a:latin typeface="Meiryo"/>
              </a:rPr>
              <a:t>7,187人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Meiryo"/>
              </a:rPr>
              <a:t>両診療科の40.7%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1417320"/>
            <a:ext cx="3931920" cy="393192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103C73"/>
                </a:solidFill>
                <a:latin typeface="Meiryo"/>
              </a:rPr>
              <a:t>示唆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・患者規模と現在の処方状況で、重点医師を絞り込める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・ただし、潜在未処方の多さだけでは、情報提供に反応するかは分からない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・患者数は自己申告で、年ごとに変動する(2025年に潜在未処方が8人以上だった677名は、2026年の患者数が平均2.4人減っている)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5669280"/>
            <a:ext cx="11338560" cy="502920"/>
          </a:xfrm>
          <a:prstGeom prst="rect">
            <a:avLst/>
          </a:prstGeom>
          <a:solidFill>
            <a:srgbClr val="FFF3EC"/>
          </a:solidFill>
          <a:ln w="12700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次のページで、701名の「理解度」と「処方意向」を見ます。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医師の理解度と診療科によって、必要な情報は異なる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実測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出典: 2026年アンケート(高ポテンシャル701名)。理解度=薬剤Aの5特性の平均(1〜5)、処方意向=今後の処方意向(1〜5)。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675120" cy="4114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>
                <a:solidFill>
                  <a:srgbClr val="103C73"/>
                </a:solidFill>
                <a:latin typeface="Meiryo"/>
              </a:rPr>
              <a:t>高ポテンシャル701名の分布(医師数 / 潜在未処方)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645920"/>
          <a:ext cx="66751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645920"/>
                <a:gridCol w="1645920"/>
                <a:gridCol w="1645920"/>
              </a:tblGrid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理解度 \ 処方意向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意向が低い(≦2)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意向が中(=3)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意向が高い(≧4)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理解度が低い(≦2)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A層  316名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3,355人</a:t>
                      </a:r>
                    </a:p>
                  </a:txBody>
                  <a:tcPr anchor="ctr">
                    <a:solidFill>
                      <a:srgbClr val="EB68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62名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619人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11名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117人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理解度が中(2超〜3.5未満)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45名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479人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B層  117名</a:t>
                      </a:r>
                    </a:p>
                    <a:p>
                      <a:pPr algn="ctr"/>
                      <a:r>
                        <a:rPr sz="1400" b="1">
                          <a:solidFill>
                            <a:srgbClr val="1B1B1B"/>
                          </a:solidFill>
                          <a:latin typeface="Meiryo"/>
                        </a:rPr>
                        <a:t>1,196人</a:t>
                      </a:r>
                    </a:p>
                  </a:txBody>
                  <a:tcPr anchor="ctr">
                    <a:solidFill>
                      <a:srgbClr val="9BBF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95名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903人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理解度が高い(≧3.5)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14人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4名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39人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50名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465人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06640" y="1188720"/>
            <a:ext cx="4434840" cy="402336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103C73"/>
                </a:solidFill>
                <a:latin typeface="Meiryo"/>
              </a:rPr>
              <a:t>わかったこと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・A層316名(潜在未処方3,355人)は、薬剤Aの5特性すべてで理解度が低い(平均1.4前後)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・B層117名(1,196人)は、理解度・意向が中程度</a:t>
            </a:r>
          </a:p>
          <a:p>
            <a:pPr algn="l">
              <a:spcAft>
                <a:spcPts val="700"/>
              </a:spcAft>
            </a:pPr>
            <a:r>
              <a:rPr sz="1400" b="1">
                <a:solidFill>
                  <a:srgbClr val="1B1B1B"/>
                </a:solidFill>
                <a:latin typeface="Meiryo"/>
              </a:rPr>
              <a:t>・最も重視する特性は診療科で異なる: 内科は「飲み合わせ」(56%)、耳鼻咽喉科は「24h持続性」(49%)</a:t>
            </a:r>
          </a:p>
          <a:p>
            <a:pPr algn="l">
              <a:spcAft>
                <a:spcPts val="700"/>
              </a:spcAft>
            </a:pPr>
            <a:r>
              <a:rPr sz="1100" b="0">
                <a:solidFill>
                  <a:srgbClr val="6B6B6B"/>
                </a:solidFill>
                <a:latin typeface="Meiryo"/>
              </a:rPr>
              <a:t>(診療科全体の1位の割合。A層では内科55%・耳鼻咽喉科46%)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5440680"/>
            <a:ext cx="11338560" cy="640080"/>
          </a:xfrm>
          <a:prstGeom prst="rect">
            <a:avLst/>
          </a:prstGeom>
          <a:solidFill>
            <a:srgbClr val="FFF3EC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示唆: 理解度と診療科を組み合わせた出し分けを検討する。ただし、今の配信内容が合っていないという意味ではない。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配信対象でも、A層の約57%は既読の記録がない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実測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出典: mrkun_targets(配信対象)・mrkun_logs(既読の記録)。既読の記録の対象期間は不明です。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280160"/>
          <a:ext cx="694944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Rectangle 7"/>
          <p:cNvSpPr/>
          <p:nvPr/>
        </p:nvSpPr>
        <p:spPr>
          <a:xfrm>
            <a:off x="7680960" y="1280160"/>
            <a:ext cx="4114800" cy="402336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03C73"/>
                </a:solidFill>
                <a:latin typeface="Meiryo"/>
              </a:rPr>
              <a:t>配信対象内の既読の記録がある割合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1B1B1B"/>
                </a:solidFill>
                <a:latin typeface="Meiryo"/>
              </a:rPr>
              <a:t>A層  43.4%(85÷196名)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1B1B1B"/>
                </a:solidFill>
                <a:latin typeface="Meiryo"/>
              </a:rPr>
              <a:t>B層  48.1%(38÷79名)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03C73"/>
                </a:solidFill>
                <a:latin typeface="Meiryo"/>
              </a:rPr>
              <a:t>既読の記録がある医師の平均既読件数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A層 1.95件 / B層 2.08件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・43%が高いか低いかは、比べる基準がなく判断できない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・未読の理由は不明。既読は処方への関心を意味しない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5486400"/>
            <a:ext cx="11338560" cy="640080"/>
          </a:xfrm>
          <a:prstGeom prst="rect">
            <a:avLst/>
          </a:prstGeom>
          <a:solidFill>
            <a:srgbClr val="FFF3EC"/>
          </a:solidFill>
          <a:ln w="12700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/>
            <a:r>
              <a:rPr sz="1300" b="0">
                <a:solidFill>
                  <a:srgbClr val="1B1B1B"/>
                </a:solidFill>
                <a:latin typeface="Meiryo"/>
              </a:rPr>
              <a:t>示唆: 配信対象の見直しと、既読を次に活かす余地がある。現在のMR君の運用が不十分だとは言えない。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配信対象の見直しと、診療科×理解度の出し分けで改善する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施策仮説(未実施)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※既存10本のコンテンツ本文は未確認です。候補はタイトルとテーマ(mrkun_contents_summary)から推定したものです。MR面談は通常業務として維持します。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11880" cy="5029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①  Targeting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737360"/>
            <a:ext cx="3611880" cy="13258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A78D6"/>
                </a:solidFill>
                <a:latin typeface="Meiryo"/>
              </a:rPr>
              <a:t>新規配信候補 158名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A層120名+B層38名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配信資格・実施可否を確認する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234440"/>
            <a:ext cx="3611880" cy="5029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②  Personalization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392" y="1737360"/>
            <a:ext cx="3611880" cy="13258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B6834"/>
                </a:solidFill>
                <a:latin typeface="Meiryo"/>
              </a:rPr>
              <a:t>既存配信対象 275名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A層196名+B層79名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診療科×理解度でコンテンツを出し分ける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01583" y="1234440"/>
            <a:ext cx="361188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Meiryo"/>
              </a:rPr>
              <a:t>③  Follow-up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1737360"/>
            <a:ext cx="3611880" cy="132588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BAF7A"/>
                </a:solidFill>
                <a:latin typeface="Meiryo"/>
              </a:rPr>
              <a:t>既読の記録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配信・既読を医師ごとに記録し、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次の情報提供の改善につなげる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13385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400" b="1">
                <a:solidFill>
                  <a:srgbClr val="103C73"/>
                </a:solidFill>
                <a:latin typeface="Meiryo"/>
              </a:rPr>
              <a:t>②のコンテンツ候補(既存10本から。診療科×理解度)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57200" y="3566160"/>
          <a:ext cx="113385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669280"/>
                <a:gridCol w="329184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出し分けの方針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Meiryo"/>
                        </a:rPr>
                        <a:t>候補コンテンツ(推定)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A層 × 内科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5特性の基本情報 + 飲み合わせを重点に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C01〜C05(各特性1本) + C04・C09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A層 × 耳鼻咽喉科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5特性の基本情報 + 24h持続性を重点に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C01〜C05(各特性1本) + C05・C10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B層 × 内科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飲み合わせを中心に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C04・C09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B1B1B"/>
                          </a:solidFill>
                          <a:latin typeface="Meiryo"/>
                        </a:rPr>
                        <a:t>B層 × 耳鼻咽喉科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24h持続性を中心に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B1B1B"/>
                          </a:solidFill>
                          <a:latin typeface="Meiryo"/>
                        </a:rPr>
                        <a:t>C05・C10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852160"/>
            <a:ext cx="1133856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200" b="0">
                <a:solidFill>
                  <a:srgbClr val="6B6B6B"/>
                </a:solidFill>
                <a:latin typeface="Meiryo"/>
              </a:rPr>
              <a:t>機能面(コンテンツ別の配信・出し分け・既読後の追加配信)は、MR君で実施できるか未確認です。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新規158名・既存275名が対象。費用は既読件数×400円で把握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将来計画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出典: データ仕様書(単価)、mrkun_logs(既読件数)。現在の既読費用の対象期間は不明です。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640080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/>
            <a:r>
              <a:rPr sz="1200" b="0">
                <a:solidFill>
                  <a:srgbClr val="6B6B6B"/>
                </a:solidFill>
                <a:latin typeface="Meiryo"/>
              </a:rPr>
              <a:t>対象人数は実測。実施の可否は未確認(将来計画)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508760"/>
          <a:ext cx="64008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371600"/>
                <a:gridCol w="1554480"/>
                <a:gridCol w="155448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施策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対象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内科 / 耳鼻咽喉科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実施前の確認</a:t>
                      </a:r>
                    </a:p>
                  </a:txBody>
                  <a:tcPr anchor="ctr">
                    <a:solidFill>
                      <a:srgbClr val="103C7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① 新規配信の検討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158名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(A層120+B層38)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84 / 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配信資格・実施可否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(判定できる変数なし)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1B1B"/>
                          </a:solidFill>
                          <a:latin typeface="Meiryo"/>
                        </a:rPr>
                        <a:t>② 出し分け</a:t>
                      </a:r>
                    </a:p>
                  </a:txBody>
                  <a:tcPr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275名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(A層196+B層79)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137 / 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B1B1B"/>
                          </a:solidFill>
                          <a:latin typeface="Meiryo"/>
                        </a:rPr>
                        <a:t>コンテンツ別の配信・出し分けの可否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4023360"/>
            <a:ext cx="6400800" cy="182880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03C73"/>
                </a:solidFill>
                <a:latin typeface="Meiryo"/>
              </a:rPr>
              <a:t>記録を提案する項目(今後の運用)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・医師別の配信日・コンテンツID・配信件数・既読状況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・コンテンツ別の配信母数(既読率の算出に必要)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・面談は通常業務として記録(補助情報)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1280160"/>
            <a:ext cx="4617720" cy="457200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36576" bIns="36576"/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3C73"/>
                </a:solidFill>
                <a:latin typeface="Meiryo"/>
              </a:rPr>
              <a:t>費用の考え方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B1B1B"/>
                </a:solidFill>
                <a:latin typeface="Meiryo"/>
              </a:rPr>
              <a:t>MR君: 既読1件あたり400円(配信数ではなく既読件数で課金)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103C73"/>
                </a:solidFill>
                <a:latin typeface="Meiryo"/>
              </a:rPr>
              <a:t>【実測】現在の既読費用(既存の記録)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A層  66,400円(166件)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B1B1B"/>
                </a:solidFill>
                <a:latin typeface="Meiryo"/>
              </a:rPr>
              <a:t>B層  31,600円(79件)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1B1B1B"/>
                </a:solidFill>
                <a:latin typeface="Meiryo"/>
              </a:rPr>
              <a:t>合計  98,000円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6B6B6B"/>
                </a:solidFill>
                <a:latin typeface="Meiryo"/>
              </a:rPr>
              <a:t>これは既読課金額で、プロモーション全体の費用ではありません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EB6834"/>
                </a:solidFill>
                <a:latin typeface="Meiryo"/>
              </a:rPr>
              <a:t>将来の追加費用 = 追加した施策による既読件数 × 400円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1B1B1B"/>
                </a:solidFill>
                <a:latin typeface="Meiryo"/>
              </a:rPr>
              <a:t>別途確認: 配信設定・運用管理・効果確認などの費用。既存コンテンツの活用で制作費を抑えられる可能性はあるが、金額は未確認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91440"/>
            <a:ext cx="9509760" cy="8686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2200" b="1">
                <a:solidFill>
                  <a:srgbClr val="FFFFFF"/>
                </a:solidFill>
                <a:latin typeface="Meiryo"/>
              </a:rPr>
              <a:t>配信・既読データで毎期見直し、段階的に広げる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301752"/>
            <a:ext cx="1828800" cy="457200"/>
          </a:xfrm>
          <a:prstGeom prst="round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Meiryo"/>
              </a:rPr>
              <a:t>将来計画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400800"/>
            <a:ext cx="1078992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00" b="0">
                <a:solidFill>
                  <a:srgbClr val="6B6B6B"/>
                </a:solidFill>
                <a:latin typeface="Meiryo"/>
              </a:rPr>
              <a:t>評価は継続的な確認であり、変化をMR君の効果とは断定しません。次回調査の時期は未確定です。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1247120" y="6400800"/>
            <a:ext cx="54864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r"/>
            <a:r>
              <a:rPr sz="1100" b="0">
                <a:solidFill>
                  <a:srgbClr val="6B6B6B"/>
                </a:solidFill>
                <a:latin typeface="Meiryo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840480" cy="475488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03C73"/>
                </a:solidFill>
                <a:latin typeface="Meiryo"/>
              </a:rPr>
              <a:t>確認する指標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Meiryo"/>
              </a:rPr>
              <a:t>プロセス(継続)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配信数・既読率・既読件数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Meiryo"/>
              </a:rPr>
              <a:t>次回の調査での変化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理解度・処方意向・処方患者数</a:t>
            </a:r>
          </a:p>
          <a:p>
            <a:pPr algn="l">
              <a:spcAft>
                <a:spcPts val="700"/>
              </a:spcAft>
            </a:pPr>
            <a:r>
              <a:rPr sz="1200" b="1">
                <a:solidFill>
                  <a:srgbClr val="EB6834"/>
                </a:solidFill>
                <a:latin typeface="Meiryo"/>
              </a:rPr>
              <a:t>※変化があっても、MR君の効果とは断定しない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Meiryo"/>
              </a:rPr>
              <a:t>記録する項目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医師別の配信日・コンテンツID・配信件数・既読状況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2A78D6"/>
                </a:solidFill>
                <a:latin typeface="Meiryo"/>
              </a:rPr>
              <a:t>費用の確認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1B1B1B"/>
                </a:solidFill>
                <a:latin typeface="Meiryo"/>
              </a:rPr>
              <a:t>追加した既読件数×400円と、別途費用を並べて確認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1417320"/>
            <a:ext cx="1691640" cy="1188720"/>
          </a:xfrm>
          <a:prstGeom prst="rect">
            <a:avLst/>
          </a:prstGeom>
          <a:solidFill>
            <a:srgbClr val="103C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Plan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対象・内容を選ぶ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417320"/>
            <a:ext cx="1691640" cy="11887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Do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配信する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2788920"/>
            <a:ext cx="1691640" cy="11887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Check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既読・変化を確認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2788920"/>
            <a:ext cx="1691640" cy="11887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Meiryo"/>
              </a:rPr>
              <a:t>Act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Meiryo"/>
              </a:rPr>
              <a:t>内容・順番を見直す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4206240"/>
            <a:ext cx="352044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0">
                <a:solidFill>
                  <a:srgbClr val="6B6B6B"/>
                </a:solidFill>
                <a:latin typeface="Meiryo"/>
              </a:rPr>
              <a:t>PDCAを毎期くり返し、次の配信に反映する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1234440"/>
            <a:ext cx="3520440" cy="4754880"/>
          </a:xfrm>
          <a:prstGeom prst="rect">
            <a:avLst/>
          </a:prstGeom>
          <a:noFill/>
          <a:ln w="12700">
            <a:solidFill>
              <a:srgbClr val="103C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36576" bIns="36576"/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03C73"/>
                </a:solidFill>
                <a:latin typeface="Meiryo"/>
              </a:rPr>
              <a:t>段階的な横展開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Meiryo"/>
              </a:rPr>
              <a:t>①  A層・B層(今回の433名)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Meiryo"/>
              </a:rPr>
              <a:t>②  他の高ポテンシャル医師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1B1B1B"/>
                </a:solidFill>
                <a:latin typeface="Meiryo"/>
              </a:rPr>
              <a:t>③  他の診療科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B1B1B"/>
                </a:solidFill>
                <a:latin typeface="Meiryo"/>
              </a:rPr>
              <a:t>各段階で、確認結果を見てから進める。異なる医師に同じ結果が出るとは限らないため、段階ごとに改めて確認する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