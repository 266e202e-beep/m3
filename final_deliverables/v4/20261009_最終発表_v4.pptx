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cat>
            <c:strRef>
              <c:f>Sheet1!$A$2:$A$4</c:f>
              <c:strCache>
                <c:ptCount val="3"/>
                <c:pt idx="0">
                  <c:v>未接触
(MR・MR君なし)</c:v>
                </c:pt>
                <c:pt idx="1">
                  <c:v>MR君のみ</c:v>
                </c:pt>
                <c:pt idx="2">
                  <c:v>MR面談あり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191</c:v>
                </c:pt>
                <c:pt idx="1">
                  <c:v>392</c:v>
                </c:pt>
                <c:pt idx="2">
                  <c:v>118</c:v>
                </c:pt>
              </c:numCache>
            </c:numRef>
          </c:val>
        </c:ser>
        <c:dLbls>
          <c:numFmt formatCode="#,##0&quot;名&quot;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最も重視する医師の割合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内科:
飲み合わせ</c:v>
                </c:pt>
                <c:pt idx="1">
                  <c:v>耳鼻:
24h持続性</c:v>
                </c:pt>
                <c:pt idx="2">
                  <c:v>耳鼻:
副作用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0.579</c:v>
                </c:pt>
                <c:pt idx="1">
                  <c:v>0.44</c:v>
                </c:pt>
                <c:pt idx="2">
                  <c:v>0.286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今の配信に占める割合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Sheet1!$A$2:$A$4</c:f>
              <c:strCache>
                <c:ptCount val="3"/>
                <c:pt idx="0">
                  <c:v>内科:
飲み合わせ</c:v>
                </c:pt>
                <c:pt idx="1">
                  <c:v>耳鼻:
24h持続性</c:v>
                </c:pt>
                <c:pt idx="2">
                  <c:v>耳鼻:
副作用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</c:v>
                </c:pt>
                <c:pt idx="1">
                  <c:v>0.2</c:v>
                </c:pt>
                <c:pt idx="2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5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結論から申し上げます。</a:t>
            </a:r>
          </a:p>
          <a:p>
            <a:r>
              <a:t>潜在未処方の多い重点医師701名を、データから4つのタイプに分け、MR君で「誰に・何を・何回」届けるかを変えることを提案します。</a:t>
            </a:r>
          </a:p>
          <a:p>
            <a:r>
              <a:t>MRもMR君も届いていない191名には、新たに月1回。処方意向が高い77名には、処方場面の情報を月2回届けます。</a:t>
            </a:r>
          </a:p>
          <a:p>
            <a:r>
              <a:t>内容は、内科は飲み合わせ、耳鼻咽喉科は24時間持続性と副作用から届けます。</a:t>
            </a:r>
          </a:p>
          <a:p>
            <a:r>
              <a:t>今の予算の範囲で、追加売上は基準ケースで851万円、幅を見ると284万円から1,702万円と試算しています。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まず、誰に届けるかです。</a:t>
            </a:r>
          </a:p>
          <a:p>
            <a:r>
              <a:t>潜在未処方の77%は内科と耳鼻咽喉科にあり、その中で潜在未処方が8人以上の701名、医師の21%が、潜在未処方の41%を持っています。この701名を重点医師とします。</a:t>
            </a:r>
          </a:p>
          <a:p>
            <a:r>
              <a:t>701名のうち191名には、MRの面談もMR君の配信も届いていません。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では、なぜ処方が少ないのか。5つの仮説を確認しました。</a:t>
            </a:r>
          </a:p>
          <a:p>
            <a:r>
              <a:t>重点医師は、他の医師より理解度も処方意向も低く、MRの面談も少ない傾向でした。</a:t>
            </a:r>
          </a:p>
          <a:p>
            <a:r>
              <a:t>さらに、届けている内容と、医師が重視する内容がずれていました。</a:t>
            </a:r>
          </a:p>
          <a:p>
            <a:r>
              <a:t>内科の重点医師の58%は飲み合わせを最も重視していますが、今の配信で飲み合わせの内容は2割だけです。耳鼻咽喉科でも、24時間持続性と副作用の内容が足りていません。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次に、同じ診療科・同じ患者規模・同じ施設区分で、処方率が高い医師と比べました。</a:t>
            </a:r>
          </a:p>
          <a:p>
            <a:r>
              <a:t>重点医師の理解度は、5つの特性すべてで約1.7低く、処方意向が高い医師の割合は22%対92%です。</a:t>
            </a:r>
          </a:p>
          <a:p>
            <a:r>
              <a:t>MRの面談がある医師は17%対51%で、3分の1でした。一方、MR君の配信率はどちらも68%で同じです。</a:t>
            </a:r>
          </a:p>
          <a:p>
            <a:r>
              <a:t>また、重点医師は学会・論文を参考にする割合が2倍でした。ただし、これらは関連で、原因とは断定できません。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[1:10] ここからが具体策です。重点医師を4つのタイプに分けました。</a:t>
            </a:r>
          </a:p>
          <a:p>
            <a:r>
              <a:t>1つ目は接触不足型、191名です。MRもMR君も届いていないので、新たにMR君の配信対象に加え、月1回届けます。</a:t>
            </a:r>
          </a:p>
          <a:p>
            <a:r>
              <a:t>2つ目は理解不足型、315名です。配信中でも半分以上が1年間何も読んでいません。重視テーマを先頭に並べ替え、未読分を再配信して、年10回を12回にします。</a:t>
            </a:r>
          </a:p>
          <a:p>
            <a:r>
              <a:t>3つ目は意向ギャップ型、77名です。処方したい気持ちは高処方医師並みなのに、処方率は37%です。既読も最も多いので、処方場面の情報を月2回に増やします。</a:t>
            </a:r>
          </a:p>
          <a:p>
            <a:r>
              <a:t>4つ目のMR面談フォロー型は、情報源の97%がMR対面なので、MR君は現状維持です。</a:t>
            </a:r>
          </a:p>
          <a:p>
            <a:r>
              <a:t>財源として、潜在未処方が0〜2人の医師への配信を、年10回から6回に減らします。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何を送るかです。新しく作らず、既存の10本の順番と回数を変えます。</a:t>
            </a:r>
          </a:p>
          <a:p>
            <a:r>
              <a:t>内科は、飲み合わせガイドのC04、多剤併用患者への処方設計のC09から始めます。</a:t>
            </a:r>
          </a:p>
          <a:p>
            <a:r>
              <a:t>耳鼻咽喉科は、24時間持続性の臨床エビデンスのC05、長期投与のC10、そして副作用のC03から始めます。耳鼻咽喉科の重点医師は、高処方医師より副作用を重視する割合が高いためです。</a:t>
            </a:r>
          </a:p>
          <a:p>
            <a:r>
              <a:t>学会・論文を参考にする医師が多いので、エビデンス型の内容を先に届けます。</a:t>
            </a:r>
          </a:p>
          <a:p>
            <a:r>
              <a:t>意向ギャップ型には、処方設計や症例集など、処方の場面に近い内容を中心にします。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2つの予算プランです。</a:t>
            </a:r>
          </a:p>
          <a:p>
            <a:r>
              <a:t>A案は予算維持型です。配信対象は3,672名、既読は3,930件、費用は157.2万円で、今の160.2万円の範囲に収まります。潜在患者のカバー数は2,042人増えます。</a:t>
            </a:r>
          </a:p>
          <a:p>
            <a:r>
              <a:t>B案は追加投資型です。A案に加えて、未接触で潜在未処方が5〜7人の260名にも月1回届けます。費用は172.1万円で、A案より14.9万円増えます。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最後に効果です。</a:t>
            </a:r>
          </a:p>
          <a:p>
            <a:r>
              <a:t>既読した医師の潜在未処方のうち、配信によって新たに処方される割合を、保守1%、基準3%、楽観6%と置きました。基準の3%は、配信対象と対象外の比較から得た参考値の下限に近い値です。</a:t>
            </a:r>
          </a:p>
          <a:p>
            <a:r>
              <a:t>A案では、追加処方患者は13人から77人、追加売上は284万円から1,702万円で、追加の費用はかかりません。</a:t>
            </a:r>
          </a:p>
          <a:p>
            <a:r>
              <a:t>B案は、A案より14.9万円多くかかり、売上はさらに201万円から1,210万円増えます。</a:t>
            </a:r>
          </a:p>
          <a:p>
            <a:r>
              <a:t>これは売上で、利益ではありません。次回調査で、タイプ別に既読医師率・理解度・処方率を確認し、仮定を更新します。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重点医師701名を4タイプに分け、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MR君の「誰に・何を・何回」を変える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提案(試算)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回答医師5,000名・1年分。追加売上は売上であり利益ではない。増分転換率1〜6%(保守〜楽観)の仮定による試算で、因果効果は未確認。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97480" cy="4572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① 接触不足型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697480" cy="2057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47088"/>
            <a:ext cx="2514600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95728"/>
            <a:ext cx="2514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>
                <a:solidFill>
                  <a:srgbClr val="5F6B7A"/>
                </a:solidFill>
                <a:latin typeface="Meiryo"/>
              </a:rPr>
              <a:t>MRもMR君も未接触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788920"/>
            <a:ext cx="2478024" cy="10515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02C"/>
                </a:solidFill>
                <a:latin typeface="Meiryo"/>
              </a:rPr>
              <a:t>何を </a:t>
            </a:r>
            <a:r>
              <a:rPr sz="1350" b="1">
                <a:solidFill>
                  <a:srgbClr val="1B1B1B"/>
                </a:solidFill>
                <a:latin typeface="Meiryo"/>
              </a:rPr>
              <a:t>重視テーマのエビデンス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02C"/>
                </a:solidFill>
                <a:latin typeface="Meiryo"/>
              </a:rPr>
              <a:t>何回 </a:t>
            </a:r>
            <a:r>
              <a:rPr sz="1350" b="1">
                <a:solidFill>
                  <a:srgbClr val="1B1B1B"/>
                </a:solidFill>
                <a:latin typeface="Meiryo"/>
              </a:rPr>
              <a:t>新規に月1回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97480" cy="457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② 理解不足型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2697480" cy="2057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847088"/>
            <a:ext cx="2514600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0B2A5B"/>
                </a:solidFill>
                <a:latin typeface="Meiryo"/>
              </a:rPr>
              <a:t>315名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395728"/>
            <a:ext cx="2514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>
                <a:solidFill>
                  <a:srgbClr val="5F6B7A"/>
                </a:solidFill>
                <a:latin typeface="Meiryo"/>
              </a:rPr>
              <a:t>53%が1年間未読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7288" y="2788920"/>
            <a:ext cx="2478024" cy="10515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02C"/>
                </a:solidFill>
                <a:latin typeface="Meiryo"/>
              </a:rPr>
              <a:t>何を </a:t>
            </a:r>
            <a:r>
              <a:rPr sz="1350" b="1">
                <a:solidFill>
                  <a:srgbClr val="1B1B1B"/>
                </a:solidFill>
                <a:latin typeface="Meiryo"/>
              </a:rPr>
              <a:t>重視テーマを先頭に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02C"/>
                </a:solidFill>
                <a:latin typeface="Meiryo"/>
              </a:rPr>
              <a:t>何回 </a:t>
            </a:r>
            <a:r>
              <a:rPr sz="1350" b="1">
                <a:solidFill>
                  <a:srgbClr val="1B1B1B"/>
                </a:solidFill>
                <a:latin typeface="Meiryo"/>
              </a:rPr>
              <a:t>年10回→12回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2697480" cy="457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③ 意向ギャップ型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828800"/>
            <a:ext cx="2697480" cy="2057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47088"/>
            <a:ext cx="2514600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0B2A5B"/>
                </a:solidFill>
                <a:latin typeface="Meiryo"/>
              </a:rPr>
              <a:t>77名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395728"/>
            <a:ext cx="2514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>
                <a:solidFill>
                  <a:srgbClr val="5F6B7A"/>
                </a:solidFill>
                <a:latin typeface="Meiryo"/>
              </a:rPr>
              <a:t>意向4.3でも処方率37%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1928" y="2788920"/>
            <a:ext cx="2478024" cy="10515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02C"/>
                </a:solidFill>
                <a:latin typeface="Meiryo"/>
              </a:rPr>
              <a:t>何を </a:t>
            </a:r>
            <a:r>
              <a:rPr sz="1350" b="1">
                <a:solidFill>
                  <a:srgbClr val="1B1B1B"/>
                </a:solidFill>
                <a:latin typeface="Meiryo"/>
              </a:rPr>
              <a:t>処方場面の情報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02C"/>
                </a:solidFill>
                <a:latin typeface="Meiryo"/>
              </a:rPr>
              <a:t>何回 </a:t>
            </a:r>
            <a:r>
              <a:rPr sz="1350" b="1">
                <a:solidFill>
                  <a:srgbClr val="1B1B1B"/>
                </a:solidFill>
                <a:latin typeface="Meiryo"/>
              </a:rPr>
              <a:t>年10回→月2回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1371600"/>
            <a:ext cx="269748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④ MR面談フォロー型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828800"/>
            <a:ext cx="2697480" cy="2057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847088"/>
            <a:ext cx="2514600" cy="5669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0B2A5B"/>
                </a:solidFill>
                <a:latin typeface="Meiryo"/>
              </a:rPr>
              <a:t>118名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2395728"/>
            <a:ext cx="2514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>
                <a:solidFill>
                  <a:srgbClr val="5F6B7A"/>
                </a:solidFill>
                <a:latin typeface="Meiryo"/>
              </a:rPr>
              <a:t>情報源の97%がMR対面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16568" y="2788920"/>
            <a:ext cx="2478024" cy="10515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02C"/>
                </a:solidFill>
                <a:latin typeface="Meiryo"/>
              </a:rPr>
              <a:t>何を </a:t>
            </a:r>
            <a:r>
              <a:rPr sz="1350" b="1">
                <a:solidFill>
                  <a:srgbClr val="1B1B1B"/>
                </a:solidFill>
                <a:latin typeface="Meiryo"/>
              </a:rPr>
              <a:t>変更なし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02C"/>
                </a:solidFill>
                <a:latin typeface="Meiryo"/>
              </a:rPr>
              <a:t>何回 </a:t>
            </a:r>
            <a:r>
              <a:rPr sz="1350" b="1">
                <a:solidFill>
                  <a:srgbClr val="1B1B1B"/>
                </a:solidFill>
                <a:latin typeface="Meiryo"/>
              </a:rPr>
              <a:t>現状維持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41648"/>
            <a:ext cx="5513832" cy="1234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A案 予算維持型</a:t>
            </a:r>
          </a:p>
          <a:p>
            <a:pPr algn="l"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157.2万円</a:t>
            </a:r>
            <a:r>
              <a:rPr sz="1200" b="0">
                <a:solidFill>
                  <a:srgbClr val="FFFFFF"/>
                </a:solidFill>
                <a:latin typeface="Meiryo"/>
              </a:rPr>
              <a:t>(現状160.2万円の範囲内)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Meiryo"/>
              </a:rPr>
              <a:t>追加売上 </a:t>
            </a:r>
            <a:r>
              <a:rPr sz="2000" b="1">
                <a:solidFill>
                  <a:srgbClr val="FFFFFF"/>
                </a:solidFill>
                <a:latin typeface="Meiryo"/>
              </a:rPr>
              <a:t>+284〜1,702万円</a:t>
            </a:r>
            <a:r>
              <a:rPr sz="1200" b="0">
                <a:solidFill>
                  <a:srgbClr val="FFFFFF"/>
                </a:solidFill>
                <a:latin typeface="Meiryo"/>
              </a:rPr>
              <a:t>(基準+851万円)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041648"/>
            <a:ext cx="5513832" cy="12344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B案 追加投資型(A案+未接触×潜在5〜7人260名)</a:t>
            </a:r>
          </a:p>
          <a:p>
            <a:pPr algn="l"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A案より+14.9万円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Meiryo"/>
              </a:rPr>
              <a:t>追加売上 さらに </a:t>
            </a:r>
            <a:r>
              <a:rPr sz="2000" b="1">
                <a:solidFill>
                  <a:srgbClr val="FFFFFF"/>
                </a:solidFill>
                <a:latin typeface="Meiryo"/>
              </a:rPr>
              <a:t>+201〜1,210万円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まずA案(予算内)で開始し、次回調査で効果を確かめてB案を判断する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潜在未処方の41%を持つ701名を重点医師に。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うち191名はMRもMR君も未接触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実測(2026年)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薬剤A処方患者数(2026年アンケート回答医師5,000名、直近1年・自己申告)。重点医師 = 内科・耳鼻咽喉科で潜在未処方8人以上。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86400" cy="173736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09728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166360" cy="8686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000" b="1">
                <a:solidFill>
                  <a:srgbClr val="0B2A5B"/>
                </a:solidFill>
                <a:latin typeface="Meiryo"/>
              </a:rPr>
              <a:t>77%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20747"/>
            <a:ext cx="5166360" cy="799185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潜在未処方の77%が内科・耳鼻咽喉科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17,666人 / 全体22,934人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91840"/>
            <a:ext cx="5486400" cy="18288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109728" cy="18288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516636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200" b="1">
                <a:solidFill>
                  <a:srgbClr val="E8602C"/>
                </a:solidFill>
                <a:latin typeface="Meiryo"/>
              </a:rPr>
              <a:t>21% → 41%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42816"/>
            <a:ext cx="5166360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潜在8人以上の701名(医師の21%)が、潜在の41%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内科・耳鼻3,286名のうち701名 → 7,187人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371600"/>
            <a:ext cx="5330952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重点医師701名の接触状況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55080" y="1737360"/>
          <a:ext cx="5330952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ectangle 16"/>
          <p:cNvSpPr/>
          <p:nvPr/>
        </p:nvSpPr>
        <p:spPr>
          <a:xfrm>
            <a:off x="6355080" y="4023360"/>
            <a:ext cx="5330952" cy="1234440"/>
          </a:xfrm>
          <a:prstGeom prst="rect">
            <a:avLst/>
          </a:prstGeom>
          <a:noFill/>
          <a:ln w="15875">
            <a:solidFill>
              <a:srgbClr val="0B2A5B"/>
            </a:solidFill>
          </a:ln>
          <a:effectLst/>
        </p:spPr>
        <p:txBody>
          <a:bodyPr rtlCol="0" anchor="ctr" wrap="square" lIns="137160" rIns="137160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A5B"/>
                </a:solidFill>
                <a:latin typeface="Meiryo"/>
              </a:rPr>
              <a:t>未接触の内科・耳鼻724名を一律に扱わない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潜在8人以上 191名 → A案で新規配信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潜在5〜7人 260名 → B案で新規配信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潜在4人以下 273名 → 新規配信の対象外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701名を重点医師とし、未接触の191名を新規配信の最優先にする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重点医師は理解度・意向が低く、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重視するテーマは配信の2割しかない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実測(2026年)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比較: 重点医師701名 vs 内科・耳鼻のその他2,585名。配信に占める割合は、今の10本を一律に配信した場合のテーマ別の本数の割合。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61722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2296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仮説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結果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重点医師 vs その他の医師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① 理解度が低い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確認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5特性平均 2.1 vs 2.8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② 処方意向が低い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確認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平均 2.5 vs 3.5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③ 意向はあるが処方が少ない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8602C"/>
                          </a:solidFill>
                          <a:latin typeface="Meiryo"/>
                        </a:rPr>
                        <a:t>一部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意向4以上は22%(156名)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④ MRとの接触が少ない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確認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MR面談 17% vs 33%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(MR君の配信率は68% vs 70%)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⑤ 求める情報と配信のずれ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確認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右のグラフ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949440" y="1371600"/>
            <a:ext cx="4736592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重視する割合と、配信に占める割合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949440" y="1737360"/>
          <a:ext cx="4736592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重視テーマを先頭にし、配信の中での割合を増やす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同条件の高処方医師より理解度は約1.7低く、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MR対面の接点は3分の1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実測(2026年)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診療科×患者数帯×施設区分をそろえて比較(地域・年代・性別もほぼ同じ)。重点医師695名 vs 処方率50%以上の634名。差は関連で因果ではない。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783080"/>
                <a:gridCol w="1417320"/>
                <a:gridCol w="1783080"/>
                <a:gridCol w="3410712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重点医師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類似高処方医師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施策への示唆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理解度(5特性平均)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2.1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3.8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8602C"/>
                          </a:solidFill>
                          <a:latin typeface="Meiryo"/>
                        </a:rPr>
                        <a:t>−1.7(5特性とも)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5特性すべての基本を届ける → ①②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処方意向4以上の割合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22%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92%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8602C"/>
                          </a:solidFill>
                          <a:latin typeface="Meiryo"/>
                        </a:rPr>
                        <a:t>−70pt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意向の高い医師には処方場面の情報 → ③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MR面談ありの割合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17%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51%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8602C"/>
                          </a:solidFill>
                          <a:latin typeface="Meiryo"/>
                        </a:rPr>
                        <a:t>−34pt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MRが届かない医師にMR君で届ける → ①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MR君の配信率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68%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68%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8602C"/>
                          </a:solidFill>
                          <a:latin typeface="Meiryo"/>
                        </a:rPr>
                        <a:t>差なし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配信先を潜在の多さで選び直す → A案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MR君の既読(配信対象1人/年)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0.96件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1.31件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8602C"/>
                          </a:solidFill>
                          <a:latin typeface="Meiryo"/>
                        </a:rPr>
                        <a:t>−0.36件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重視テーマを先頭に、未読は再配信 → ②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参考にした情報源: 学会・論文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24%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12%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8602C"/>
                          </a:solidFill>
                          <a:latin typeface="Meiryo"/>
                        </a:rPr>
                        <a:t>+13pt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エビデンス型の内容から届ける → ①②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最も重視する特性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内科=飲み合わせ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耳鼻=24h持続性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ほぼ同じ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8602C"/>
                          </a:solidFill>
                          <a:latin typeface="Meiryo"/>
                        </a:rPr>
                        <a:t>耳鼻の副作用重視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E8602C"/>
                          </a:solidFill>
                          <a:latin typeface="Meiryo"/>
                        </a:rPr>
                        <a:t>29% vs 17%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診療科の重視テーマで出し分け → ①②③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差の大きい「理解度・処方意向・MR接触」でタイプを分け、施策を変える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未接触191名に月1回、意向の高い77名に月2回。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財源は潜在の少ない医師の配信回数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判定順: MR面談あり→④、MR君未配信→①、処方意向4以上→③、それ以外→②。既読 = 医師数×年間回数×タイプ別の既読率(実測)、費用 = 既読×400円。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68680"/>
                <a:gridCol w="1965960"/>
                <a:gridCol w="2148840"/>
                <a:gridCol w="1371600"/>
                <a:gridCol w="1216152"/>
                <a:gridCol w="16916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タイプ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対象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発見された課題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何を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何回(年)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既読・費用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(A案)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KPI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① 接触不足型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191名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MRもMR君も未接触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理解度1.8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重視テーマのエビデンス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→ 5特性の基本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0 → 12回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(月1回)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215件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8.6万円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既読医師率54%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② 理解不足型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315名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53%が1年間未読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理解度1.8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重視テーマを先頭に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未読は再配信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10 → 12回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(月1回)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355件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14.2万円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既読医師率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47%→54%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③ 意向ギャップ型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77名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意向4.3でも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処方率37%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処方場面の情報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(処方設計・症例集)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10 → 24回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(月2回)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202件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8.1万円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既読医師率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55%→85%・処方率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④ MR面談フォロー型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118名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情報源の97%が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MR対面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変更なし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(並び順のみ)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10回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(配信中82名)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75件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3.0万円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現状維持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財源: 配信中で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潜在0〜2人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993名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1人あたり潜在1.5人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(処方率50%)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重視テーマ中心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10 → 6回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E8602C"/>
                          </a:solidFill>
                          <a:latin typeface="Meiryo"/>
                        </a:rPr>
                        <a:t>(隔月)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699件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28.0万円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処方率の維持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誰に・何回をタイプ別に決める。重点医師(①〜③)の既読は年380件→772件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内科は飲み合わせ、耳鼻は24h持続性と副作用から届ける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コンテンツはタイトルと主要テーマから選定(本文は未確認)。既存10本の順番と回数だけを変える(新規制作なし)。医薬品情報は承認内容と社内ルールに従う。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320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434840"/>
                <a:gridCol w="3730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診療科(根拠)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①接触不足型・②理解不足型(506名)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重視テーマ → 5特性すべての基本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③意向ギャップ型(77名)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処方場面の情報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126187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内科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飲み合わせを最重視 58%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(今の配信は20%)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1. C04 他剤との飲み合わせガイド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2. C09 多剤併用患者への処方設計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3. C03 副作用プロファイル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4. C05 24時間カバー → 残り6本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C09 多剤併用患者への処方設計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C04 併用時の注意点と実践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を中心に(未読は再配信)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126187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耳鼻咽喉科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24h持続性を最重視 44%(20%)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1B1B1B"/>
                          </a:solidFill>
                          <a:latin typeface="Meiryo"/>
                        </a:rPr>
                        <a:t>副作用 29%(高処方医師17%)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1. C05 24時間カバーの臨床エビデンス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2. C10 長期投与の安全性と有効性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3. C03 副作用プロファイル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4. C01 即効メカニズム → 残り6本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C10 長期投与の安全性と有効性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C05 臨床エビデンス</a:t>
                      </a:r>
                    </a:p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C02 適応症例集 を中心に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663440"/>
            <a:ext cx="11183112" cy="640080"/>
          </a:xfrm>
          <a:prstGeom prst="rect">
            <a:avLst/>
          </a:prstGeom>
          <a:noFill/>
          <a:ln w="15875">
            <a:solidFill>
              <a:srgbClr val="0B2A5B"/>
            </a:solidFill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350" b="1">
                <a:solidFill>
                  <a:srgbClr val="0B2A5B"/>
                </a:solidFill>
                <a:latin typeface="Meiryo"/>
              </a:rPr>
              <a:t>共通: </a:t>
            </a:r>
            <a:r>
              <a:rPr sz="1350" b="0">
                <a:solidFill>
                  <a:srgbClr val="1B1B1B"/>
                </a:solidFill>
                <a:latin typeface="Meiryo"/>
              </a:rPr>
              <a:t>重点医師は学会・論文を参考にする割合が高い(24% vs 12%)ため、臨床エビデンス・長期データ型の内容を先に届ける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出し分けの上乗せ効果は試算に含めず、既読医師率と理解度で確かめる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A案は予算内の157.2万円。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B案は+14.9万円で未接触260名にも広げる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回答医師5,000名・1年分(MR君は2025年6月〜2026年6月の活動)。既読件数 = 医師数 × 年間回数 × タイプ別の既読率(実測)。配信設定・運用費は未確認で含まない。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1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20240"/>
                <a:gridCol w="2606040"/>
                <a:gridCol w="2496312"/>
                <a:gridCol w="187451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eiryo"/>
                        </a:rPr>
                        <a:t>回答医師ベース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eiryo"/>
                        </a:rPr>
                        <a:t>現状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eiryo"/>
                        </a:rPr>
                        <a:t>A案 予算維持型</a:t>
                      </a:r>
                    </a:p>
                  </a:txBody>
                  <a:tcPr anchor="ctr" marL="73152" marR="73152">
                    <a:solidFill>
                      <a:srgbClr val="E860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eiryo"/>
                        </a:rPr>
                        <a:t>B案 追加投資型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eiryo"/>
                        </a:rPr>
                        <a:t>B案 − A案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主な変更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全配信対象に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年10回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接触不足191名を新規(月1回)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理解不足 年12回・意向ギャップ 年24回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潜在0〜2人は年6回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A案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+ 未接触×潜在5〜7人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260名を新規(月1回)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+260名を新規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配信対象医師数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3,481名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3,672名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3,932名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+260名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配信件数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34,810件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34,838件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37,958件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+3,120件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想定既読件数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4,004件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3,930件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4,302件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+372件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費用(年)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160.2万円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8602C"/>
                          </a:solidFill>
                          <a:latin typeface="Meiryo"/>
                        </a:rPr>
                        <a:t>157.2万円(−3.0)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172.1万円(+11.9)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8602C"/>
                          </a:solidFill>
                          <a:latin typeface="Meiryo"/>
                        </a:rPr>
                        <a:t>+14.9万円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潜在患者カバー数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15,724人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17,766人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19,312人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+1,546人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A案は今の予算のまま、潜在患者のカバーを2,042人増やせる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A案は費用増なしで追加売上+284〜1,702万円。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B案はさらに+201〜1,210万円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試算(仮定あり)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売上 = 追加処方患者 × 22.2万円/人・年(50億円 ÷ 全医師の処方患者推計22,560人)。売上であり利益ではない。出し分けの上乗せ効果は含めない。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00200"/>
                <a:gridCol w="1463040"/>
                <a:gridCol w="1783080"/>
                <a:gridCol w="1463040"/>
                <a:gridCol w="1783080"/>
                <a:gridCol w="1810512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シナリオ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増分転換率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(仮定)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A案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追加処方患者</a:t>
                      </a:r>
                    </a:p>
                  </a:txBody>
                  <a:tcPr anchor="ctr" marL="73152" marR="73152">
                    <a:solidFill>
                      <a:srgbClr val="E860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A案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追加売上</a:t>
                      </a:r>
                    </a:p>
                  </a:txBody>
                  <a:tcPr anchor="ctr" marL="73152" marR="73152">
                    <a:solidFill>
                      <a:srgbClr val="E860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B案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追加処方患者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B案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追加売上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B案 − A案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追加売上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保守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1%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13人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284万円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22人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485万円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201万円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基準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38人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602C"/>
                          </a:solidFill>
                          <a:latin typeface="Meiryo"/>
                        </a:rPr>
                        <a:t>851万円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66人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602C"/>
                          </a:solidFill>
                          <a:latin typeface="Meiryo"/>
                        </a:rPr>
                        <a:t>1,456万円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8602C"/>
                          </a:solidFill>
                          <a:latin typeface="Meiryo"/>
                        </a:rPr>
                        <a:t>605万円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楽観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6%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77人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1,702万円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131人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2,912万円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1,210万円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追加費用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−3.0万円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+11.9万円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+14.9万円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3977639"/>
            <a:ext cx="5486400" cy="1325880"/>
          </a:xfrm>
          <a:prstGeom prst="rect">
            <a:avLst/>
          </a:prstGeom>
          <a:noFill/>
          <a:ln w="12700">
            <a:solidFill>
              <a:srgbClr val="0B2A5B"/>
            </a:solidFill>
          </a:ln>
          <a:effectLst/>
        </p:spPr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eiryo"/>
              </a:rPr>
              <a:t>増分転換率とは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既読した医師の潜在未処方のうち、配信で新たに処方される割合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Meiryo"/>
              </a:rPr>
              <a:t>参考: 配信対象は対象外より処方率の伸びが+2.3pt(95%区間1.1〜3.5)。換算2.8〜6.0% → 基準3%・楽観6%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3977639"/>
            <a:ext cx="5486400" cy="1325880"/>
          </a:xfrm>
          <a:prstGeom prst="rect">
            <a:avLst/>
          </a:prstGeom>
          <a:solidFill>
            <a:srgbClr val="FFF4EE"/>
          </a:solidFill>
          <a:ln w="15875">
            <a:solidFill>
              <a:srgbClr val="E8602C"/>
            </a:solidFill>
          </a:ln>
          <a:effectLst/>
        </p:spPr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2A5B"/>
                </a:solidFill>
                <a:latin typeface="Meiryo"/>
              </a:rPr>
              <a:t>投資判断の目安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A案: 追加費用なし(予算内)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B案−A案: +14.9万円は、追加売上の2.5%(基準)〜7.4%(保守)の利益で回収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まずA案で開始し、次回調査でタイプ別の既読医師率・理解度・処方率を確認する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