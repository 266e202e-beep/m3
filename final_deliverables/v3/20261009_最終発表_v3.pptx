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0B2A5B"/>
              </a:solidFill>
            </c:spPr>
          </c:dPt>
          <c:dPt>
            <c:idx val="1"/>
            <c:spPr>
              <a:solidFill>
                <a:srgbClr val="0B2A5B"/>
              </a:solidFill>
            </c:spPr>
          </c:dPt>
          <c:dPt>
            <c:idx val="2"/>
            <c:spPr>
              <a:solidFill>
                <a:srgbClr val="B8C2CF"/>
              </a:solidFill>
            </c:spPr>
          </c:dPt>
          <c:dPt>
            <c:idx val="3"/>
            <c:spPr>
              <a:solidFill>
                <a:srgbClr val="B8C2CF"/>
              </a:solidFill>
            </c:spPr>
          </c:dPt>
          <c:cat>
            <c:strRef>
              <c:f>Sheet1!$A$2:$A$5</c:f>
              <c:strCache>
                <c:ptCount val="4"/>
                <c:pt idx="0">
                  <c:v>内科</c:v>
                </c:pt>
                <c:pt idx="1">
                  <c:v>耳鼻咽喉科</c:v>
                </c:pt>
                <c:pt idx="2">
                  <c:v>小児科</c:v>
                </c:pt>
                <c:pt idx="3">
                  <c:v>眼科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9538</c:v>
                </c:pt>
                <c:pt idx="1">
                  <c:v>8128</c:v>
                </c:pt>
                <c:pt idx="2">
                  <c:v>3988</c:v>
                </c:pt>
                <c:pt idx="3">
                  <c:v>1280</c:v>
                </c:pt>
              </c:numCache>
            </c:numRef>
          </c:val>
        </c:ser>
        <c:dLbls>
          <c:numFmt formatCode="#,##0&quot;人&quot;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6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0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0B2A5B"/>
              </a:solidFill>
            </c:spPr>
          </c:dPt>
          <c:dPt>
            <c:idx val="1"/>
            <c:spPr>
              <a:solidFill>
                <a:srgbClr val="0B2A5B"/>
              </a:solidFill>
            </c:spPr>
          </c:dPt>
          <c:dPt>
            <c:idx val="2"/>
            <c:spPr>
              <a:solidFill>
                <a:srgbClr val="E8602C"/>
              </a:solidFill>
            </c:spPr>
          </c:dPt>
          <c:dPt>
            <c:idx val="3"/>
            <c:spPr>
              <a:solidFill>
                <a:srgbClr val="9DB4D8"/>
              </a:solidFill>
            </c:spPr>
          </c:dPt>
          <c:dPt>
            <c:idx val="4"/>
            <c:spPr>
              <a:solidFill>
                <a:srgbClr val="9DB4D8"/>
              </a:solidFill>
            </c:spPr>
          </c:dPt>
          <c:dPt>
            <c:idx val="5"/>
            <c:spPr>
              <a:solidFill>
                <a:srgbClr val="9DB4D8"/>
              </a:solidFill>
            </c:spPr>
          </c:dPt>
          <c:dPt>
            <c:idx val="6"/>
            <c:spPr>
              <a:solidFill>
                <a:srgbClr val="9DB4D8"/>
              </a:solidFill>
            </c:spPr>
          </c:dPt>
          <c:cat>
            <c:strRef>
              <c:f>Sheet1!$A$2:$A$8</c:f>
              <c:strCache>
                <c:ptCount val="7"/>
                <c:pt idx="0">
                  <c:v>潜在未処方 0〜2人</c:v>
                </c:pt>
                <c:pt idx="1">
                  <c:v>3〜7人</c:v>
                </c:pt>
                <c:pt idx="2">
                  <c:v>8人以上</c:v>
                </c:pt>
                <c:pt idx="3">
                  <c:v>内科</c:v>
                </c:pt>
                <c:pt idx="4">
                  <c:v>耳鼻咽喉科</c:v>
                </c:pt>
                <c:pt idx="5">
                  <c:v>小児科</c:v>
                </c:pt>
                <c:pt idx="6">
                  <c:v>眼科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0.709</c:v>
                </c:pt>
                <c:pt idx="1">
                  <c:v>0.694</c:v>
                </c:pt>
                <c:pt idx="2">
                  <c:v>0.681</c:v>
                </c:pt>
                <c:pt idx="3">
                  <c:v>0.683</c:v>
                </c:pt>
                <c:pt idx="4">
                  <c:v>0.708</c:v>
                </c:pt>
                <c:pt idx="5">
                  <c:v>0.701</c:v>
                </c:pt>
                <c:pt idx="6">
                  <c:v>0.695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400" b="1"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3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B8C2CF"/>
              </a:solidFill>
            </c:spPr>
          </c:dPt>
          <c:dPt>
            <c:idx val="2"/>
            <c:spPr>
              <a:solidFill>
                <a:srgbClr val="B8C2CF"/>
              </a:solidFill>
            </c:spPr>
          </c:dPt>
          <c:dPt>
            <c:idx val="3"/>
            <c:spPr>
              <a:solidFill>
                <a:srgbClr val="B8C2CF"/>
              </a:solidFill>
            </c:spPr>
          </c:dPt>
          <c:cat>
            <c:strRef>
              <c:f>Sheet1!$A$2:$A$5</c:f>
              <c:strCache>
                <c:ptCount val="4"/>
                <c:pt idx="0">
                  <c:v>最後まで見た</c:v>
                </c:pt>
                <c:pt idx="1">
                  <c:v>途中でやめた</c:v>
                </c:pt>
                <c:pt idx="2">
                  <c:v>配信されたが未読</c:v>
                </c:pt>
                <c:pt idx="3">
                  <c:v>配信対象外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5.06</c:v>
                </c:pt>
                <c:pt idx="1">
                  <c:v>-0.06</c:v>
                </c:pt>
                <c:pt idx="2">
                  <c:v>-0.37</c:v>
                </c:pt>
                <c:pt idx="3">
                  <c:v>-0.31</c:v>
                </c:pt>
              </c:numCache>
            </c:numRef>
          </c:val>
        </c:ser>
        <c:dLbls>
          <c:numFmt formatCode="+0.0&quot;pt&quot;;-0.0&quot;pt&quot;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.0"/>
          <c:min val="-3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B8C2CF"/>
              </a:solidFill>
            </c:spPr>
          </c:dPt>
          <c:dPt>
            <c:idx val="1"/>
            <c:spPr>
              <a:solidFill>
                <a:srgbClr val="9DB4D8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dPt>
            <c:idx val="3"/>
            <c:spPr>
              <a:solidFill>
                <a:srgbClr val="E8602C"/>
              </a:solidFill>
            </c:spPr>
          </c:dPt>
          <c:cat>
            <c:strRef>
              <c:f>Sheet1!$A$2:$A$5</c:f>
              <c:strCache>
                <c:ptCount val="4"/>
                <c:pt idx="0">
                  <c:v>0本</c:v>
                </c:pt>
                <c:pt idx="1">
                  <c:v>1本</c:v>
                </c:pt>
                <c:pt idx="2">
                  <c:v>2本</c:v>
                </c:pt>
                <c:pt idx="3">
                  <c:v>3本以上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0.67</c:v>
                </c:pt>
                <c:pt idx="1">
                  <c:v>4.1</c:v>
                </c:pt>
                <c:pt idx="2">
                  <c:v>8.33</c:v>
                </c:pt>
                <c:pt idx="3">
                  <c:v>17.04</c:v>
                </c:pt>
              </c:numCache>
            </c:numRef>
          </c:val>
        </c:ser>
        <c:dLbls>
          <c:numFmt formatCode="+0.0&quot;pt&quot;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0B2A5B"/>
              </a:solidFill>
            </c:spPr>
          </c:dPt>
          <c:dPt>
            <c:idx val="1"/>
            <c:spPr>
              <a:solidFill>
                <a:srgbClr val="0B2A5B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dPt>
            <c:idx val="3"/>
            <c:spPr>
              <a:solidFill>
                <a:srgbClr val="0B2A5B"/>
              </a:solidFill>
            </c:spPr>
          </c:dPt>
          <c:dPt>
            <c:idx val="4"/>
            <c:spPr>
              <a:solidFill>
                <a:srgbClr val="0B2A5B"/>
              </a:solidFill>
            </c:spPr>
          </c:dPt>
          <c:dPt>
            <c:idx val="5"/>
            <c:spPr>
              <a:solidFill>
                <a:srgbClr val="0B2A5B"/>
              </a:solidFill>
            </c:spPr>
          </c:dPt>
          <c:dPt>
            <c:idx val="6"/>
            <c:spPr>
              <a:solidFill>
                <a:srgbClr val="0B2A5B"/>
              </a:solidFill>
            </c:spPr>
          </c:dPt>
          <c:dPt>
            <c:idx val="7"/>
            <c:spPr>
              <a:solidFill>
                <a:srgbClr val="B8C2CF"/>
              </a:solidFill>
            </c:spPr>
          </c:dPt>
          <c:dPt>
            <c:idx val="8"/>
            <c:spPr>
              <a:solidFill>
                <a:srgbClr val="B8C2CF"/>
              </a:solidFill>
            </c:spPr>
          </c:dPt>
          <c:dPt>
            <c:idx val="9"/>
            <c:spPr>
              <a:solidFill>
                <a:srgbClr val="B8C2CF"/>
              </a:solidFill>
            </c:spPr>
          </c:dPt>
          <c:cat>
            <c:strRef>
              <c:f>Sheet1!$A$2:$A$11</c:f>
              <c:strCache>
                <c:ptCount val="10"/>
                <c:pt idx="0">
                  <c:v>C10 長期投与の安全性</c:v>
                </c:pt>
                <c:pt idx="1">
                  <c:v>C07 即効性×持続性</c:v>
                </c:pt>
                <c:pt idx="2">
                  <c:v>C01 即効メカニズム</c:v>
                </c:pt>
                <c:pt idx="3">
                  <c:v>C04 飲み合わせガイド</c:v>
                </c:pt>
                <c:pt idx="4">
                  <c:v>C02 適応症例集</c:v>
                </c:pt>
                <c:pt idx="5">
                  <c:v>C05 24時間カバー</c:v>
                </c:pt>
                <c:pt idx="6">
                  <c:v>C09 多剤併用の処方設計</c:v>
                </c:pt>
                <c:pt idx="7">
                  <c:v>C03 副作用プロファイル</c:v>
                </c:pt>
                <c:pt idx="8">
                  <c:v>C06 2026年トレンド</c:v>
                </c:pt>
                <c:pt idx="9">
                  <c:v>C08 患者の声(QOL)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5.56</c:v>
                </c:pt>
                <c:pt idx="1">
                  <c:v>5.21</c:v>
                </c:pt>
                <c:pt idx="2">
                  <c:v>4.99</c:v>
                </c:pt>
                <c:pt idx="3">
                  <c:v>4.95</c:v>
                </c:pt>
                <c:pt idx="4">
                  <c:v>4.67</c:v>
                </c:pt>
                <c:pt idx="5">
                  <c:v>4.55</c:v>
                </c:pt>
                <c:pt idx="6">
                  <c:v>4.1</c:v>
                </c:pt>
                <c:pt idx="7">
                  <c:v>2.05</c:v>
                </c:pt>
                <c:pt idx="8">
                  <c:v>1.88</c:v>
                </c:pt>
                <c:pt idx="9">
                  <c:v>1.24</c:v>
                </c:pt>
              </c:numCache>
            </c:numRef>
          </c:val>
        </c:ser>
        <c:dLbls>
          <c:numFmt formatCode="+0.0" sourceLinked="0"/>
          <c:txPr>
            <a:bodyPr/>
            <a:lstStyle/>
            <a:p>
              <a:pPr>
                <a:defRPr sz="1300" b="1"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25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0B2A5B"/>
              </a:solidFill>
            </c:spPr>
          </c:dPt>
          <c:dPt>
            <c:idx val="1"/>
            <c:spPr>
              <a:solidFill>
                <a:srgbClr val="0B2A5B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dPt>
            <c:idx val="3"/>
            <c:spPr>
              <a:solidFill>
                <a:srgbClr val="B8C2CF"/>
              </a:solidFill>
            </c:spPr>
          </c:dPt>
          <c:dPt>
            <c:idx val="4"/>
            <c:spPr>
              <a:solidFill>
                <a:srgbClr val="B8C2CF"/>
              </a:solidFill>
            </c:spPr>
          </c:dPt>
          <c:cat>
            <c:strRef>
              <c:f>Sheet1!$A$2:$A$6</c:f>
              <c:strCache>
                <c:ptCount val="5"/>
                <c:pt idx="0">
                  <c:v>3分</c:v>
                </c:pt>
                <c:pt idx="1">
                  <c:v>3.5分</c:v>
                </c:pt>
                <c:pt idx="2">
                  <c:v>4分</c:v>
                </c:pt>
                <c:pt idx="3">
                  <c:v>4.5分</c:v>
                </c:pt>
                <c:pt idx="4">
                  <c:v>5分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0.597</c:v>
                </c:pt>
                <c:pt idx="1">
                  <c:v>0.467</c:v>
                </c:pt>
                <c:pt idx="2">
                  <c:v>0.476</c:v>
                </c:pt>
                <c:pt idx="3">
                  <c:v>0.375</c:v>
                </c:pt>
                <c:pt idx="4">
                  <c:v>0.346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500" b="1"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4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結論から申し上げます。</a:t>
            </a:r>
          </a:p>
          <a:p>
            <a:r>
              <a:t>MR君の「配信先」と「内容」を見直すことで、薬剤Aの処方患者を最大で約2.8%、売上にして約1.4億円増やせる可能性があります。</a:t>
            </a:r>
          </a:p>
          <a:p>
            <a:r>
              <a:t>根拠は3つです。</a:t>
            </a:r>
          </a:p>
          <a:p>
            <a:r>
              <a:t>1つ目、配信先が、医師の伸びしろと関係なく、一律に決まっていること。</a:t>
            </a:r>
          </a:p>
          <a:p>
            <a:r>
              <a:t>2つ目、最後まで見た医師だけ、処方率が上がっていること。</a:t>
            </a:r>
          </a:p>
          <a:p>
            <a:r>
              <a:t>3つ目、10本のうち3本は、処方率の上昇が見られないことです。</a:t>
            </a:r>
          </a:p>
          <a:p>
            <a:r>
              <a:t>追加の費用は、回答医師ベースで約35万円です。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まず、伸びしろがどこにあるかです。</a:t>
            </a:r>
          </a:p>
          <a:p>
            <a:r>
              <a:t>花粉症の患者さんのうち、薬剤Aが処方されていない人、つまり潜在未処方の77%は、内科と耳鼻咽喉科にいます。</a:t>
            </a:r>
          </a:p>
          <a:p>
            <a:r>
              <a:t>さらに、この2つの診療科では、21%の医師が、潜在未処方の41%を持っています。</a:t>
            </a:r>
          </a:p>
          <a:p>
            <a:r>
              <a:t>伸びしろは、一部の医師に集中しています。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[0:50] ところが、MR君の配信先は、この伸びしろとほとんど関係がありません。</a:t>
            </a:r>
          </a:p>
          <a:p>
            <a:r>
              <a:t>配信率は、潜在未処方が0〜2人の医師で71%、8人以上の医師で68%です。</a:t>
            </a:r>
          </a:p>
          <a:p>
            <a:r>
              <a:t>診療科、地域、施設で見ても、ほぼ一律に約7割でした。</a:t>
            </a:r>
          </a:p>
          <a:p>
            <a:r>
              <a:t>その結果、内科と耳鼻咽喉科で、MRの面談もMR君の配信もない医師が724名います。</a:t>
            </a:r>
          </a:p>
          <a:p>
            <a:r>
              <a:t>この724名の花粉症患者は、合わせて約6千人です。</a:t>
            </a:r>
          </a:p>
          <a:p>
            <a:r>
              <a:t>MR君は既読ごとに費用がかかるので、誰に送るかが重要です。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[0:55] では、MR君は処方につながっているのか。</a:t>
            </a:r>
          </a:p>
          <a:p>
            <a:r>
              <a:t>MR面談のない医師について、2025年から2026年の処方率の変化を見ました。</a:t>
            </a:r>
          </a:p>
          <a:p>
            <a:r>
              <a:t>最後まで見た医師は、27%から32%へ、5ポイント上がりました。</a:t>
            </a:r>
          </a:p>
          <a:p>
            <a:r>
              <a:t>一方、途中でやめた医師、読まなかった医師、配信対象外の医師は、ほぼ横ばいです。</a:t>
            </a:r>
          </a:p>
          <a:p>
            <a:r>
              <a:t>さらに、最後まで見た本数が多いほど、上がり幅も大きくなっています。</a:t>
            </a:r>
          </a:p>
          <a:p>
            <a:r>
              <a:t>見るべき指標は、「読まれたか」ではなく、「最後まで見られたか」です。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[0:55] コンテンツ別に見ると、10本のうち7本は、最後まで見られた1本あたり、処方率の上がり幅が4〜6ポイント大きくなっていました。</a:t>
            </a:r>
          </a:p>
          <a:p>
            <a:r>
              <a:t>一方、副作用のC03、最新トレンドのC06、患者さんの声のC08の3本は、上昇を確認できませんでした。</a:t>
            </a:r>
          </a:p>
          <a:p>
            <a:r>
              <a:t>また、長いコンテンツほど、最後まで見られていません。</a:t>
            </a:r>
          </a:p>
          <a:p>
            <a:r>
              <a:t>3分のコンテンツは6割が最後まで見られていますが、5分のコンテンツは35%です。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そこで、2つの見直しを提案します。</a:t>
            </a:r>
          </a:p>
          <a:p>
            <a:r>
              <a:t>1つ目は「誰に送るか」です。</a:t>
            </a:r>
          </a:p>
          <a:p>
            <a:r>
              <a:t>内科と耳鼻咽喉科で、MRもMR君も届いていない724名に配信します。</a:t>
            </a:r>
          </a:p>
          <a:p>
            <a:r>
              <a:t>潜在未処方の多い医師から優先し、内科には飲み合わせ、耳鼻咽喉科には24時間持続性の内容を届けます。</a:t>
            </a:r>
          </a:p>
          <a:p>
            <a:r>
              <a:t>2つ目は「何を送るか」です。</a:t>
            </a:r>
          </a:p>
          <a:p>
            <a:r>
              <a:t>上昇が見られない3本を、効果の見られたテーマで、4分以内に作り直します。</a:t>
            </a:r>
          </a:p>
          <a:p>
            <a:r>
              <a:t>5分あるC10は、4分以内に短くします。</a:t>
            </a:r>
          </a:p>
          <a:p>
            <a:r>
              <a:t>KPIは、既読数ではなく完読率です。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効果の試算です。</a:t>
            </a:r>
          </a:p>
          <a:p>
            <a:r>
              <a:t>1つ目の配信先の見直しで、処方患者が0.7〜1.4%増えます。</a:t>
            </a:r>
          </a:p>
          <a:p>
            <a:r>
              <a:t>2つ目の内容の見直しで、0.7〜1.4%増えます。</a:t>
            </a:r>
          </a:p>
          <a:p>
            <a:r>
              <a:t>合わせて1.4〜2.8%、売上にして約0.7〜1.4億円です。</a:t>
            </a:r>
          </a:p>
          <a:p>
            <a:r>
              <a:t>下限は、観察された関連の半分が施策の効果だった場合、上限は、すべてが効果だった場合です。</a:t>
            </a:r>
          </a:p>
          <a:p>
            <a:r>
              <a:t>費用は、配信先の追加で約35万円、処方患者1人あたり約2,200〜4,300円です。</a:t>
            </a:r>
          </a:p>
          <a:p>
            <a:r>
              <a:t>前提の数字はExcelで変えられ、すぐに結果に反映できます。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[0:50] 実行は4つのステップです。</a:t>
            </a:r>
          </a:p>
          <a:p>
            <a:r>
              <a:t>724名の配信資格と予算を確認し、コンテンツを入れ替え、配信と完読を記録し、次回の調査で処方率を確認します。</a:t>
            </a:r>
          </a:p>
          <a:p>
            <a:r>
              <a:t>なお、この試算は観察データに基づいています。関心の高い医師ほど最後まで見ている可能性もあります。</a:t>
            </a:r>
          </a:p>
          <a:p>
            <a:r>
              <a:t>だからこそ、記録を取りながら、優先度の高い医師から段階的に広げます。</a:t>
            </a:r>
          </a:p>
          <a:p>
            <a:r>
              <a:t>既読の数ではなく、「最後まで見られた数」を増やす。これが今回の提案です。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MR君の「配信先」と「内容」を見直し、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処方患者 最大+2.8%(約1.4億円)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提案(試算)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試算: 2025→2026年の観察データで見られた関連の50〜100%を施策の効果とみなした場合。売上目安 = 年間売上50億円 × 処方患者の増加率。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21208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現状(実測)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212080" cy="9144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10512"/>
            <a:ext cx="173736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3000" b="1">
                <a:solidFill>
                  <a:srgbClr val="0B2A5B"/>
                </a:solidFill>
                <a:latin typeface="Meiryo"/>
              </a:rPr>
              <a:t>約7割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883664"/>
            <a:ext cx="329184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1B1B"/>
                </a:solidFill>
                <a:latin typeface="Meiryo"/>
              </a:rPr>
              <a:t>配信率は、伸びしろに関係なく一律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潜在未処方0〜2人71%、8人以上68%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34640"/>
            <a:ext cx="5212080" cy="9144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834640"/>
            <a:ext cx="173736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3000" b="1">
                <a:solidFill>
                  <a:srgbClr val="0B2A5B"/>
                </a:solidFill>
                <a:latin typeface="Meiryo"/>
              </a:rPr>
              <a:t>+5.1pt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907792"/>
            <a:ext cx="329184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1B1B"/>
                </a:solidFill>
                <a:latin typeface="Meiryo"/>
              </a:rPr>
              <a:t>最後まで見た医師だけ処方率が上昇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途中でやめた・未読・対象外は横ばい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58768"/>
            <a:ext cx="5212080" cy="9144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858768"/>
            <a:ext cx="173736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3000" b="1">
                <a:solidFill>
                  <a:srgbClr val="0B2A5B"/>
                </a:solidFill>
                <a:latin typeface="Meiryo"/>
              </a:rPr>
              <a:t>3本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3931920"/>
            <a:ext cx="329184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1B1B"/>
                </a:solidFill>
                <a:latin typeface="Meiryo"/>
              </a:rPr>
              <a:t>処方率の上昇を確認できない内容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C03・C06・C08(10本中)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70448" y="2880360"/>
            <a:ext cx="347472" cy="457200"/>
          </a:xfrm>
          <a:prstGeom prst="rightArrow">
            <a:avLst/>
          </a:prstGeom>
          <a:solidFill>
            <a:srgbClr val="9D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371600"/>
            <a:ext cx="5330952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E8602C"/>
                </a:solidFill>
                <a:latin typeface="Meiryo"/>
              </a:rPr>
              <a:t>施策と効果(試算)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810512"/>
            <a:ext cx="5330952" cy="914400"/>
          </a:xfrm>
          <a:prstGeom prst="rect">
            <a:avLst/>
          </a:prstGeom>
          <a:noFill/>
          <a:ln w="15875">
            <a:solidFill>
              <a:srgbClr val="0B2A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1856231"/>
            <a:ext cx="356616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0B2A5B"/>
                </a:solidFill>
                <a:latin typeface="Meiryo"/>
              </a:rPr>
              <a:t>① 誰に送るか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MRもMR君も届いていない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内科・耳鼻咽喉科の724名へ配信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21240" y="1810512"/>
            <a:ext cx="169164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900" b="1">
                <a:solidFill>
                  <a:srgbClr val="E8602C"/>
                </a:solidFill>
                <a:latin typeface="Meiryo"/>
              </a:rPr>
              <a:t>+0.7〜1.4%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2834640"/>
            <a:ext cx="5330952" cy="914400"/>
          </a:xfrm>
          <a:prstGeom prst="rect">
            <a:avLst/>
          </a:prstGeom>
          <a:noFill/>
          <a:ln w="15875">
            <a:solidFill>
              <a:srgbClr val="0B2A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2880360"/>
            <a:ext cx="356616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0B2A5B"/>
                </a:solidFill>
                <a:latin typeface="Meiryo"/>
              </a:rPr>
              <a:t>② 何を送るか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上昇が見られない3本を入れ替え、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長い1本を4分以内に短縮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1240" y="2834640"/>
            <a:ext cx="169164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900" b="1">
                <a:solidFill>
                  <a:srgbClr val="E8602C"/>
                </a:solidFill>
                <a:latin typeface="Meiryo"/>
              </a:rPr>
              <a:t>+0.7〜1.4%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3858768"/>
            <a:ext cx="5330952" cy="91440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20" y="3858768"/>
            <a:ext cx="237744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500" b="1">
                <a:solidFill>
                  <a:srgbClr val="FFFFFF"/>
                </a:solidFill>
                <a:latin typeface="Meiryo"/>
              </a:rPr>
              <a:t>合計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eiryo"/>
              </a:rPr>
              <a:t>処方患者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3858768"/>
            <a:ext cx="393192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r"/>
            <a:r>
              <a:rPr sz="3000" b="1">
                <a:solidFill>
                  <a:srgbClr val="FFFFFF"/>
                </a:solidFill>
                <a:latin typeface="Meiryo"/>
              </a:rPr>
              <a:t>+1.4〜2.8%</a:t>
            </a:r>
          </a:p>
          <a:p>
            <a:pPr algn="r"/>
            <a:r>
              <a:rPr sz="1600" b="1">
                <a:solidFill>
                  <a:srgbClr val="FFFFFF"/>
                </a:solidFill>
                <a:latin typeface="Meiryo"/>
              </a:rPr>
              <a:t>売上 約0.7〜1.4億円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983480"/>
            <a:ext cx="1118311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500" b="1">
                <a:solidFill>
                  <a:srgbClr val="0B2A5B"/>
                </a:solidFill>
                <a:latin typeface="Meiryo"/>
              </a:rPr>
              <a:t>追加費用  </a:t>
            </a:r>
            <a:r>
              <a:rPr sz="1500" b="0">
                <a:solidFill>
                  <a:srgbClr val="1B1B1B"/>
                </a:solidFill>
                <a:latin typeface="Meiryo"/>
              </a:rPr>
              <a:t>約35万円(回答医師ベースの既読費用)= 追加処方患者1人あたり 約2,200〜4,300円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532120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既読の数ではなく、「最後まで見られた数」を増やす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伸びしろは、内科・耳鼻咽喉科の一部の医師に集中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実測(2026年)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潜在未処方 = 花粉症患者数 − 薬剤A処方患者数(2026年アンケート回答医師5,000名、直近1年・自己申告の理論値)。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760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診療科別の潜在未処方(人)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576072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6583680" y="1417320"/>
            <a:ext cx="5102352" cy="16916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417320"/>
            <a:ext cx="109728" cy="169164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12280" y="1463040"/>
            <a:ext cx="4782312" cy="8458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5000" b="1">
                <a:solidFill>
                  <a:srgbClr val="0B2A5B"/>
                </a:solidFill>
                <a:latin typeface="Meiryo"/>
              </a:rPr>
              <a:t>77%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2296972"/>
            <a:ext cx="4782312" cy="77815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B1B1B"/>
                </a:solidFill>
                <a:latin typeface="Meiryo"/>
              </a:rPr>
              <a:t>潜在未処方の77%が内科・耳鼻咽喉科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17,666人 / 22,934人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291840"/>
            <a:ext cx="5102352" cy="178308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3291840"/>
            <a:ext cx="109728" cy="178308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3337560"/>
            <a:ext cx="4782312" cy="8915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200" b="1">
                <a:solidFill>
                  <a:srgbClr val="E8602C"/>
                </a:solidFill>
                <a:latin typeface="Meiryo"/>
              </a:rPr>
              <a:t>21% → 41%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4219041"/>
            <a:ext cx="4782312" cy="82021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B1B1B"/>
                </a:solidFill>
                <a:latin typeface="Meiryo"/>
              </a:rPr>
              <a:t>医師の21%が、潜在未処方の41%を持つ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内科・耳鼻の潜在未処方8人以上の701名 → 7,187人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440680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内科・耳鼻咽喉科の、潜在未処方の多い医師を優先する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MR君の配信先は、伸びしろに関係なく一律に約7割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実測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配信率 = MR君の配信対象の割合。潜在未処方別は回答医師5,000名、診療科別は属性10,000名。地域・施設区分・年代別でも68〜71%。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58368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MR君の配信率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583680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360920" y="1417320"/>
            <a:ext cx="4325112" cy="224028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60920" y="1417320"/>
            <a:ext cx="109728" cy="224028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463040"/>
            <a:ext cx="4005072" cy="11201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5400" b="1">
                <a:solidFill>
                  <a:srgbClr val="E8602C"/>
                </a:solidFill>
                <a:latin typeface="Meiryo"/>
              </a:rPr>
              <a:t>724名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2582265"/>
            <a:ext cx="4005072" cy="103052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B1B1B"/>
                </a:solidFill>
                <a:latin typeface="Meiryo"/>
              </a:rPr>
              <a:t>MR面談もMR君の配信もない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B1B1B"/>
                </a:solidFill>
                <a:latin typeface="Meiryo"/>
              </a:rPr>
              <a:t>内科・耳鼻咽喉科の医師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花粉症患者 6,032人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うち潜在未処方8人以上 191名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3840480"/>
            <a:ext cx="4325112" cy="1371600"/>
          </a:xfrm>
          <a:prstGeom prst="rect">
            <a:avLst/>
          </a:prstGeom>
          <a:noFill/>
          <a:ln w="15875">
            <a:solidFill>
              <a:srgbClr val="0B2A5B"/>
            </a:solidFill>
          </a:ln>
          <a:effectLst/>
        </p:spPr>
        <p:txBody>
          <a:bodyPr rtlCol="0" anchor="ctr" wrap="square" lIns="182880" rIns="182880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B2A5B"/>
                </a:solidFill>
                <a:latin typeface="Meiryo"/>
              </a:rPr>
              <a:t>MR君は既読1件400円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B1B1B"/>
                </a:solidFill>
                <a:latin typeface="Meiryo"/>
              </a:rPr>
              <a:t>既読ごとに費用がかかるため、誰に送るかで費用対効果が変わる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440680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伸びしろの大きい医師に、まだ届いていない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「最後まで見た」医師だけ、処方率が上がっている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実測(2025→2026年)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MR面談のない両年回答医師(左: 3,009名・患者数で加重、右: 2,945名・医師別の平均)。完読 = 視聴時間がコンテンツの長さ以上。観察データの関連。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66928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処方率の変化(2025→2026年、pt)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5669280" cy="2834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4617720"/>
            <a:ext cx="566928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400" b="0">
                <a:solidFill>
                  <a:srgbClr val="5F6B7A"/>
                </a:solidFill>
                <a:latin typeface="Meiryo"/>
              </a:rPr>
              <a:t>最後まで見た医師: 27.1% → 32.1%(691名)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371600"/>
            <a:ext cx="5193792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最後まで見た本数別の処方率の変化(pt)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92240" y="1783080"/>
          <a:ext cx="5193792" cy="3200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5440680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見るべき指標は「読まれたか」ではなく「最後まで見られたか」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3本は、最後まで見ても処方率の上昇を確認できず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実測(2025→2026年)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上がり幅: 重回帰(面談なし両年回答2,945名、診療科・前年の処方率・理解度・意向で調整)。3本は95%区間が0を含む。完読率: 全既読8,192件。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6751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完読1本あたりの処方率の上がり幅(pt)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37360"/>
          <a:ext cx="667512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4754880" y="4572000"/>
            <a:ext cx="2423160" cy="685800"/>
          </a:xfrm>
          <a:prstGeom prst="rect">
            <a:avLst/>
          </a:prstGeom>
          <a:noFill/>
          <a:ln w="15875">
            <a:solidFill>
              <a:srgbClr val="E8602C"/>
            </a:solidFill>
            <a:prstDash val="dash"/>
          </a:ln>
          <a:effectLst/>
        </p:spPr>
        <p:txBody>
          <a:bodyPr rtlCol="0" anchor="ctr" wrap="square"/>
          <a:lstStyle/>
          <a:p>
            <a:pPr algn="ctr"/>
            <a:r>
              <a:rPr sz="1250" b="1">
                <a:solidFill>
                  <a:srgbClr val="E8602C"/>
                </a:solidFill>
                <a:latin typeface="Meiryo"/>
              </a:rPr>
              <a:t>上昇を確認できず</a:t>
            </a:r>
          </a:p>
          <a:p>
            <a:pPr algn="ctr"/>
            <a:r>
              <a:rPr sz="1250" b="1">
                <a:solidFill>
                  <a:srgbClr val="E8602C"/>
                </a:solidFill>
                <a:latin typeface="Meiryo"/>
              </a:rPr>
              <a:t>(C03・C06・C08)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371600"/>
            <a:ext cx="4187952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長さ別の完読率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498079" y="1737360"/>
          <a:ext cx="4187952" cy="27432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Rectangle 11"/>
          <p:cNvSpPr/>
          <p:nvPr/>
        </p:nvSpPr>
        <p:spPr>
          <a:xfrm>
            <a:off x="7498079" y="4526280"/>
            <a:ext cx="4187952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600" b="1">
                <a:solidFill>
                  <a:srgbClr val="0B2A5B"/>
                </a:solidFill>
                <a:latin typeface="Meiryo"/>
              </a:rPr>
              <a:t>長いほど、最後まで見られない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440680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3本を入れ替え、長いコンテンツは4分以内に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「誰に」と「何を」の2つを見直す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施策提案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コンテンツの本文は未確認(タイトル・テーマから判断)。MR君で医師別に内容を指定できるか、配信資格は実施前に確認が必要。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513832" cy="54864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① 誰に送るか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5513832" cy="3154680"/>
          </a:xfrm>
          <a:prstGeom prst="rect">
            <a:avLst/>
          </a:prstGeom>
          <a:noFill/>
          <a:ln w="19050">
            <a:solidFill>
              <a:srgbClr val="E860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17320"/>
            <a:ext cx="5513832" cy="54864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2000" b="1">
                <a:solidFill>
                  <a:srgbClr val="FFFFFF"/>
                </a:solidFill>
                <a:latin typeface="Meiryo"/>
              </a:rPr>
              <a:t>② 何を送るか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965960"/>
            <a:ext cx="5513832" cy="3154680"/>
          </a:xfrm>
          <a:prstGeom prst="rect">
            <a:avLst/>
          </a:prstGeom>
          <a:noFill/>
          <a:ln w="19050">
            <a:solidFill>
              <a:srgbClr val="0B2A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057400"/>
            <a:ext cx="2377440" cy="10972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600" b="1">
                <a:solidFill>
                  <a:srgbClr val="E8602C"/>
                </a:solidFill>
                <a:latin typeface="Meiryo"/>
              </a:rPr>
              <a:t>724名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103120"/>
            <a:ext cx="2926080" cy="10058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B1B1B"/>
                </a:solidFill>
                <a:latin typeface="Meiryo"/>
              </a:rPr>
              <a:t>MRもMR君も届いていない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5F6B7A"/>
                </a:solidFill>
                <a:latin typeface="Meiryo"/>
              </a:rPr>
              <a:t>内科476名・耳鼻咽喉科248名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200400"/>
            <a:ext cx="5166360" cy="18288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2A5B"/>
                </a:solidFill>
                <a:latin typeface="Meiryo"/>
              </a:rPr>
              <a:t>優先順: </a:t>
            </a:r>
            <a:r>
              <a:rPr sz="1500" b="0">
                <a:solidFill>
                  <a:srgbClr val="1B1B1B"/>
                </a:solidFill>
                <a:latin typeface="Meiryo"/>
              </a:rPr>
              <a:t>潜在未処方の多い医師から(8人以上191名)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B2A5B"/>
                </a:solidFill>
                <a:latin typeface="Meiryo"/>
              </a:rPr>
              <a:t>内容: </a:t>
            </a:r>
            <a:r>
              <a:rPr sz="1500" b="0">
                <a:solidFill>
                  <a:srgbClr val="1B1B1B"/>
                </a:solidFill>
                <a:latin typeface="Meiryo"/>
              </a:rPr>
              <a:t>診療科が重視する特性に合わせる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1B1B"/>
                </a:solidFill>
                <a:latin typeface="Meiryo"/>
              </a:rPr>
              <a:t>  内科 → 飲み合わせ(C04・C09)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1B1B"/>
                </a:solidFill>
                <a:latin typeface="Meiryo"/>
              </a:rPr>
              <a:t>  耳鼻咽喉科 → 24h持続性(C05・C10)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55080" y="2148840"/>
          <a:ext cx="514807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2377440"/>
                <a:gridCol w="1810512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対応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対象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1B1B"/>
                          </a:solidFill>
                          <a:latin typeface="Meiryo"/>
                        </a:rPr>
                        <a:t>入れ替え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C03 副作用プロファイル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C06 2026年トレンド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C08 患者の声(QOL)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効果の見られた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テーマで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4分以内に作り直す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1B1B"/>
                          </a:solidFill>
                          <a:latin typeface="Meiryo"/>
                        </a:rPr>
                        <a:t>短縮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C10 長期投与の安全性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(5分)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4分以内に</a:t>
                      </a:r>
                    </a:p>
                    <a:p>
                      <a:pPr algn="l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短くする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355080" y="4572000"/>
            <a:ext cx="514807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350" b="0">
                <a:solidFill>
                  <a:srgbClr val="5F6B7A"/>
                </a:solidFill>
                <a:latin typeface="Meiryo"/>
              </a:rPr>
              <a:t>既読件数は変わらないため、既読費用は増えない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440680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KPI: 既読数 → 完読率・1人あたり完読本数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2つの見直しで、処方患者+1.4〜2.8%(約0.7〜1.4億円)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試算(仮定あり)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売上目安 = 年間売上50億円 × 処方患者の増加率(基準: 回答医師の処方患者11,280人)。前提は試算Excel(効果試算_v3.xlsx)で変更できる。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8311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873752"/>
                <a:gridCol w="1965960"/>
                <a:gridCol w="1965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施策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計算の前提(実測)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処方患者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売上目安</a:t>
                      </a:r>
                    </a:p>
                  </a:txBody>
                  <a:tcPr anchor="ctr" marL="73152" marR="73152">
                    <a:solidFill>
                      <a:srgbClr val="0B2A5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1B1B"/>
                          </a:solidFill>
                          <a:latin typeface="Meiryo"/>
                        </a:rPr>
                        <a:t>① 誰に送るか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1B1B1B"/>
                          </a:solidFill>
                          <a:latin typeface="Meiryo"/>
                        </a:rPr>
                        <a:t>724名へ配信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>患者6,032人 × 1人あたり完読0.55本</a:t>
                      </a:r>
                    </a:p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>× 完読1本あたり+4.9pt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1B1B"/>
                          </a:solidFill>
                          <a:latin typeface="Meiryo"/>
                        </a:rPr>
                        <a:t>+80〜161人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1B1B1B"/>
                          </a:solidFill>
                          <a:latin typeface="Meiryo"/>
                        </a:rPr>
                        <a:t>(+0.7〜1.4%)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8602C"/>
                          </a:solidFill>
                          <a:latin typeface="Meiryo"/>
                        </a:rPr>
                        <a:t>0.36〜0.71億円</a:t>
                      </a:r>
                    </a:p>
                  </a:txBody>
                  <a:tcPr anchor="ctr" marL="73152" marR="73152">
                    <a:solidFill>
                      <a:srgbClr val="F1F4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1B1B"/>
                          </a:solidFill>
                          <a:latin typeface="Meiryo"/>
                        </a:rPr>
                        <a:t>② 何を送るか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1B1B1B"/>
                          </a:solidFill>
                          <a:latin typeface="Meiryo"/>
                        </a:rPr>
                        <a:t>3本の入替・C10短縮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>3本の既読1,141件を完読率49%の内容へ</a:t>
                      </a:r>
                    </a:p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Meiryo"/>
                        </a:rPr>
                        <a:t>C10の完読率 34% → 49%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1B1B"/>
                          </a:solidFill>
                          <a:latin typeface="Meiryo"/>
                        </a:rPr>
                        <a:t>+78〜156人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1B1B1B"/>
                          </a:solidFill>
                          <a:latin typeface="Meiryo"/>
                        </a:rPr>
                        <a:t>(+0.7〜1.4%)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8602C"/>
                          </a:solidFill>
                          <a:latin typeface="Meiryo"/>
                        </a:rPr>
                        <a:t>0.35〜0.69億円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合計</a:t>
                      </a:r>
                    </a:p>
                  </a:txBody>
                  <a:tcPr anchor="ctr" marL="73152" marR="73152">
                    <a:solidFill>
                      <a:srgbClr val="E860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E860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eiryo"/>
                        </a:rPr>
                        <a:t>+159〜317人</a:t>
                      </a:r>
                    </a:p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eiryo"/>
                        </a:rPr>
                        <a:t>(+1.4〜2.8%)</a:t>
                      </a:r>
                    </a:p>
                  </a:txBody>
                  <a:tcPr anchor="ctr" marL="73152" marR="73152">
                    <a:solidFill>
                      <a:srgbClr val="E860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eiryo"/>
                        </a:rPr>
                        <a:t>約0.7〜1.4億円</a:t>
                      </a:r>
                    </a:p>
                  </a:txBody>
                  <a:tcPr anchor="ctr" marL="73152" marR="73152">
                    <a:solidFill>
                      <a:srgbClr val="E8602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4251960"/>
            <a:ext cx="548640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500" b="1">
                <a:solidFill>
                  <a:srgbClr val="0B2A5B"/>
                </a:solidFill>
                <a:latin typeface="Meiryo"/>
              </a:rPr>
              <a:t>費用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636008"/>
            <a:ext cx="5486400" cy="1143000"/>
          </a:xfrm>
          <a:prstGeom prst="rect">
            <a:avLst/>
          </a:prstGeom>
          <a:noFill/>
          <a:ln w="12700">
            <a:solidFill>
              <a:srgbClr val="0B2A5B"/>
            </a:solidFill>
          </a:ln>
          <a:effectLst/>
        </p:spPr>
        <p:txBody>
          <a:bodyPr rtlCol="0" anchor="ctr" wrap="square" lIns="137160" rIns="137160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B1B1B"/>
                </a:solidFill>
                <a:latin typeface="Meiryo"/>
              </a:rPr>
              <a:t>① 追加既読 約870件 × 400円 = </a:t>
            </a:r>
            <a:r>
              <a:rPr sz="1600" b="1">
                <a:solidFill>
                  <a:srgbClr val="E8602C"/>
                </a:solidFill>
                <a:latin typeface="Meiryo"/>
              </a:rPr>
              <a:t>約35万円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B1B1B"/>
                </a:solidFill>
                <a:latin typeface="Meiryo"/>
              </a:rPr>
              <a:t>(回答医師ベース)処方患者1人あたり 約2,200〜4,300円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B1B1B"/>
                </a:solidFill>
                <a:latin typeface="Meiryo"/>
              </a:rPr>
              <a:t>② 既読費用は増えない。制作費は要確認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4251960"/>
            <a:ext cx="548640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500" b="1">
                <a:solidFill>
                  <a:srgbClr val="0B2A5B"/>
                </a:solidFill>
                <a:latin typeface="Meiryo"/>
              </a:rPr>
              <a:t>読み方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4636008"/>
            <a:ext cx="5486400" cy="1143000"/>
          </a:xfrm>
          <a:prstGeom prst="rect">
            <a:avLst/>
          </a:prstGeom>
          <a:noFill/>
          <a:ln w="12700">
            <a:solidFill>
              <a:srgbClr val="0B2A5B"/>
            </a:solidFill>
          </a:ln>
          <a:effectLst/>
        </p:spPr>
        <p:txBody>
          <a:bodyPr rtlCol="0" anchor="ctr" wrap="square" lIns="137160" rIns="137160"/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1B1B1B"/>
                </a:solidFill>
                <a:latin typeface="Meiryo"/>
              </a:rPr>
              <a:t>下限: 関連の半分が施策の効果だった場合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B1B1B"/>
                </a:solidFill>
                <a:latin typeface="Meiryo"/>
              </a:rPr>
              <a:t>上限: 関連のすべてが効果だった場合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B1B1B"/>
                </a:solidFill>
                <a:latin typeface="Meiryo"/>
              </a:rPr>
              <a:t>①の新規配信先の完読は現状の水準のまま(控えめ)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ctr"/>
            <a:r>
              <a:rPr sz="1450" b="1">
                <a:solidFill>
                  <a:srgbClr val="0B2A5B"/>
                </a:solidFill>
                <a:latin typeface="Meiryo"/>
              </a:rPr>
              <a:t>処方患者1人あたりの年間売上が約4,300円を超えれば、①の既読費用を上回る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完読率をKPIに、優先度の高い医師から広げる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実行計画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次回調査の時期は未確定。完読率を正しく測るため、今後は配信日・コンテンツ・配信件数も医師別に記録する。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8</a:t>
            </a:r>
          </a:p>
        </p:txBody>
      </p:sp>
      <p:sp>
        <p:nvSpPr>
          <p:cNvPr id="7" name="Pentagon 6"/>
          <p:cNvSpPr/>
          <p:nvPr/>
        </p:nvSpPr>
        <p:spPr>
          <a:xfrm>
            <a:off x="502920" y="1463040"/>
            <a:ext cx="2697480" cy="1417320"/>
          </a:xfrm>
          <a:prstGeom prst="homePlate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2103120" cy="1417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① 配信資格と</a:t>
            </a:r>
          </a:p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予算の確認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DCE6F5"/>
                </a:solidFill>
                <a:latin typeface="Meiryo"/>
              </a:rPr>
              <a:t>724名の配信可否</a:t>
            </a:r>
          </a:p>
        </p:txBody>
      </p:sp>
      <p:sp>
        <p:nvSpPr>
          <p:cNvPr id="9" name="Chevron 8"/>
          <p:cNvSpPr/>
          <p:nvPr/>
        </p:nvSpPr>
        <p:spPr>
          <a:xfrm>
            <a:off x="3337560" y="1463040"/>
            <a:ext cx="2697480" cy="1417320"/>
          </a:xfrm>
          <a:prstGeom prst="chevron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04488" y="1463040"/>
            <a:ext cx="1783080" cy="1417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② コンテンツの</a:t>
            </a:r>
          </a:p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入替・短縮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DCE6F5"/>
                </a:solidFill>
                <a:latin typeface="Meiryo"/>
              </a:rPr>
              <a:t>3本・C10</a:t>
            </a:r>
          </a:p>
        </p:txBody>
      </p:sp>
      <p:sp>
        <p:nvSpPr>
          <p:cNvPr id="11" name="Chevron 10"/>
          <p:cNvSpPr/>
          <p:nvPr/>
        </p:nvSpPr>
        <p:spPr>
          <a:xfrm>
            <a:off x="6172200" y="1463040"/>
            <a:ext cx="2697480" cy="1417320"/>
          </a:xfrm>
          <a:prstGeom prst="chevron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39128" y="1463040"/>
            <a:ext cx="1783080" cy="1417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③ 配信と完読の</a:t>
            </a:r>
          </a:p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記録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DCE6F5"/>
                </a:solidFill>
                <a:latin typeface="Meiryo"/>
              </a:rPr>
              <a:t>医師別に記録</a:t>
            </a:r>
          </a:p>
        </p:txBody>
      </p:sp>
      <p:sp>
        <p:nvSpPr>
          <p:cNvPr id="13" name="Chevron 12"/>
          <p:cNvSpPr/>
          <p:nvPr/>
        </p:nvSpPr>
        <p:spPr>
          <a:xfrm>
            <a:off x="9006840" y="1463040"/>
            <a:ext cx="2697480" cy="1417320"/>
          </a:xfrm>
          <a:prstGeom prst="chevron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73768" y="1463040"/>
            <a:ext cx="1783080" cy="1417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④ 処方率の</a:t>
            </a:r>
          </a:p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確認</a:t>
            </a:r>
          </a:p>
          <a:p>
            <a:pPr algn="ctr">
              <a:spcAft>
                <a:spcPts val="300"/>
              </a:spcAft>
            </a:pPr>
            <a:r>
              <a:rPr sz="1200" b="0">
                <a:solidFill>
                  <a:srgbClr val="DCE6F5"/>
                </a:solidFill>
                <a:latin typeface="Meiryo"/>
              </a:rPr>
              <a:t>次回調査で比較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08960"/>
            <a:ext cx="11183112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KPI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20440"/>
            <a:ext cx="2606040" cy="9144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B2A5B"/>
                </a:solidFill>
                <a:latin typeface="Meiryo"/>
              </a:rPr>
              <a:t>配信医師数</a:t>
            </a:r>
          </a:p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724名のうち何名に届いたか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3520440"/>
            <a:ext cx="2606040" cy="9144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B2A5B"/>
                </a:solidFill>
                <a:latin typeface="Meiryo"/>
              </a:rPr>
              <a:t>完読率</a:t>
            </a:r>
          </a:p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既読のうち最後まで見た割合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520440"/>
            <a:ext cx="2606040" cy="9144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B2A5B"/>
                </a:solidFill>
                <a:latin typeface="Meiryo"/>
              </a:rPr>
              <a:t>1人あたり完読本数</a:t>
            </a:r>
          </a:p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多いほど上がり幅が大きい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3520440"/>
            <a:ext cx="2606040" cy="9144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B2A5B"/>
                </a:solidFill>
                <a:latin typeface="Meiryo"/>
              </a:rPr>
              <a:t>処方率</a:t>
            </a:r>
          </a:p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次回調査で前年と比較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572000"/>
            <a:ext cx="11183112" cy="685800"/>
          </a:xfrm>
          <a:prstGeom prst="rect">
            <a:avLst/>
          </a:prstGeom>
          <a:solidFill>
            <a:srgbClr val="FFF4EE"/>
          </a:solidFill>
          <a:ln w="15875">
            <a:solidFill>
              <a:srgbClr val="E8602C"/>
            </a:solidFill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400" b="1">
                <a:solidFill>
                  <a:srgbClr val="E8602C"/>
                </a:solidFill>
                <a:latin typeface="Meiryo"/>
              </a:rPr>
              <a:t>注意: </a:t>
            </a:r>
            <a:r>
              <a:rPr sz="1400" b="0">
                <a:solidFill>
                  <a:srgbClr val="1B1B1B"/>
                </a:solidFill>
                <a:latin typeface="Meiryo"/>
              </a:rPr>
              <a:t>試算は観察データの関連に基づく。関心の高い医師ほど最後まで見ている可能性があるため、下限は関連の50%で置き、記録を取りながら段階的に広げる。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440680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既読の数ではなく、「最後まで見られた数」を増やす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