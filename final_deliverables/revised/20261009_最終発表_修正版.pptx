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潜在未処方(人)</c:v>
                </c:pt>
              </c:strCache>
            </c:strRef>
          </c:tx>
          <c:dPt>
            <c:idx val="0"/>
            <c:spPr>
              <a:solidFill>
                <a:srgbClr val="0B2A5B"/>
              </a:solidFill>
            </c:spPr>
          </c:dPt>
          <c:dPt>
            <c:idx val="1"/>
            <c:spPr>
              <a:solidFill>
                <a:srgbClr val="0B2A5B"/>
              </a:solidFill>
            </c:spPr>
          </c:dPt>
          <c:dPt>
            <c:idx val="2"/>
            <c:spPr>
              <a:solidFill>
                <a:srgbClr val="9DB4D8"/>
              </a:solidFill>
            </c:spPr>
          </c:dPt>
          <c:dPt>
            <c:idx val="3"/>
            <c:spPr>
              <a:solidFill>
                <a:srgbClr val="9DB4D8"/>
              </a:solidFill>
            </c:spPr>
          </c:dPt>
          <c:cat>
            <c:strRef>
              <c:f>Sheet1!$A$2:$A$5</c:f>
              <c:strCache>
                <c:ptCount val="4"/>
                <c:pt idx="0">
                  <c:v>内科</c:v>
                </c:pt>
                <c:pt idx="1">
                  <c:v>耳鼻咽喉科</c:v>
                </c:pt>
                <c:pt idx="2">
                  <c:v>小児科</c:v>
                </c:pt>
                <c:pt idx="3">
                  <c:v>眼科</c:v>
                </c:pt>
              </c:strCache>
            </c:strRef>
          </c:cat>
          <c:val>
            <c:numRef>
              <c:f>Sheet1!$B$2:$B$5</c:f>
              <c:numCache>
                <c:formatCode>General</c:formatCode>
                <c:ptCount val="4"/>
                <c:pt idx="0">
                  <c:v>9538</c:v>
                </c:pt>
                <c:pt idx="1">
                  <c:v>8128</c:v>
                </c:pt>
                <c:pt idx="2">
                  <c:v>3988</c:v>
                </c:pt>
                <c:pt idx="3">
                  <c:v>1280</c:v>
                </c:pt>
              </c:numCache>
            </c:numRef>
          </c:val>
        </c:ser>
        <c:dLbls>
          <c:numFmt formatCode="#,##0&quot;人&quot;" sourceLinked="0"/>
          <c:txPr>
            <a:bodyPr/>
            <a:lstStyle/>
            <a:p>
              <a:pPr>
                <a:defRPr sz="1600" b="1">
                  <a:latin typeface="Meiryo"/>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nextTo"/>
        <c:spPr>
          <a:ln>
            <a:noFill/>
          </a:ln>
        </c:spPr>
        <c:txPr>
          <a:bodyPr/>
          <a:lstStyle/>
          <a:p>
            <a:pPr>
              <a:defRPr sz="1600">
                <a:latin typeface="Meiryo"/>
              </a:defRPr>
            </a:pPr>
          </a:p>
        </c:txPr>
        <c:crossAx val="-2113994440"/>
        <c:crosses val="autoZero"/>
        <c:auto val="1"/>
        <c:lblAlgn val="ctr"/>
        <c:lblOffset val="100"/>
        <c:noMultiLvlLbl val="0"/>
      </c:catAx>
      <c:valAx>
        <c:axId val="-2113994440"/>
        <c:scaling>
          <c:max val="12000.0"/>
          <c:min val="0.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平均潜在未処方</c:v>
                </c:pt>
              </c:strCache>
            </c:strRef>
          </c:tx>
          <c:dPt>
            <c:idx val="0"/>
            <c:spPr>
              <a:solidFill>
                <a:srgbClr val="E8602C"/>
              </a:solidFill>
            </c:spPr>
          </c:dPt>
          <c:dPt>
            <c:idx val="1"/>
            <c:spPr>
              <a:solidFill>
                <a:srgbClr val="0B2A5B"/>
              </a:solidFill>
            </c:spPr>
          </c:dPt>
          <c:cat>
            <c:strRef>
              <c:f>Sheet1!$A$2:$A$3</c:f>
              <c:strCache>
                <c:ptCount val="2"/>
                <c:pt idx="0">
                  <c:v>配信対象外(120名)</c:v>
                </c:pt>
                <c:pt idx="1">
                  <c:v>既存の配信対象(196名)</c:v>
                </c:pt>
              </c:strCache>
            </c:strRef>
          </c:cat>
          <c:val>
            <c:numRef>
              <c:f>Sheet1!$B$2:$B$3</c:f>
              <c:numCache>
                <c:formatCode>General</c:formatCode>
                <c:ptCount val="2"/>
                <c:pt idx="0">
                  <c:v>10.9</c:v>
                </c:pt>
                <c:pt idx="1">
                  <c:v>10.4</c:v>
                </c:pt>
              </c:numCache>
            </c:numRef>
          </c:val>
        </c:ser>
        <c:dLbls>
          <c:numFmt formatCode="0.0" sourceLinked="0"/>
          <c:txPr>
            <a:bodyPr/>
            <a:lstStyle/>
            <a:p>
              <a:pPr>
                <a:defRPr sz="1800" b="1">
                  <a:latin typeface="Meiryo"/>
                </a:defRPr>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axMin"/>
        </c:scaling>
        <c:delete val="0"/>
        <c:axPos val="l"/>
        <c:majorTickMark val="out"/>
        <c:minorTickMark val="none"/>
        <c:tickLblPos val="nextTo"/>
        <c:txPr>
          <a:bodyPr/>
          <a:lstStyle/>
          <a:p>
            <a:pPr>
              <a:defRPr sz="1400">
                <a:latin typeface="Meiryo"/>
              </a:defRPr>
            </a:pPr>
          </a:p>
        </c:txPr>
        <c:crossAx val="-2113994440"/>
        <c:crosses val="autoZero"/>
        <c:auto val="1"/>
        <c:lblAlgn val="ctr"/>
        <c:lblOffset val="100"/>
        <c:noMultiLvlLbl val="0"/>
      </c:catAx>
      <c:valAx>
        <c:axId val="-2113994440"/>
        <c:scaling>
          <c:max val="16.0"/>
          <c:min val="0.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 結論から申し上げます。薬剤Aの処方拡大に向けて、MR君の配信対象と、届ける内容の見直しを提案します。重点医師433名のうち、158名が現在の配信対象外、275名がすでに配信対象です。誰に届けるかを見直し、何を届けるかを最適化します。ただし、施策は未実施で、処方増加の効果は確認され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まず、どこに余地があるかです。2026年の調査で、花粉症の患者さんのうち、薬剤Aを処方していない人、つまり潜在未処方は、約2万3千人でした。内科が9,538人、耳鼻咽喉科が8,128人で、合わせて77%です。小児科は3,988人、眼科は1,280人でした。そこで、内科と耳鼻咽喉科を重点の診療科として検討します。なお、潜在未処方は、患者数の自己申告から計算した理論上の数です。実際に処方へ転換できる人数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次に、誰を優先するかです。内科と耳鼻咽喉科の回答医師は3,286名です。このうち、潜在未処方が8人以上の医師は701名で、全体の21%です。ところが、この701名が、潜在未処方の41%を持っています。8人以上を、7人以上や10人以上に変えても、少数の医師に集中する構造は同じです。限られたリソースを一律に使うのではなく、まず患者規模の大きい医師を重点候補にします。ただし、患者が多いことは、情報提供に反応することを意味しません。</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[0:55] 701名の中には、状態の違う医師がいます。理解度と処方意向がともに低いA層が316名、中程度のB層が117名です。A層は、薬剤Aの五つの特徴すべてで、理解度が低い傾向でした。また、最も重視する特性は診療科で異なります。内科は飲み合わせで56%、耳鼻咽喉科は24時間持続性で49%です。そこで、理解度と診療科に応じた出し分けを検討します。ただし、出し分けで既読や処方が増えるかは未確認です。今のコンテンツが不適切という意味でも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ここが、今回最も重要な発見です。A層とB層433名のうち、158名が、現在MR君の配信対象外でした。内訳は、A層が120名、B層が38名です。A層316名では、配信対象外が120名、対象で既読なしが111名、既読ありが85名です。配信対象外120名の平均潜在未処方は10.9人。すでに配信対象の196名は、約10.4人です。患者規模は同程度です。つまり、配信対象のリストを新しい視点で見直せば、追加の情報提供機会を検討できます。ただし、対象外の理由は分かりません。158名全員に配信できるかも不明です。興味がないから対象外とも、現在のターゲティングが不適切とも、言えません。</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[1:25] では、具体的な施策です。ステップ1はターゲティング。158名について、対象外の理由、配信資格、実施の可否を確認します。条件を満たす医師を、新たな重点配信候補として見直します。ステップ2はパーソナライゼーション。既存の配信対象275名と、配信可能になった新規対象に、診療科と理解度に応じて内容を出し分けます。既存の10本のコンテンツを活用する前提です。A層には、まず診療科が重視する特性を紹介し、必要に応じて他の基本情報を補足します。内科は飲み合わせで、候補はC04。耳鼻咽喉科は24時間持続性で、候補はC05です。B層には、重視項目をより具体的に伝えます。内科はC09、耳鼻咽喉科はC10が候補です。いずれも候補で、配信順序が最適かは未検証です。本文も未確認です。配信と既読は記録し、次の改善に使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実施の進め方です。まず、158名の配信資格を確認します。配信できるか、対象外の理由、同意や配信停止などの制約、既存の営業施策との関係です。次に、既存10本のコンテンツで出し分けます。MR君で医師別に内容を指定できるかは未確認で、実施の条件です。そして、医師、配信日、コンテンツ、配信件数、既読を記録します。費用は、既読1件400円です。既存の記録では、A層66,400円、B層31,600円、合計98,000円ですが、施策全体の費用ではありません。追加分は、追加の既読件数に400円を掛け、配信設定や運用の費用は別に確認します。低コストでも、リスクがないとは考え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[0:40] 最後に評価です。配信、既読、理解度、処方の4段階で確認します。処方の変化があっても、MR君の効果とは断定しません。配信が進まなければ配信条件を、既読が少なければ内容や順序を、見直します。結果を見て、他の高ポテンシャル医師、他の診療科、将来は他の薬剤へと、段階的に広げます。配信数を増やすこと自体が目的ではありません。医師データと配信結果を活かして、情報提供を継続的に改善することを目指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chart" Target="../charts/char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256032"/>
            <a:ext cx="9144000" cy="896112"/>
          </a:xfrm>
          <a:prstGeom prst="rect">
            <a:avLst/>
          </a:prstGeom>
          <a:noFill/>
          <a:ln>
            <a:noFill/>
          </a:ln>
          <a:effectLst/>
        </p:spPr>
        <p:txBody>
          <a:bodyPr rtlCol="0" anchor="ctr" wrap="square" lIns="0" rIns="0"/>
          <a:lstStyle/>
          <a:p>
            <a:pPr algn="l"/>
            <a:r>
              <a:rPr sz="2600" b="1">
                <a:solidFill>
                  <a:srgbClr val="0B2A5B"/>
                </a:solidFill>
                <a:latin typeface="Meiryo"/>
              </a:rPr>
              <a:t>高ポテンシャル医師への重点配信と</a:t>
            </a:r>
          </a:p>
          <a:p>
            <a:pPr algn="l"/>
            <a:r>
              <a:rPr sz="2600" b="1">
                <a:solidFill>
                  <a:srgbClr val="0B2A5B"/>
                </a:solidFill>
                <a:latin typeface="Meiryo"/>
              </a:rPr>
              <a:t>医師別コンテンツ最適化を提案</a:t>
            </a:r>
          </a:p>
        </p:txBody>
      </p:sp>
      <p:cxnSp>
        <p:nvCxnSpPr>
          <p:cNvPr id="3" name="Connector 2"/>
          <p:cNvCxnSpPr/>
          <p:nvPr/>
        </p:nvCxnSpPr>
        <p:spPr>
          <a:xfrm>
            <a:off x="502920" y="1207008"/>
            <a:ext cx="11183112" cy="0"/>
          </a:xfrm>
          <a:prstGeom prst="line">
            <a:avLst/>
          </a:prstGeom>
          <a:ln w="28575">
            <a:solidFill>
              <a:srgbClr val="0B2A5B"/>
            </a:solidFill>
          </a:ln>
        </p:spPr>
      </p:cxnSp>
      <p:sp>
        <p:nvSpPr>
          <p:cNvPr id="4" name="Rounded Rectangle 3"/>
          <p:cNvSpPr/>
          <p:nvPr/>
        </p:nvSpPr>
        <p:spPr>
          <a:xfrm>
            <a:off x="9829800" y="365760"/>
            <a:ext cx="1856231" cy="420624"/>
          </a:xfrm>
          <a:prstGeom prst="roundRect">
            <a:avLst/>
          </a:prstGeom>
          <a:solidFill>
            <a:srgbClr val="FFFFFF"/>
          </a:solidFill>
          <a:ln w="22225">
            <a:solidFill>
              <a:srgbClr val="E8602C"/>
            </a:solidFill>
            <a:prstDash val="dash"/>
          </a:ln>
          <a:effectLst/>
        </p:spPr>
        <p:txBody>
          <a:bodyPr rtlCol="0" anchor="ctr" wrap="square" lIns="18288" rIns="18288"/>
          <a:lstStyle/>
          <a:p>
            <a:pPr algn="ctr"/>
            <a:r>
              <a:rPr sz="1200" b="1">
                <a:solidFill>
                  <a:srgbClr val="E8602C"/>
                </a:solidFill>
                <a:latin typeface="Meiryo"/>
              </a:rPr>
              <a:t>提案概要(未実施)</a:t>
            </a:r>
          </a:p>
        </p:txBody>
      </p:sp>
      <p:sp>
        <p:nvSpPr>
          <p:cNvPr id="5" name="Rectangle 4"/>
          <p:cNvSpPr/>
          <p:nvPr/>
        </p:nvSpPr>
        <p:spPr>
          <a:xfrm>
            <a:off x="502920" y="6400800"/>
            <a:ext cx="10881360" cy="329184"/>
          </a:xfrm>
          <a:prstGeom prst="rect">
            <a:avLst/>
          </a:prstGeom>
          <a:noFill/>
          <a:ln>
            <a:noFill/>
          </a:ln>
          <a:effectLst/>
        </p:spPr>
        <p:txBody>
          <a:bodyPr rtlCol="0" anchor="ctr" wrap="square" lIns="0" rIns="0"/>
          <a:lstStyle/>
          <a:p>
            <a:pPr algn="l"/>
            <a:r>
              <a:rPr sz="1050" b="0">
                <a:solidFill>
                  <a:srgbClr val="5F6B7A"/>
                </a:solidFill>
                <a:latin typeface="Meiryo"/>
              </a:rPr>
              <a:t>重点医師=A層316名+B層117名(2026年の値で抽出)。MR面談は通常業務として維持します。数値は2026年アンケートとMR君の配信・既読の記録に基づきます。</a:t>
            </a:r>
          </a:p>
        </p:txBody>
      </p:sp>
      <p:sp>
        <p:nvSpPr>
          <p:cNvPr id="6" name="Rectangle 5"/>
          <p:cNvSpPr/>
          <p:nvPr/>
        </p:nvSpPr>
        <p:spPr>
          <a:xfrm>
            <a:off x="11155680" y="6400800"/>
            <a:ext cx="530352" cy="329184"/>
          </a:xfrm>
          <a:prstGeom prst="rect">
            <a:avLst/>
          </a:prstGeom>
          <a:noFill/>
          <a:ln>
            <a:noFill/>
          </a:ln>
          <a:effectLst/>
        </p:spPr>
        <p:txBody>
          <a:bodyPr rtlCol="0" anchor="ctr" wrap="square" lIns="0" rIns="0"/>
          <a:lstStyle/>
          <a:p>
            <a:pPr algn="r"/>
            <a:r>
              <a:rPr sz="1100" b="0">
                <a:solidFill>
                  <a:srgbClr val="5F6B7A"/>
                </a:solidFill>
                <a:latin typeface="Meiryo"/>
              </a:rPr>
              <a:t>1</a:t>
            </a:r>
          </a:p>
        </p:txBody>
      </p:sp>
      <p:sp>
        <p:nvSpPr>
          <p:cNvPr id="7" name="Rectangle 6"/>
          <p:cNvSpPr/>
          <p:nvPr/>
        </p:nvSpPr>
        <p:spPr>
          <a:xfrm>
            <a:off x="502920" y="1371600"/>
            <a:ext cx="11183112" cy="502920"/>
          </a:xfrm>
          <a:prstGeom prst="rect">
            <a:avLst/>
          </a:prstGeom>
          <a:noFill/>
          <a:ln>
            <a:noFill/>
          </a:ln>
          <a:effectLst/>
        </p:spPr>
        <p:txBody>
          <a:bodyPr rtlCol="0" anchor="ctr" wrap="square"/>
          <a:lstStyle/>
          <a:p>
            <a:pPr algn="ctr"/>
            <a:r>
              <a:rPr sz="2200" b="1">
                <a:solidFill>
                  <a:srgbClr val="0B2A5B"/>
                </a:solidFill>
                <a:latin typeface="Meiryo"/>
              </a:rPr>
              <a:t>誰に届けるかを見直し、何を届けるかを最適化する</a:t>
            </a:r>
          </a:p>
        </p:txBody>
      </p:sp>
      <p:sp>
        <p:nvSpPr>
          <p:cNvPr id="8" name="Rectangle 7"/>
          <p:cNvSpPr/>
          <p:nvPr/>
        </p:nvSpPr>
        <p:spPr>
          <a:xfrm>
            <a:off x="1005840" y="1965960"/>
            <a:ext cx="4800600" cy="1828800"/>
          </a:xfrm>
          <a:prstGeom prst="rect">
            <a:avLst/>
          </a:prstGeom>
          <a:solidFill>
            <a:srgbClr val="F1F4F9"/>
          </a:solidFill>
          <a:ln>
            <a:noFill/>
          </a:ln>
          <a:effectLst/>
        </p:spPr>
        <p:txBody>
          <a:bodyPr rtlCol="0" anchor="ctr"/>
          <a:lstStyle/>
          <a:p>
            <a:pPr algn="ctr"/>
          </a:p>
        </p:txBody>
      </p:sp>
      <p:sp>
        <p:nvSpPr>
          <p:cNvPr id="9" name="Rectangle 8"/>
          <p:cNvSpPr/>
          <p:nvPr/>
        </p:nvSpPr>
        <p:spPr>
          <a:xfrm>
            <a:off x="1005840" y="1965960"/>
            <a:ext cx="109728" cy="1828800"/>
          </a:xfrm>
          <a:prstGeom prst="rect">
            <a:avLst/>
          </a:prstGeom>
          <a:solidFill>
            <a:srgbClr val="E8602C"/>
          </a:solidFill>
          <a:ln>
            <a:noFill/>
          </a:ln>
          <a:effectLst/>
        </p:spPr>
        <p:txBody>
          <a:bodyPr rtlCol="0" anchor="ctr"/>
          <a:lstStyle/>
          <a:p>
            <a:pPr algn="ctr"/>
          </a:p>
        </p:txBody>
      </p:sp>
      <p:sp>
        <p:nvSpPr>
          <p:cNvPr id="10" name="Rectangle 9"/>
          <p:cNvSpPr/>
          <p:nvPr/>
        </p:nvSpPr>
        <p:spPr>
          <a:xfrm>
            <a:off x="1234440" y="2011680"/>
            <a:ext cx="4480560" cy="1005840"/>
          </a:xfrm>
          <a:prstGeom prst="rect">
            <a:avLst/>
          </a:prstGeom>
          <a:noFill/>
          <a:ln>
            <a:noFill/>
          </a:ln>
          <a:effectLst/>
        </p:spPr>
        <p:txBody>
          <a:bodyPr rtlCol="0" anchor="ctr" wrap="square"/>
          <a:lstStyle/>
          <a:p>
            <a:pPr algn="l"/>
            <a:r>
              <a:rPr sz="5800" b="1">
                <a:solidFill>
                  <a:srgbClr val="E8602C"/>
                </a:solidFill>
                <a:latin typeface="Meiryo"/>
              </a:rPr>
              <a:t>158名</a:t>
            </a:r>
          </a:p>
        </p:txBody>
      </p:sp>
      <p:sp>
        <p:nvSpPr>
          <p:cNvPr id="11" name="Rectangle 10"/>
          <p:cNvSpPr/>
          <p:nvPr/>
        </p:nvSpPr>
        <p:spPr>
          <a:xfrm>
            <a:off x="1234440" y="2926080"/>
            <a:ext cx="4480560" cy="365760"/>
          </a:xfrm>
          <a:prstGeom prst="rect">
            <a:avLst/>
          </a:prstGeom>
          <a:noFill/>
          <a:ln>
            <a:noFill/>
          </a:ln>
          <a:effectLst/>
        </p:spPr>
        <p:txBody>
          <a:bodyPr rtlCol="0" anchor="t" wrap="square"/>
          <a:lstStyle/>
          <a:p>
            <a:pPr algn="l"/>
            <a:r>
              <a:rPr sz="2000" b="1">
                <a:solidFill>
                  <a:srgbClr val="1B1B1B"/>
                </a:solidFill>
                <a:latin typeface="Meiryo"/>
              </a:rPr>
              <a:t>新規配信候補</a:t>
            </a:r>
          </a:p>
        </p:txBody>
      </p:sp>
      <p:sp>
        <p:nvSpPr>
          <p:cNvPr id="12" name="Rectangle 11"/>
          <p:cNvSpPr/>
          <p:nvPr/>
        </p:nvSpPr>
        <p:spPr>
          <a:xfrm>
            <a:off x="1234440" y="3310128"/>
            <a:ext cx="4480560" cy="365760"/>
          </a:xfrm>
          <a:prstGeom prst="rect">
            <a:avLst/>
          </a:prstGeom>
          <a:noFill/>
          <a:ln>
            <a:noFill/>
          </a:ln>
          <a:effectLst/>
        </p:spPr>
        <p:txBody>
          <a:bodyPr rtlCol="0" anchor="t" wrap="square"/>
          <a:lstStyle/>
          <a:p>
            <a:pPr algn="l"/>
            <a:r>
              <a:rPr sz="1400" b="0">
                <a:solidFill>
                  <a:srgbClr val="5F6B7A"/>
                </a:solidFill>
                <a:latin typeface="Meiryo"/>
              </a:rPr>
              <a:t>A層120名 + B層38名(現在は配信対象外)</a:t>
            </a:r>
          </a:p>
        </p:txBody>
      </p:sp>
      <p:sp>
        <p:nvSpPr>
          <p:cNvPr id="13" name="Rectangle 12"/>
          <p:cNvSpPr/>
          <p:nvPr/>
        </p:nvSpPr>
        <p:spPr>
          <a:xfrm>
            <a:off x="6400800" y="1965960"/>
            <a:ext cx="4800600" cy="1828800"/>
          </a:xfrm>
          <a:prstGeom prst="rect">
            <a:avLst/>
          </a:prstGeom>
          <a:solidFill>
            <a:srgbClr val="F1F4F9"/>
          </a:solidFill>
          <a:ln>
            <a:noFill/>
          </a:ln>
          <a:effectLst/>
        </p:spPr>
        <p:txBody>
          <a:bodyPr rtlCol="0" anchor="ctr"/>
          <a:lstStyle/>
          <a:p>
            <a:pPr algn="ctr"/>
          </a:p>
        </p:txBody>
      </p:sp>
      <p:sp>
        <p:nvSpPr>
          <p:cNvPr id="14" name="Rectangle 13"/>
          <p:cNvSpPr/>
          <p:nvPr/>
        </p:nvSpPr>
        <p:spPr>
          <a:xfrm>
            <a:off x="6400800" y="1965960"/>
            <a:ext cx="109728" cy="1828800"/>
          </a:xfrm>
          <a:prstGeom prst="rect">
            <a:avLst/>
          </a:prstGeom>
          <a:solidFill>
            <a:srgbClr val="0B2A5B"/>
          </a:solidFill>
          <a:ln>
            <a:noFill/>
          </a:ln>
          <a:effectLst/>
        </p:spPr>
        <p:txBody>
          <a:bodyPr rtlCol="0" anchor="ctr"/>
          <a:lstStyle/>
          <a:p>
            <a:pPr algn="ctr"/>
          </a:p>
        </p:txBody>
      </p:sp>
      <p:sp>
        <p:nvSpPr>
          <p:cNvPr id="15" name="Rectangle 14"/>
          <p:cNvSpPr/>
          <p:nvPr/>
        </p:nvSpPr>
        <p:spPr>
          <a:xfrm>
            <a:off x="6629400" y="2011680"/>
            <a:ext cx="4480560" cy="1005840"/>
          </a:xfrm>
          <a:prstGeom prst="rect">
            <a:avLst/>
          </a:prstGeom>
          <a:noFill/>
          <a:ln>
            <a:noFill/>
          </a:ln>
          <a:effectLst/>
        </p:spPr>
        <p:txBody>
          <a:bodyPr rtlCol="0" anchor="ctr" wrap="square"/>
          <a:lstStyle/>
          <a:p>
            <a:pPr algn="l"/>
            <a:r>
              <a:rPr sz="5800" b="1">
                <a:solidFill>
                  <a:srgbClr val="0B2A5B"/>
                </a:solidFill>
                <a:latin typeface="Meiryo"/>
              </a:rPr>
              <a:t>275名</a:t>
            </a:r>
          </a:p>
        </p:txBody>
      </p:sp>
      <p:sp>
        <p:nvSpPr>
          <p:cNvPr id="16" name="Rectangle 15"/>
          <p:cNvSpPr/>
          <p:nvPr/>
        </p:nvSpPr>
        <p:spPr>
          <a:xfrm>
            <a:off x="6629400" y="2926080"/>
            <a:ext cx="4480560" cy="365760"/>
          </a:xfrm>
          <a:prstGeom prst="rect">
            <a:avLst/>
          </a:prstGeom>
          <a:noFill/>
          <a:ln>
            <a:noFill/>
          </a:ln>
          <a:effectLst/>
        </p:spPr>
        <p:txBody>
          <a:bodyPr rtlCol="0" anchor="t" wrap="square"/>
          <a:lstStyle/>
          <a:p>
            <a:pPr algn="l"/>
            <a:r>
              <a:rPr sz="2000" b="1">
                <a:solidFill>
                  <a:srgbClr val="1B1B1B"/>
                </a:solidFill>
                <a:latin typeface="Meiryo"/>
              </a:rPr>
              <a:t>既存配信対象</a:t>
            </a:r>
          </a:p>
        </p:txBody>
      </p:sp>
      <p:sp>
        <p:nvSpPr>
          <p:cNvPr id="17" name="Rectangle 16"/>
          <p:cNvSpPr/>
          <p:nvPr/>
        </p:nvSpPr>
        <p:spPr>
          <a:xfrm>
            <a:off x="6629400" y="3310128"/>
            <a:ext cx="4480560" cy="365760"/>
          </a:xfrm>
          <a:prstGeom prst="rect">
            <a:avLst/>
          </a:prstGeom>
          <a:noFill/>
          <a:ln>
            <a:noFill/>
          </a:ln>
          <a:effectLst/>
        </p:spPr>
        <p:txBody>
          <a:bodyPr rtlCol="0" anchor="t" wrap="square"/>
          <a:lstStyle/>
          <a:p>
            <a:pPr algn="l"/>
            <a:r>
              <a:rPr sz="1400" b="0">
                <a:solidFill>
                  <a:srgbClr val="5F6B7A"/>
                </a:solidFill>
                <a:latin typeface="Meiryo"/>
              </a:rPr>
              <a:t>A層196名 + B層79名(現在の配信対象)</a:t>
            </a:r>
          </a:p>
        </p:txBody>
      </p:sp>
      <p:sp>
        <p:nvSpPr>
          <p:cNvPr id="18" name="Rectangle 17"/>
          <p:cNvSpPr/>
          <p:nvPr/>
        </p:nvSpPr>
        <p:spPr>
          <a:xfrm>
            <a:off x="502920" y="3886200"/>
            <a:ext cx="11183112" cy="365760"/>
          </a:xfrm>
          <a:prstGeom prst="rect">
            <a:avLst/>
          </a:prstGeom>
          <a:noFill/>
          <a:ln>
            <a:noFill/>
          </a:ln>
          <a:effectLst/>
        </p:spPr>
        <p:txBody>
          <a:bodyPr rtlCol="0" anchor="ctr" wrap="square"/>
          <a:lstStyle/>
          <a:p>
            <a:pPr algn="ctr"/>
            <a:r>
              <a:rPr sz="1400" b="0">
                <a:solidFill>
                  <a:srgbClr val="5F6B7A"/>
                </a:solidFill>
                <a:latin typeface="Meiryo"/>
              </a:rPr>
              <a:t>158名 + 275名 = 433名(A層316名・B層117名の内訳)</a:t>
            </a:r>
          </a:p>
        </p:txBody>
      </p:sp>
      <p:sp>
        <p:nvSpPr>
          <p:cNvPr id="19" name="Rectangle 18"/>
          <p:cNvSpPr/>
          <p:nvPr/>
        </p:nvSpPr>
        <p:spPr>
          <a:xfrm>
            <a:off x="502920" y="4389120"/>
            <a:ext cx="3429000" cy="914400"/>
          </a:xfrm>
          <a:prstGeom prst="rect">
            <a:avLst/>
          </a:prstGeom>
          <a:solidFill>
            <a:srgbClr val="E8602C"/>
          </a:solidFill>
          <a:ln>
            <a:noFill/>
          </a:ln>
          <a:effectLst/>
        </p:spPr>
        <p:txBody>
          <a:bodyPr rtlCol="0" anchor="ctr" wrap="square"/>
          <a:lstStyle/>
          <a:p>
            <a:pPr algn="ctr"/>
            <a:r>
              <a:rPr sz="1800" b="1">
                <a:solidFill>
                  <a:srgbClr val="FFFFFF"/>
                </a:solidFill>
                <a:latin typeface="Meiryo"/>
              </a:rPr>
              <a:t>① Targeting</a:t>
            </a:r>
          </a:p>
          <a:p>
            <a:pPr algn="ctr"/>
            <a:r>
              <a:rPr sz="1400" b="0">
                <a:solidFill>
                  <a:srgbClr val="FFFFFF"/>
                </a:solidFill>
                <a:latin typeface="Meiryo"/>
              </a:rPr>
              <a:t>新たな重点配信候補の抽出と見直し</a:t>
            </a:r>
          </a:p>
        </p:txBody>
      </p:sp>
      <p:sp>
        <p:nvSpPr>
          <p:cNvPr id="20" name="Right Arrow 19"/>
          <p:cNvSpPr/>
          <p:nvPr/>
        </p:nvSpPr>
        <p:spPr>
          <a:xfrm>
            <a:off x="3995928" y="4681728"/>
            <a:ext cx="274320" cy="329184"/>
          </a:xfrm>
          <a:prstGeom prst="rightArrow">
            <a:avLst/>
          </a:prstGeom>
          <a:solidFill>
            <a:srgbClr val="9DB4D8"/>
          </a:solidFill>
          <a:ln>
            <a:noFill/>
          </a:ln>
          <a:effectLst/>
        </p:spPr>
        <p:txBody>
          <a:bodyPr rtlCol="0" anchor="ctr"/>
          <a:lstStyle/>
          <a:p>
            <a:pPr algn="ctr"/>
          </a:p>
        </p:txBody>
      </p:sp>
      <p:sp>
        <p:nvSpPr>
          <p:cNvPr id="21" name="Rectangle 20"/>
          <p:cNvSpPr/>
          <p:nvPr/>
        </p:nvSpPr>
        <p:spPr>
          <a:xfrm>
            <a:off x="4343400" y="4389120"/>
            <a:ext cx="3429000" cy="914400"/>
          </a:xfrm>
          <a:prstGeom prst="rect">
            <a:avLst/>
          </a:prstGeom>
          <a:solidFill>
            <a:srgbClr val="0B2A5B"/>
          </a:solidFill>
          <a:ln>
            <a:noFill/>
          </a:ln>
          <a:effectLst/>
        </p:spPr>
        <p:txBody>
          <a:bodyPr rtlCol="0" anchor="ctr" wrap="square"/>
          <a:lstStyle/>
          <a:p>
            <a:pPr algn="ctr"/>
            <a:r>
              <a:rPr sz="1800" b="1">
                <a:solidFill>
                  <a:srgbClr val="FFFFFF"/>
                </a:solidFill>
                <a:latin typeface="Meiryo"/>
              </a:rPr>
              <a:t>② Personalization</a:t>
            </a:r>
          </a:p>
          <a:p>
            <a:pPr algn="ctr"/>
            <a:r>
              <a:rPr sz="1400" b="0">
                <a:solidFill>
                  <a:srgbClr val="FFFFFF"/>
                </a:solidFill>
                <a:latin typeface="Meiryo"/>
              </a:rPr>
              <a:t>診療科×理解度に応じた情報提供</a:t>
            </a:r>
          </a:p>
        </p:txBody>
      </p:sp>
      <p:sp>
        <p:nvSpPr>
          <p:cNvPr id="22" name="Right Arrow 21"/>
          <p:cNvSpPr/>
          <p:nvPr/>
        </p:nvSpPr>
        <p:spPr>
          <a:xfrm>
            <a:off x="7836408" y="4681728"/>
            <a:ext cx="274320" cy="329184"/>
          </a:xfrm>
          <a:prstGeom prst="rightArrow">
            <a:avLst/>
          </a:prstGeom>
          <a:solidFill>
            <a:srgbClr val="9DB4D8"/>
          </a:solidFill>
          <a:ln>
            <a:noFill/>
          </a:ln>
          <a:effectLst/>
        </p:spPr>
        <p:txBody>
          <a:bodyPr rtlCol="0" anchor="ctr"/>
          <a:lstStyle/>
          <a:p>
            <a:pPr algn="ctr"/>
          </a:p>
        </p:txBody>
      </p:sp>
      <p:sp>
        <p:nvSpPr>
          <p:cNvPr id="23" name="Rectangle 22"/>
          <p:cNvSpPr/>
          <p:nvPr/>
        </p:nvSpPr>
        <p:spPr>
          <a:xfrm>
            <a:off x="8183880" y="4389120"/>
            <a:ext cx="3429000" cy="914400"/>
          </a:xfrm>
          <a:prstGeom prst="rect">
            <a:avLst/>
          </a:prstGeom>
          <a:solidFill>
            <a:srgbClr val="0B2A5B"/>
          </a:solidFill>
          <a:ln>
            <a:noFill/>
          </a:ln>
          <a:effectLst/>
        </p:spPr>
        <p:txBody>
          <a:bodyPr rtlCol="0" anchor="ctr" wrap="square"/>
          <a:lstStyle/>
          <a:p>
            <a:pPr algn="ctr"/>
            <a:r>
              <a:rPr sz="1800" b="1">
                <a:solidFill>
                  <a:srgbClr val="FFFFFF"/>
                </a:solidFill>
                <a:latin typeface="Meiryo"/>
              </a:rPr>
              <a:t>③ Evaluation</a:t>
            </a:r>
          </a:p>
          <a:p>
            <a:pPr algn="ctr"/>
            <a:r>
              <a:rPr sz="1400" b="0">
                <a:solidFill>
                  <a:srgbClr val="FFFFFF"/>
                </a:solidFill>
                <a:latin typeface="Meiryo"/>
              </a:rPr>
              <a:t>既読・理解度・処方状況を継続確認</a:t>
            </a:r>
          </a:p>
        </p:txBody>
      </p:sp>
      <p:sp>
        <p:nvSpPr>
          <p:cNvPr id="24" name="Rectangle 23"/>
          <p:cNvSpPr/>
          <p:nvPr/>
        </p:nvSpPr>
        <p:spPr>
          <a:xfrm>
            <a:off x="502920" y="5486400"/>
            <a:ext cx="11183112" cy="777240"/>
          </a:xfrm>
          <a:prstGeom prst="rect">
            <a:avLst/>
          </a:prstGeom>
          <a:solidFill>
            <a:srgbClr val="FFF4EE"/>
          </a:solidFill>
          <a:ln w="15875">
            <a:solidFill>
              <a:srgbClr val="E8602C"/>
            </a:solidFill>
          </a:ln>
          <a:effectLst/>
        </p:spPr>
        <p:txBody>
          <a:bodyPr rtlCol="0" anchor="ctr" wrap="square" lIns="182880" rIns="182880"/>
          <a:lstStyle/>
          <a:p>
            <a:pPr algn="l">
              <a:spcAft>
                <a:spcPts val="200"/>
              </a:spcAft>
            </a:pPr>
            <a:r>
              <a:rPr sz="1500" b="1">
                <a:solidFill>
                  <a:srgbClr val="1B1B1B"/>
                </a:solidFill>
                <a:latin typeface="Meiryo"/>
              </a:rPr>
              <a:t>158名全員に配信できるかは未確認です。</a:t>
            </a:r>
            <a:r>
              <a:rPr sz="1500" b="0">
                <a:solidFill>
                  <a:srgbClr val="1B1B1B"/>
                </a:solidFill>
                <a:latin typeface="Meiryo"/>
              </a:rPr>
              <a:t>施策は未実施で、処方増加の効果は確認されていません。</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256032"/>
            <a:ext cx="9144000" cy="896112"/>
          </a:xfrm>
          <a:prstGeom prst="rect">
            <a:avLst/>
          </a:prstGeom>
          <a:noFill/>
          <a:ln>
            <a:noFill/>
          </a:ln>
          <a:effectLst/>
        </p:spPr>
        <p:txBody>
          <a:bodyPr rtlCol="0" anchor="ctr" wrap="square" lIns="0" rIns="0"/>
          <a:lstStyle/>
          <a:p>
            <a:pPr algn="l"/>
            <a:r>
              <a:rPr sz="2600" b="1">
                <a:solidFill>
                  <a:srgbClr val="0B2A5B"/>
                </a:solidFill>
                <a:latin typeface="Meiryo"/>
              </a:rPr>
              <a:t>潜在未処方の77%は内科・耳鼻咽喉科に集中</a:t>
            </a:r>
          </a:p>
        </p:txBody>
      </p:sp>
      <p:cxnSp>
        <p:nvCxnSpPr>
          <p:cNvPr id="3" name="Connector 2"/>
          <p:cNvCxnSpPr/>
          <p:nvPr/>
        </p:nvCxnSpPr>
        <p:spPr>
          <a:xfrm>
            <a:off x="502920" y="1207008"/>
            <a:ext cx="11183112" cy="0"/>
          </a:xfrm>
          <a:prstGeom prst="line">
            <a:avLst/>
          </a:prstGeom>
          <a:ln w="28575">
            <a:solidFill>
              <a:srgbClr val="0B2A5B"/>
            </a:solidFill>
          </a:ln>
        </p:spPr>
      </p:cxnSp>
      <p:sp>
        <p:nvSpPr>
          <p:cNvPr id="4" name="Rounded Rectangle 3"/>
          <p:cNvSpPr/>
          <p:nvPr/>
        </p:nvSpPr>
        <p:spPr>
          <a:xfrm>
            <a:off x="9829800" y="365760"/>
            <a:ext cx="1856231" cy="420624"/>
          </a:xfrm>
          <a:prstGeom prst="roundRect">
            <a:avLst/>
          </a:prstGeom>
          <a:solidFill>
            <a:srgbClr val="0B2A5B"/>
          </a:solidFill>
          <a:ln>
            <a:noFill/>
          </a:ln>
          <a:effectLst/>
        </p:spPr>
        <p:txBody>
          <a:bodyPr rtlCol="0" anchor="ctr" wrap="square" lIns="18288" rIns="18288"/>
          <a:lstStyle/>
          <a:p>
            <a:pPr algn="ctr"/>
            <a:r>
              <a:rPr sz="1200" b="1">
                <a:solidFill>
                  <a:srgbClr val="FFFFFF"/>
                </a:solidFill>
                <a:latin typeface="Meiryo"/>
              </a:rPr>
              <a:t>実測(2025〜2026年)</a:t>
            </a:r>
          </a:p>
        </p:txBody>
      </p:sp>
      <p:sp>
        <p:nvSpPr>
          <p:cNvPr id="5" name="Rectangle 4"/>
          <p:cNvSpPr/>
          <p:nvPr/>
        </p:nvSpPr>
        <p:spPr>
          <a:xfrm>
            <a:off x="502920" y="6400800"/>
            <a:ext cx="10881360" cy="329184"/>
          </a:xfrm>
          <a:prstGeom prst="rect">
            <a:avLst/>
          </a:prstGeom>
          <a:noFill/>
          <a:ln>
            <a:noFill/>
          </a:ln>
          <a:effectLst/>
        </p:spPr>
        <p:txBody>
          <a:bodyPr rtlCol="0" anchor="ctr" wrap="square" lIns="0" rIns="0"/>
          <a:lstStyle/>
          <a:p>
            <a:pPr algn="l"/>
            <a:r>
              <a:rPr sz="1050" b="0">
                <a:solidFill>
                  <a:srgbClr val="5F6B7A"/>
                </a:solidFill>
                <a:latin typeface="Meiryo"/>
              </a:rPr>
              <a:t>出典: 2026年アンケート 回答医師5,000名(患者数は直近1年・自己申告)。内科9,538人、耳鼻咽喉科8,128人、小児科3,988人、眼科1,280人、合計22,934人。</a:t>
            </a:r>
          </a:p>
        </p:txBody>
      </p:sp>
      <p:sp>
        <p:nvSpPr>
          <p:cNvPr id="6" name="Rectangle 5"/>
          <p:cNvSpPr/>
          <p:nvPr/>
        </p:nvSpPr>
        <p:spPr>
          <a:xfrm>
            <a:off x="11155680" y="6400800"/>
            <a:ext cx="530352" cy="329184"/>
          </a:xfrm>
          <a:prstGeom prst="rect">
            <a:avLst/>
          </a:prstGeom>
          <a:noFill/>
          <a:ln>
            <a:noFill/>
          </a:ln>
          <a:effectLst/>
        </p:spPr>
        <p:txBody>
          <a:bodyPr rtlCol="0" anchor="ctr" wrap="square" lIns="0" rIns="0"/>
          <a:lstStyle/>
          <a:p>
            <a:pPr algn="r"/>
            <a:r>
              <a:rPr sz="1100" b="0">
                <a:solidFill>
                  <a:srgbClr val="5F6B7A"/>
                </a:solidFill>
                <a:latin typeface="Meiryo"/>
              </a:rPr>
              <a:t>2</a:t>
            </a:r>
          </a:p>
        </p:txBody>
      </p:sp>
      <p:sp>
        <p:nvSpPr>
          <p:cNvPr id="7" name="Rectangle 6"/>
          <p:cNvSpPr/>
          <p:nvPr/>
        </p:nvSpPr>
        <p:spPr>
          <a:xfrm>
            <a:off x="502920" y="1371600"/>
            <a:ext cx="6766560" cy="365760"/>
          </a:xfrm>
          <a:prstGeom prst="rect">
            <a:avLst/>
          </a:prstGeom>
          <a:noFill/>
          <a:ln>
            <a:noFill/>
          </a:ln>
          <a:effectLst/>
        </p:spPr>
        <p:txBody>
          <a:bodyPr rtlCol="0" anchor="t" wrap="square"/>
          <a:lstStyle/>
          <a:p>
            <a:pPr algn="l"/>
            <a:r>
              <a:rPr sz="1500" b="1">
                <a:solidFill>
                  <a:srgbClr val="0B2A5B"/>
                </a:solidFill>
                <a:latin typeface="Meiryo"/>
              </a:rPr>
              <a:t>診療科別の潜在未処方患者数(人)</a:t>
            </a:r>
          </a:p>
        </p:txBody>
      </p:sp>
      <p:graphicFrame>
        <p:nvGraphicFramePr>
          <p:cNvPr id="8" name="Chart 7"/>
          <p:cNvGraphicFramePr>
            <a:graphicFrameLocks noGrp="1"/>
          </p:cNvGraphicFramePr>
          <p:nvPr/>
        </p:nvGraphicFramePr>
        <p:xfrm>
          <a:off x="502920" y="1737360"/>
          <a:ext cx="6766560" cy="3246120"/>
        </p:xfrm>
        <a:graphic>
          <a:graphicData uri="http://schemas.openxmlformats.org/drawingml/2006/chart">
            <c:chart xmlns:c="http://schemas.openxmlformats.org/drawingml/2006/chart" r:id="rId3"/>
          </a:graphicData>
        </a:graphic>
      </p:graphicFrame>
      <p:sp>
        <p:nvSpPr>
          <p:cNvPr id="9" name="Rectangle 8"/>
          <p:cNvSpPr/>
          <p:nvPr/>
        </p:nvSpPr>
        <p:spPr>
          <a:xfrm>
            <a:off x="7589520" y="1417320"/>
            <a:ext cx="4096512" cy="1783080"/>
          </a:xfrm>
          <a:prstGeom prst="rect">
            <a:avLst/>
          </a:prstGeom>
          <a:solidFill>
            <a:srgbClr val="F1F4F9"/>
          </a:solidFill>
          <a:ln>
            <a:noFill/>
          </a:ln>
          <a:effectLst/>
        </p:spPr>
        <p:txBody>
          <a:bodyPr rtlCol="0" anchor="ctr"/>
          <a:lstStyle/>
          <a:p>
            <a:pPr algn="ctr"/>
          </a:p>
        </p:txBody>
      </p:sp>
      <p:sp>
        <p:nvSpPr>
          <p:cNvPr id="10" name="Rectangle 9"/>
          <p:cNvSpPr/>
          <p:nvPr/>
        </p:nvSpPr>
        <p:spPr>
          <a:xfrm>
            <a:off x="7589520" y="1417320"/>
            <a:ext cx="109728" cy="1783080"/>
          </a:xfrm>
          <a:prstGeom prst="rect">
            <a:avLst/>
          </a:prstGeom>
          <a:solidFill>
            <a:srgbClr val="E8602C"/>
          </a:solidFill>
          <a:ln>
            <a:noFill/>
          </a:ln>
          <a:effectLst/>
        </p:spPr>
        <p:txBody>
          <a:bodyPr rtlCol="0" anchor="ctr"/>
          <a:lstStyle/>
          <a:p>
            <a:pPr algn="ctr"/>
          </a:p>
        </p:txBody>
      </p:sp>
      <p:sp>
        <p:nvSpPr>
          <p:cNvPr id="11" name="Rectangle 10"/>
          <p:cNvSpPr/>
          <p:nvPr/>
        </p:nvSpPr>
        <p:spPr>
          <a:xfrm>
            <a:off x="7818120" y="1417320"/>
            <a:ext cx="3840480" cy="1097280"/>
          </a:xfrm>
          <a:prstGeom prst="rect">
            <a:avLst/>
          </a:prstGeom>
          <a:noFill/>
          <a:ln>
            <a:noFill/>
          </a:ln>
          <a:effectLst/>
        </p:spPr>
        <p:txBody>
          <a:bodyPr rtlCol="0" anchor="ctr" wrap="square"/>
          <a:lstStyle/>
          <a:p>
            <a:pPr algn="l"/>
            <a:r>
              <a:rPr sz="6000" b="1">
                <a:solidFill>
                  <a:srgbClr val="0B2A5B"/>
                </a:solidFill>
                <a:latin typeface="Meiryo"/>
              </a:rPr>
              <a:t>77.0%</a:t>
            </a:r>
          </a:p>
        </p:txBody>
      </p:sp>
      <p:sp>
        <p:nvSpPr>
          <p:cNvPr id="12" name="Rectangle 11"/>
          <p:cNvSpPr/>
          <p:nvPr/>
        </p:nvSpPr>
        <p:spPr>
          <a:xfrm>
            <a:off x="7818120" y="2468880"/>
            <a:ext cx="3840480" cy="640080"/>
          </a:xfrm>
          <a:prstGeom prst="rect">
            <a:avLst/>
          </a:prstGeom>
          <a:noFill/>
          <a:ln>
            <a:noFill/>
          </a:ln>
          <a:effectLst/>
        </p:spPr>
        <p:txBody>
          <a:bodyPr rtlCol="0" anchor="t" wrap="square"/>
          <a:lstStyle/>
          <a:p>
            <a:pPr algn="l"/>
            <a:r>
              <a:rPr sz="1600" b="1">
                <a:solidFill>
                  <a:srgbClr val="1B1B1B"/>
                </a:solidFill>
                <a:latin typeface="Meiryo"/>
              </a:rPr>
              <a:t>内科+耳鼻咽喉科 17,666人</a:t>
            </a:r>
          </a:p>
          <a:p>
            <a:pPr algn="l"/>
            <a:r>
              <a:rPr sz="1400" b="0">
                <a:solidFill>
                  <a:srgbClr val="5F6B7A"/>
                </a:solidFill>
                <a:latin typeface="Meiryo"/>
              </a:rPr>
              <a:t>(全体22,934人)</a:t>
            </a:r>
          </a:p>
        </p:txBody>
      </p:sp>
      <p:sp>
        <p:nvSpPr>
          <p:cNvPr id="13" name="Rectangle 12"/>
          <p:cNvSpPr/>
          <p:nvPr/>
        </p:nvSpPr>
        <p:spPr>
          <a:xfrm>
            <a:off x="7589520" y="3383280"/>
            <a:ext cx="4096512" cy="1600200"/>
          </a:xfrm>
          <a:prstGeom prst="rect">
            <a:avLst/>
          </a:prstGeom>
          <a:noFill/>
          <a:ln w="15875">
            <a:solidFill>
              <a:srgbClr val="0B2A5B"/>
            </a:solidFill>
          </a:ln>
          <a:effectLst/>
        </p:spPr>
        <p:txBody>
          <a:bodyPr rtlCol="0" anchor="ctr" wrap="square" lIns="182880" rIns="182880"/>
          <a:lstStyle/>
          <a:p>
            <a:pPr algn="l">
              <a:spcAft>
                <a:spcPts val="400"/>
              </a:spcAft>
            </a:pPr>
            <a:r>
              <a:rPr sz="1400" b="1">
                <a:solidFill>
                  <a:srgbClr val="E8602C"/>
                </a:solidFill>
                <a:latin typeface="Meiryo"/>
              </a:rPr>
              <a:t>示唆</a:t>
            </a:r>
          </a:p>
          <a:p>
            <a:pPr algn="l">
              <a:spcAft>
                <a:spcPts val="400"/>
              </a:spcAft>
            </a:pPr>
            <a:r>
              <a:rPr sz="1800" b="1">
                <a:solidFill>
                  <a:srgbClr val="0B2A5B"/>
                </a:solidFill>
                <a:latin typeface="Meiryo"/>
              </a:rPr>
              <a:t>まず内科・耳鼻咽喉科を重点診療科として検討する</a:t>
            </a:r>
          </a:p>
        </p:txBody>
      </p:sp>
      <p:sp>
        <p:nvSpPr>
          <p:cNvPr id="14" name="Rectangle 13"/>
          <p:cNvSpPr/>
          <p:nvPr/>
        </p:nvSpPr>
        <p:spPr>
          <a:xfrm>
            <a:off x="502920" y="5257800"/>
            <a:ext cx="11183112" cy="1005840"/>
          </a:xfrm>
          <a:prstGeom prst="rect">
            <a:avLst/>
          </a:prstGeom>
          <a:solidFill>
            <a:srgbClr val="FFF4EE"/>
          </a:solidFill>
          <a:ln w="15875">
            <a:solidFill>
              <a:srgbClr val="E8602C"/>
            </a:solidFill>
          </a:ln>
          <a:effectLst/>
        </p:spPr>
        <p:txBody>
          <a:bodyPr rtlCol="0" anchor="ctr" wrap="square" lIns="182880" rIns="182880"/>
          <a:lstStyle/>
          <a:p>
            <a:pPr algn="l">
              <a:spcAft>
                <a:spcPts val="200"/>
              </a:spcAft>
            </a:pPr>
            <a:r>
              <a:rPr sz="1500" b="1">
                <a:solidFill>
                  <a:srgbClr val="1B1B1B"/>
                </a:solidFill>
                <a:latin typeface="Meiryo"/>
              </a:rPr>
              <a:t>潜在未処方 = 花粉症患者数 − 薬剤A処方患者数</a:t>
            </a:r>
          </a:p>
          <a:p>
            <a:pPr algn="l">
              <a:spcAft>
                <a:spcPts val="200"/>
              </a:spcAft>
            </a:pPr>
            <a:r>
              <a:rPr sz="1500" b="0">
                <a:solidFill>
                  <a:srgbClr val="1B1B1B"/>
                </a:solidFill>
                <a:latin typeface="Meiryo"/>
              </a:rPr>
              <a:t>自己申告ベースの理論値です。実際に処方へ転換できる患者数ではありません。</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256032"/>
            <a:ext cx="9144000" cy="896112"/>
          </a:xfrm>
          <a:prstGeom prst="rect">
            <a:avLst/>
          </a:prstGeom>
          <a:noFill/>
          <a:ln>
            <a:noFill/>
          </a:ln>
          <a:effectLst/>
        </p:spPr>
        <p:txBody>
          <a:bodyPr rtlCol="0" anchor="ctr" wrap="square" lIns="0" rIns="0"/>
          <a:lstStyle/>
          <a:p>
            <a:pPr algn="l"/>
            <a:r>
              <a:rPr sz="2600" b="1">
                <a:solidFill>
                  <a:srgbClr val="0B2A5B"/>
                </a:solidFill>
                <a:latin typeface="Meiryo"/>
              </a:rPr>
              <a:t>21%の医師に、潜在未処方の41%が集中</a:t>
            </a:r>
          </a:p>
        </p:txBody>
      </p:sp>
      <p:cxnSp>
        <p:nvCxnSpPr>
          <p:cNvPr id="3" name="Connector 2"/>
          <p:cNvCxnSpPr/>
          <p:nvPr/>
        </p:nvCxnSpPr>
        <p:spPr>
          <a:xfrm>
            <a:off x="502920" y="1207008"/>
            <a:ext cx="11183112" cy="0"/>
          </a:xfrm>
          <a:prstGeom prst="line">
            <a:avLst/>
          </a:prstGeom>
          <a:ln w="28575">
            <a:solidFill>
              <a:srgbClr val="0B2A5B"/>
            </a:solidFill>
          </a:ln>
        </p:spPr>
      </p:cxnSp>
      <p:sp>
        <p:nvSpPr>
          <p:cNvPr id="4" name="Rounded Rectangle 3"/>
          <p:cNvSpPr/>
          <p:nvPr/>
        </p:nvSpPr>
        <p:spPr>
          <a:xfrm>
            <a:off x="9829800" y="365760"/>
            <a:ext cx="1856231" cy="420624"/>
          </a:xfrm>
          <a:prstGeom prst="roundRect">
            <a:avLst/>
          </a:prstGeom>
          <a:solidFill>
            <a:srgbClr val="0B2A5B"/>
          </a:solidFill>
          <a:ln>
            <a:noFill/>
          </a:ln>
          <a:effectLst/>
        </p:spPr>
        <p:txBody>
          <a:bodyPr rtlCol="0" anchor="ctr" wrap="square" lIns="18288" rIns="18288"/>
          <a:lstStyle/>
          <a:p>
            <a:pPr algn="ctr"/>
            <a:r>
              <a:rPr sz="1200" b="1">
                <a:solidFill>
                  <a:srgbClr val="FFFFFF"/>
                </a:solidFill>
                <a:latin typeface="Meiryo"/>
              </a:rPr>
              <a:t>実測(2025〜2026年)</a:t>
            </a:r>
          </a:p>
        </p:txBody>
      </p:sp>
      <p:sp>
        <p:nvSpPr>
          <p:cNvPr id="5" name="Rectangle 4"/>
          <p:cNvSpPr/>
          <p:nvPr/>
        </p:nvSpPr>
        <p:spPr>
          <a:xfrm>
            <a:off x="502920" y="6400800"/>
            <a:ext cx="10881360" cy="329184"/>
          </a:xfrm>
          <a:prstGeom prst="rect">
            <a:avLst/>
          </a:prstGeom>
          <a:noFill/>
          <a:ln>
            <a:noFill/>
          </a:ln>
          <a:effectLst/>
        </p:spPr>
        <p:txBody>
          <a:bodyPr rtlCol="0" anchor="ctr" wrap="square" lIns="0" rIns="0"/>
          <a:lstStyle/>
          <a:p>
            <a:pPr algn="l"/>
            <a:r>
              <a:rPr sz="1050" b="0">
                <a:solidFill>
                  <a:srgbClr val="5F6B7A"/>
                </a:solidFill>
                <a:latin typeface="Meiryo"/>
              </a:rPr>
              <a:t>出典: 2026年アンケート(内科・耳鼻咽喉科の回答医師)。基準を7人以上(1,001名・52.6%)、10人以上(336名・23.3%)に変えても、少数の医師に集中する構造は同じです。</a:t>
            </a:r>
          </a:p>
        </p:txBody>
      </p:sp>
      <p:sp>
        <p:nvSpPr>
          <p:cNvPr id="6" name="Rectangle 5"/>
          <p:cNvSpPr/>
          <p:nvPr/>
        </p:nvSpPr>
        <p:spPr>
          <a:xfrm>
            <a:off x="11155680" y="6400800"/>
            <a:ext cx="530352" cy="329184"/>
          </a:xfrm>
          <a:prstGeom prst="rect">
            <a:avLst/>
          </a:prstGeom>
          <a:noFill/>
          <a:ln>
            <a:noFill/>
          </a:ln>
          <a:effectLst/>
        </p:spPr>
        <p:txBody>
          <a:bodyPr rtlCol="0" anchor="ctr" wrap="square" lIns="0" rIns="0"/>
          <a:lstStyle/>
          <a:p>
            <a:pPr algn="r"/>
            <a:r>
              <a:rPr sz="1100" b="0">
                <a:solidFill>
                  <a:srgbClr val="5F6B7A"/>
                </a:solidFill>
                <a:latin typeface="Meiryo"/>
              </a:rPr>
              <a:t>3</a:t>
            </a:r>
          </a:p>
        </p:txBody>
      </p:sp>
      <p:sp>
        <p:nvSpPr>
          <p:cNvPr id="7" name="Rectangle 6"/>
          <p:cNvSpPr/>
          <p:nvPr/>
        </p:nvSpPr>
        <p:spPr>
          <a:xfrm>
            <a:off x="502920" y="1554480"/>
            <a:ext cx="1554480" cy="1051560"/>
          </a:xfrm>
          <a:prstGeom prst="rect">
            <a:avLst/>
          </a:prstGeom>
          <a:noFill/>
          <a:ln>
            <a:noFill/>
          </a:ln>
          <a:effectLst/>
        </p:spPr>
        <p:txBody>
          <a:bodyPr rtlCol="0" anchor="ctr" wrap="square"/>
          <a:lstStyle/>
          <a:p>
            <a:pPr algn="l"/>
            <a:r>
              <a:rPr sz="1800" b="1">
                <a:solidFill>
                  <a:srgbClr val="0B2A5B"/>
                </a:solidFill>
                <a:latin typeface="Meiryo"/>
              </a:rPr>
              <a:t>医師数</a:t>
            </a:r>
          </a:p>
        </p:txBody>
      </p:sp>
      <p:sp>
        <p:nvSpPr>
          <p:cNvPr id="8" name="Rectangle 7"/>
          <p:cNvSpPr/>
          <p:nvPr/>
        </p:nvSpPr>
        <p:spPr>
          <a:xfrm>
            <a:off x="2103120" y="1554480"/>
            <a:ext cx="6766560" cy="1051560"/>
          </a:xfrm>
          <a:prstGeom prst="rect">
            <a:avLst/>
          </a:prstGeom>
          <a:solidFill>
            <a:srgbClr val="DCE6F5"/>
          </a:solidFill>
          <a:ln>
            <a:noFill/>
          </a:ln>
          <a:effectLst/>
        </p:spPr>
        <p:txBody>
          <a:bodyPr rtlCol="0" anchor="ctr"/>
          <a:lstStyle/>
          <a:p>
            <a:pPr algn="ctr"/>
          </a:p>
        </p:txBody>
      </p:sp>
      <p:sp>
        <p:nvSpPr>
          <p:cNvPr id="9" name="Rectangle 8"/>
          <p:cNvSpPr/>
          <p:nvPr/>
        </p:nvSpPr>
        <p:spPr>
          <a:xfrm>
            <a:off x="3657600" y="1554480"/>
            <a:ext cx="5120640" cy="1051560"/>
          </a:xfrm>
          <a:prstGeom prst="rect">
            <a:avLst/>
          </a:prstGeom>
          <a:noFill/>
          <a:ln>
            <a:noFill/>
          </a:ln>
          <a:effectLst/>
        </p:spPr>
        <p:txBody>
          <a:bodyPr rtlCol="0" anchor="ctr" wrap="square"/>
          <a:lstStyle/>
          <a:p>
            <a:pPr algn="r"/>
            <a:r>
              <a:rPr sz="1500" b="0">
                <a:solidFill>
                  <a:srgbClr val="0B2A5B"/>
                </a:solidFill>
                <a:latin typeface="Meiryo"/>
              </a:rPr>
              <a:t>内科・耳鼻咽喉科の回答医師  3,286名</a:t>
            </a:r>
          </a:p>
        </p:txBody>
      </p:sp>
      <p:sp>
        <p:nvSpPr>
          <p:cNvPr id="10" name="Rectangle 9"/>
          <p:cNvSpPr/>
          <p:nvPr/>
        </p:nvSpPr>
        <p:spPr>
          <a:xfrm>
            <a:off x="2103120" y="1554480"/>
            <a:ext cx="1441277" cy="1051560"/>
          </a:xfrm>
          <a:prstGeom prst="rect">
            <a:avLst/>
          </a:prstGeom>
          <a:solidFill>
            <a:srgbClr val="0B2A5B"/>
          </a:solidFill>
          <a:ln>
            <a:noFill/>
          </a:ln>
          <a:effectLst/>
        </p:spPr>
        <p:txBody>
          <a:bodyPr rtlCol="0" anchor="ctr" wrap="square" lIns="18288" rIns="18288"/>
          <a:lstStyle/>
          <a:p>
            <a:pPr algn="ctr"/>
            <a:r>
              <a:rPr sz="2000" b="1">
                <a:solidFill>
                  <a:srgbClr val="FFFFFF"/>
                </a:solidFill>
                <a:latin typeface="Meiryo"/>
              </a:rPr>
              <a:t>701名</a:t>
            </a:r>
          </a:p>
        </p:txBody>
      </p:sp>
      <p:sp>
        <p:nvSpPr>
          <p:cNvPr id="11" name="Rectangle 10"/>
          <p:cNvSpPr/>
          <p:nvPr/>
        </p:nvSpPr>
        <p:spPr>
          <a:xfrm>
            <a:off x="9052560" y="1554480"/>
            <a:ext cx="2633472" cy="1051560"/>
          </a:xfrm>
          <a:prstGeom prst="rect">
            <a:avLst/>
          </a:prstGeom>
          <a:noFill/>
          <a:ln>
            <a:noFill/>
          </a:ln>
          <a:effectLst/>
        </p:spPr>
        <p:txBody>
          <a:bodyPr rtlCol="0" anchor="ctr" wrap="square"/>
          <a:lstStyle/>
          <a:p>
            <a:pPr algn="ctr"/>
            <a:r>
              <a:rPr sz="4400" b="1">
                <a:solidFill>
                  <a:srgbClr val="0B2A5B"/>
                </a:solidFill>
                <a:latin typeface="Meiryo"/>
              </a:rPr>
              <a:t>21.3%</a:t>
            </a:r>
          </a:p>
        </p:txBody>
      </p:sp>
      <p:sp>
        <p:nvSpPr>
          <p:cNvPr id="12" name="Rectangle 11"/>
          <p:cNvSpPr/>
          <p:nvPr/>
        </p:nvSpPr>
        <p:spPr>
          <a:xfrm>
            <a:off x="502920" y="3154680"/>
            <a:ext cx="1554480" cy="1051560"/>
          </a:xfrm>
          <a:prstGeom prst="rect">
            <a:avLst/>
          </a:prstGeom>
          <a:noFill/>
          <a:ln>
            <a:noFill/>
          </a:ln>
          <a:effectLst/>
        </p:spPr>
        <p:txBody>
          <a:bodyPr rtlCol="0" anchor="ctr" wrap="square"/>
          <a:lstStyle/>
          <a:p>
            <a:pPr algn="l"/>
            <a:r>
              <a:rPr sz="1800" b="1">
                <a:solidFill>
                  <a:srgbClr val="0B2A5B"/>
                </a:solidFill>
                <a:latin typeface="Meiryo"/>
              </a:rPr>
              <a:t>潜在未処方</a:t>
            </a:r>
          </a:p>
        </p:txBody>
      </p:sp>
      <p:sp>
        <p:nvSpPr>
          <p:cNvPr id="13" name="Rectangle 12"/>
          <p:cNvSpPr/>
          <p:nvPr/>
        </p:nvSpPr>
        <p:spPr>
          <a:xfrm>
            <a:off x="2103120" y="3154680"/>
            <a:ext cx="6766560" cy="1051560"/>
          </a:xfrm>
          <a:prstGeom prst="rect">
            <a:avLst/>
          </a:prstGeom>
          <a:solidFill>
            <a:srgbClr val="DCE6F5"/>
          </a:solidFill>
          <a:ln>
            <a:noFill/>
          </a:ln>
          <a:effectLst/>
        </p:spPr>
        <p:txBody>
          <a:bodyPr rtlCol="0" anchor="ctr"/>
          <a:lstStyle/>
          <a:p>
            <a:pPr algn="ctr"/>
          </a:p>
        </p:txBody>
      </p:sp>
      <p:sp>
        <p:nvSpPr>
          <p:cNvPr id="14" name="Rectangle 13"/>
          <p:cNvSpPr/>
          <p:nvPr/>
        </p:nvSpPr>
        <p:spPr>
          <a:xfrm>
            <a:off x="3657600" y="3154680"/>
            <a:ext cx="5120640" cy="1051560"/>
          </a:xfrm>
          <a:prstGeom prst="rect">
            <a:avLst/>
          </a:prstGeom>
          <a:noFill/>
          <a:ln>
            <a:noFill/>
          </a:ln>
          <a:effectLst/>
        </p:spPr>
        <p:txBody>
          <a:bodyPr rtlCol="0" anchor="ctr" wrap="square"/>
          <a:lstStyle/>
          <a:p>
            <a:pPr algn="r"/>
            <a:r>
              <a:rPr sz="1500" b="0">
                <a:solidFill>
                  <a:srgbClr val="0B2A5B"/>
                </a:solidFill>
                <a:latin typeface="Meiryo"/>
              </a:rPr>
              <a:t>両診療科の潜在未処方  17,666人</a:t>
            </a:r>
          </a:p>
        </p:txBody>
      </p:sp>
      <p:sp>
        <p:nvSpPr>
          <p:cNvPr id="15" name="Rectangle 14"/>
          <p:cNvSpPr/>
          <p:nvPr/>
        </p:nvSpPr>
        <p:spPr>
          <a:xfrm>
            <a:off x="2103120" y="3154680"/>
            <a:ext cx="2753989" cy="1051560"/>
          </a:xfrm>
          <a:prstGeom prst="rect">
            <a:avLst/>
          </a:prstGeom>
          <a:solidFill>
            <a:srgbClr val="E8602C"/>
          </a:solidFill>
          <a:ln>
            <a:noFill/>
          </a:ln>
          <a:effectLst/>
        </p:spPr>
        <p:txBody>
          <a:bodyPr rtlCol="0" anchor="ctr" wrap="square" lIns="18288" rIns="18288"/>
          <a:lstStyle/>
          <a:p>
            <a:pPr algn="ctr"/>
            <a:r>
              <a:rPr sz="2000" b="1">
                <a:solidFill>
                  <a:srgbClr val="FFFFFF"/>
                </a:solidFill>
                <a:latin typeface="Meiryo"/>
              </a:rPr>
              <a:t>7,187人</a:t>
            </a:r>
          </a:p>
        </p:txBody>
      </p:sp>
      <p:sp>
        <p:nvSpPr>
          <p:cNvPr id="16" name="Rectangle 15"/>
          <p:cNvSpPr/>
          <p:nvPr/>
        </p:nvSpPr>
        <p:spPr>
          <a:xfrm>
            <a:off x="9052560" y="3154680"/>
            <a:ext cx="2633472" cy="1051560"/>
          </a:xfrm>
          <a:prstGeom prst="rect">
            <a:avLst/>
          </a:prstGeom>
          <a:noFill/>
          <a:ln>
            <a:noFill/>
          </a:ln>
          <a:effectLst/>
        </p:spPr>
        <p:txBody>
          <a:bodyPr rtlCol="0" anchor="ctr" wrap="square"/>
          <a:lstStyle/>
          <a:p>
            <a:pPr algn="ctr"/>
            <a:r>
              <a:rPr sz="4400" b="1">
                <a:solidFill>
                  <a:srgbClr val="E8602C"/>
                </a:solidFill>
                <a:latin typeface="Meiryo"/>
              </a:rPr>
              <a:t>40.7%</a:t>
            </a:r>
          </a:p>
        </p:txBody>
      </p:sp>
      <p:sp>
        <p:nvSpPr>
          <p:cNvPr id="17" name="Rectangle 16"/>
          <p:cNvSpPr/>
          <p:nvPr/>
        </p:nvSpPr>
        <p:spPr>
          <a:xfrm>
            <a:off x="502920" y="4389120"/>
            <a:ext cx="11183112" cy="822960"/>
          </a:xfrm>
          <a:prstGeom prst="rect">
            <a:avLst/>
          </a:prstGeom>
          <a:noFill/>
          <a:ln>
            <a:noFill/>
          </a:ln>
          <a:effectLst/>
        </p:spPr>
        <p:txBody>
          <a:bodyPr rtlCol="0" anchor="ctr" wrap="square"/>
          <a:lstStyle/>
          <a:p>
            <a:pPr algn="ctr"/>
            <a:r>
              <a:rPr sz="1800" b="1">
                <a:solidFill>
                  <a:srgbClr val="0B2A5B"/>
                </a:solidFill>
                <a:latin typeface="Meiryo"/>
              </a:rPr>
              <a:t>潜在未処方が8人以上の </a:t>
            </a:r>
            <a:r>
              <a:rPr sz="1800" b="1">
                <a:solidFill>
                  <a:srgbClr val="E8602C"/>
                </a:solidFill>
                <a:latin typeface="Meiryo"/>
              </a:rPr>
              <a:t>701名</a:t>
            </a:r>
            <a:r>
              <a:rPr sz="1800" b="1">
                <a:solidFill>
                  <a:srgbClr val="0B2A5B"/>
                </a:solidFill>
                <a:latin typeface="Meiryo"/>
              </a:rPr>
              <a:t> を重点候補にする。限られたリソースを一律に使わず、まず患者規模の大きい医師へ。</a:t>
            </a:r>
          </a:p>
        </p:txBody>
      </p:sp>
      <p:sp>
        <p:nvSpPr>
          <p:cNvPr id="18" name="Rectangle 17"/>
          <p:cNvSpPr/>
          <p:nvPr/>
        </p:nvSpPr>
        <p:spPr>
          <a:xfrm>
            <a:off x="502920" y="5349240"/>
            <a:ext cx="11183112" cy="868680"/>
          </a:xfrm>
          <a:prstGeom prst="rect">
            <a:avLst/>
          </a:prstGeom>
          <a:solidFill>
            <a:srgbClr val="FFF4EE"/>
          </a:solidFill>
          <a:ln w="15875">
            <a:solidFill>
              <a:srgbClr val="E8602C"/>
            </a:solidFill>
          </a:ln>
          <a:effectLst/>
        </p:spPr>
        <p:txBody>
          <a:bodyPr rtlCol="0" anchor="ctr" wrap="square" lIns="182880" rIns="182880"/>
          <a:lstStyle/>
          <a:p>
            <a:pPr algn="l">
              <a:spcAft>
                <a:spcPts val="200"/>
              </a:spcAft>
            </a:pPr>
            <a:r>
              <a:rPr sz="1500" b="0">
                <a:solidFill>
                  <a:srgbClr val="1B1B1B"/>
                </a:solidFill>
                <a:latin typeface="Meiryo"/>
              </a:rPr>
              <a:t>患者規模が大きいことは、情報提供への反応や投資効率の高さを証明するものではありません。次のページで医師の状態を見ます。</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256032"/>
            <a:ext cx="9144000" cy="896112"/>
          </a:xfrm>
          <a:prstGeom prst="rect">
            <a:avLst/>
          </a:prstGeom>
          <a:noFill/>
          <a:ln>
            <a:noFill/>
          </a:ln>
          <a:effectLst/>
        </p:spPr>
        <p:txBody>
          <a:bodyPr rtlCol="0" anchor="ctr" wrap="square" lIns="0" rIns="0"/>
          <a:lstStyle/>
          <a:p>
            <a:pPr algn="l"/>
            <a:r>
              <a:rPr sz="2600" b="1">
                <a:solidFill>
                  <a:srgbClr val="0B2A5B"/>
                </a:solidFill>
                <a:latin typeface="Meiryo"/>
              </a:rPr>
              <a:t>医師の理解度と重視する特性には違いがある</a:t>
            </a:r>
          </a:p>
        </p:txBody>
      </p:sp>
      <p:cxnSp>
        <p:nvCxnSpPr>
          <p:cNvPr id="3" name="Connector 2"/>
          <p:cNvCxnSpPr/>
          <p:nvPr/>
        </p:nvCxnSpPr>
        <p:spPr>
          <a:xfrm>
            <a:off x="502920" y="1207008"/>
            <a:ext cx="11183112" cy="0"/>
          </a:xfrm>
          <a:prstGeom prst="line">
            <a:avLst/>
          </a:prstGeom>
          <a:ln w="28575">
            <a:solidFill>
              <a:srgbClr val="0B2A5B"/>
            </a:solidFill>
          </a:ln>
        </p:spPr>
      </p:cxnSp>
      <p:sp>
        <p:nvSpPr>
          <p:cNvPr id="4" name="Rounded Rectangle 3"/>
          <p:cNvSpPr/>
          <p:nvPr/>
        </p:nvSpPr>
        <p:spPr>
          <a:xfrm>
            <a:off x="9829800" y="365760"/>
            <a:ext cx="1856231" cy="420624"/>
          </a:xfrm>
          <a:prstGeom prst="roundRect">
            <a:avLst/>
          </a:prstGeom>
          <a:solidFill>
            <a:srgbClr val="0B2A5B"/>
          </a:solidFill>
          <a:ln>
            <a:noFill/>
          </a:ln>
          <a:effectLst/>
        </p:spPr>
        <p:txBody>
          <a:bodyPr rtlCol="0" anchor="ctr" wrap="square" lIns="18288" rIns="18288"/>
          <a:lstStyle/>
          <a:p>
            <a:pPr algn="ctr"/>
            <a:r>
              <a:rPr sz="1200" b="1">
                <a:solidFill>
                  <a:srgbClr val="FFFFFF"/>
                </a:solidFill>
                <a:latin typeface="Meiryo"/>
              </a:rPr>
              <a:t>実測(2025〜2026年)</a:t>
            </a:r>
          </a:p>
        </p:txBody>
      </p:sp>
      <p:sp>
        <p:nvSpPr>
          <p:cNvPr id="5" name="Rectangle 4"/>
          <p:cNvSpPr/>
          <p:nvPr/>
        </p:nvSpPr>
        <p:spPr>
          <a:xfrm>
            <a:off x="502920" y="6400800"/>
            <a:ext cx="10881360" cy="329184"/>
          </a:xfrm>
          <a:prstGeom prst="rect">
            <a:avLst/>
          </a:prstGeom>
          <a:noFill/>
          <a:ln>
            <a:noFill/>
          </a:ln>
          <a:effectLst/>
        </p:spPr>
        <p:txBody>
          <a:bodyPr rtlCol="0" anchor="ctr" wrap="square" lIns="0" rIns="0"/>
          <a:lstStyle/>
          <a:p>
            <a:pPr algn="l"/>
            <a:r>
              <a:rPr sz="1050" b="0">
                <a:solidFill>
                  <a:srgbClr val="5F6B7A"/>
                </a:solidFill>
                <a:latin typeface="Meiryo"/>
              </a:rPr>
              <a:t>出典: 2026年アンケート(高ポテンシャル701名)。理解度=薬剤Aの5特性の平均、処方意向=今後の処方意向(いずれも5段階)。</a:t>
            </a:r>
          </a:p>
        </p:txBody>
      </p:sp>
      <p:sp>
        <p:nvSpPr>
          <p:cNvPr id="6" name="Rectangle 5"/>
          <p:cNvSpPr/>
          <p:nvPr/>
        </p:nvSpPr>
        <p:spPr>
          <a:xfrm>
            <a:off x="11155680" y="6400800"/>
            <a:ext cx="530352" cy="329184"/>
          </a:xfrm>
          <a:prstGeom prst="rect">
            <a:avLst/>
          </a:prstGeom>
          <a:noFill/>
          <a:ln>
            <a:noFill/>
          </a:ln>
          <a:effectLst/>
        </p:spPr>
        <p:txBody>
          <a:bodyPr rtlCol="0" anchor="ctr" wrap="square" lIns="0" rIns="0"/>
          <a:lstStyle/>
          <a:p>
            <a:pPr algn="r"/>
            <a:r>
              <a:rPr sz="1100" b="0">
                <a:solidFill>
                  <a:srgbClr val="5F6B7A"/>
                </a:solidFill>
                <a:latin typeface="Meiryo"/>
              </a:rPr>
              <a:t>4</a:t>
            </a:r>
          </a:p>
        </p:txBody>
      </p:sp>
      <p:sp>
        <p:nvSpPr>
          <p:cNvPr id="7" name="Rectangle 6"/>
          <p:cNvSpPr/>
          <p:nvPr/>
        </p:nvSpPr>
        <p:spPr>
          <a:xfrm>
            <a:off x="502920" y="1371600"/>
            <a:ext cx="5577840" cy="365760"/>
          </a:xfrm>
          <a:prstGeom prst="rect">
            <a:avLst/>
          </a:prstGeom>
          <a:noFill/>
          <a:ln>
            <a:noFill/>
          </a:ln>
          <a:effectLst/>
        </p:spPr>
        <p:txBody>
          <a:bodyPr rtlCol="0" anchor="t" wrap="square"/>
          <a:lstStyle/>
          <a:p>
            <a:pPr algn="l"/>
            <a:r>
              <a:rPr sz="1500" b="1">
                <a:solidFill>
                  <a:srgbClr val="0B2A5B"/>
                </a:solidFill>
                <a:latin typeface="Meiryo"/>
              </a:rPr>
              <a:t>高ポテンシャル701名の中の2つの層</a:t>
            </a:r>
          </a:p>
        </p:txBody>
      </p:sp>
      <p:sp>
        <p:nvSpPr>
          <p:cNvPr id="8" name="Rectangle 7"/>
          <p:cNvSpPr/>
          <p:nvPr/>
        </p:nvSpPr>
        <p:spPr>
          <a:xfrm>
            <a:off x="502920" y="1783080"/>
            <a:ext cx="5577840" cy="1325880"/>
          </a:xfrm>
          <a:prstGeom prst="rect">
            <a:avLst/>
          </a:prstGeom>
          <a:solidFill>
            <a:srgbClr val="F1F4F9"/>
          </a:solidFill>
          <a:ln>
            <a:noFill/>
          </a:ln>
          <a:effectLst/>
        </p:spPr>
        <p:txBody>
          <a:bodyPr rtlCol="0" anchor="ctr"/>
          <a:lstStyle/>
          <a:p>
            <a:pPr algn="ctr"/>
          </a:p>
        </p:txBody>
      </p:sp>
      <p:sp>
        <p:nvSpPr>
          <p:cNvPr id="9" name="Rectangle 8"/>
          <p:cNvSpPr/>
          <p:nvPr/>
        </p:nvSpPr>
        <p:spPr>
          <a:xfrm>
            <a:off x="502920" y="1783080"/>
            <a:ext cx="109728" cy="1325880"/>
          </a:xfrm>
          <a:prstGeom prst="rect">
            <a:avLst/>
          </a:prstGeom>
          <a:solidFill>
            <a:srgbClr val="E8602C"/>
          </a:solidFill>
          <a:ln>
            <a:noFill/>
          </a:ln>
          <a:effectLst/>
        </p:spPr>
        <p:txBody>
          <a:bodyPr rtlCol="0" anchor="ctr"/>
          <a:lstStyle/>
          <a:p>
            <a:pPr algn="ctr"/>
          </a:p>
        </p:txBody>
      </p:sp>
      <p:sp>
        <p:nvSpPr>
          <p:cNvPr id="10" name="Rectangle 9"/>
          <p:cNvSpPr/>
          <p:nvPr/>
        </p:nvSpPr>
        <p:spPr>
          <a:xfrm>
            <a:off x="731520" y="1828800"/>
            <a:ext cx="2468880" cy="594360"/>
          </a:xfrm>
          <a:prstGeom prst="rect">
            <a:avLst/>
          </a:prstGeom>
          <a:noFill/>
          <a:ln>
            <a:noFill/>
          </a:ln>
          <a:effectLst/>
        </p:spPr>
        <p:txBody>
          <a:bodyPr rtlCol="0" anchor="ctr" wrap="square"/>
          <a:lstStyle/>
          <a:p>
            <a:pPr algn="l"/>
            <a:r>
              <a:rPr sz="2400" b="1">
                <a:solidFill>
                  <a:srgbClr val="E8602C"/>
                </a:solidFill>
                <a:latin typeface="Meiryo"/>
              </a:rPr>
              <a:t>A層  316名</a:t>
            </a:r>
          </a:p>
        </p:txBody>
      </p:sp>
      <p:sp>
        <p:nvSpPr>
          <p:cNvPr id="11" name="Rectangle 10"/>
          <p:cNvSpPr/>
          <p:nvPr/>
        </p:nvSpPr>
        <p:spPr>
          <a:xfrm>
            <a:off x="3200400" y="1828800"/>
            <a:ext cx="2834640" cy="594360"/>
          </a:xfrm>
          <a:prstGeom prst="rect">
            <a:avLst/>
          </a:prstGeom>
          <a:noFill/>
          <a:ln>
            <a:noFill/>
          </a:ln>
          <a:effectLst/>
        </p:spPr>
        <p:txBody>
          <a:bodyPr rtlCol="0" anchor="ctr" wrap="square"/>
          <a:lstStyle/>
          <a:p>
            <a:pPr algn="l"/>
            <a:r>
              <a:rPr sz="1700" b="1">
                <a:solidFill>
                  <a:srgbClr val="1B1B1B"/>
                </a:solidFill>
                <a:latin typeface="Meiryo"/>
              </a:rPr>
              <a:t>潜在未処方 3,355人</a:t>
            </a:r>
          </a:p>
        </p:txBody>
      </p:sp>
      <p:sp>
        <p:nvSpPr>
          <p:cNvPr id="12" name="Rectangle 11"/>
          <p:cNvSpPr/>
          <p:nvPr/>
        </p:nvSpPr>
        <p:spPr>
          <a:xfrm>
            <a:off x="731520" y="2441448"/>
            <a:ext cx="5303520" cy="640080"/>
          </a:xfrm>
          <a:prstGeom prst="rect">
            <a:avLst/>
          </a:prstGeom>
          <a:noFill/>
          <a:ln>
            <a:noFill/>
          </a:ln>
          <a:effectLst/>
        </p:spPr>
        <p:txBody>
          <a:bodyPr rtlCol="0" anchor="ctr" wrap="square"/>
          <a:lstStyle/>
          <a:p>
            <a:pPr algn="l"/>
            <a:r>
              <a:rPr sz="1400" b="0">
                <a:solidFill>
                  <a:srgbClr val="1B1B1B"/>
                </a:solidFill>
                <a:latin typeface="Meiryo"/>
              </a:rPr>
              <a:t>理解度・処方意向が低い</a:t>
            </a:r>
          </a:p>
          <a:p>
            <a:pPr algn="l"/>
            <a:r>
              <a:rPr sz="1400" b="0">
                <a:solidFill>
                  <a:srgbClr val="1B1B1B"/>
                </a:solidFill>
                <a:latin typeface="Meiryo"/>
              </a:rPr>
              <a:t>薬剤Aの5特性すべてで理解度が低い</a:t>
            </a:r>
          </a:p>
        </p:txBody>
      </p:sp>
      <p:sp>
        <p:nvSpPr>
          <p:cNvPr id="13" name="Rectangle 12"/>
          <p:cNvSpPr/>
          <p:nvPr/>
        </p:nvSpPr>
        <p:spPr>
          <a:xfrm>
            <a:off x="502920" y="3246120"/>
            <a:ext cx="5577840" cy="1325880"/>
          </a:xfrm>
          <a:prstGeom prst="rect">
            <a:avLst/>
          </a:prstGeom>
          <a:solidFill>
            <a:srgbClr val="F1F4F9"/>
          </a:solidFill>
          <a:ln>
            <a:noFill/>
          </a:ln>
          <a:effectLst/>
        </p:spPr>
        <p:txBody>
          <a:bodyPr rtlCol="0" anchor="ctr"/>
          <a:lstStyle/>
          <a:p>
            <a:pPr algn="ctr"/>
          </a:p>
        </p:txBody>
      </p:sp>
      <p:sp>
        <p:nvSpPr>
          <p:cNvPr id="14" name="Rectangle 13"/>
          <p:cNvSpPr/>
          <p:nvPr/>
        </p:nvSpPr>
        <p:spPr>
          <a:xfrm>
            <a:off x="502920" y="3246120"/>
            <a:ext cx="109728" cy="1325880"/>
          </a:xfrm>
          <a:prstGeom prst="rect">
            <a:avLst/>
          </a:prstGeom>
          <a:solidFill>
            <a:srgbClr val="1F5FBF"/>
          </a:solidFill>
          <a:ln>
            <a:noFill/>
          </a:ln>
          <a:effectLst/>
        </p:spPr>
        <p:txBody>
          <a:bodyPr rtlCol="0" anchor="ctr"/>
          <a:lstStyle/>
          <a:p>
            <a:pPr algn="ctr"/>
          </a:p>
        </p:txBody>
      </p:sp>
      <p:sp>
        <p:nvSpPr>
          <p:cNvPr id="15" name="Rectangle 14"/>
          <p:cNvSpPr/>
          <p:nvPr/>
        </p:nvSpPr>
        <p:spPr>
          <a:xfrm>
            <a:off x="731520" y="3291839"/>
            <a:ext cx="2468880" cy="594360"/>
          </a:xfrm>
          <a:prstGeom prst="rect">
            <a:avLst/>
          </a:prstGeom>
          <a:noFill/>
          <a:ln>
            <a:noFill/>
          </a:ln>
          <a:effectLst/>
        </p:spPr>
        <p:txBody>
          <a:bodyPr rtlCol="0" anchor="ctr" wrap="square"/>
          <a:lstStyle/>
          <a:p>
            <a:pPr algn="l"/>
            <a:r>
              <a:rPr sz="2400" b="1">
                <a:solidFill>
                  <a:srgbClr val="1F5FBF"/>
                </a:solidFill>
                <a:latin typeface="Meiryo"/>
              </a:rPr>
              <a:t>B層  117名</a:t>
            </a:r>
          </a:p>
        </p:txBody>
      </p:sp>
      <p:sp>
        <p:nvSpPr>
          <p:cNvPr id="16" name="Rectangle 15"/>
          <p:cNvSpPr/>
          <p:nvPr/>
        </p:nvSpPr>
        <p:spPr>
          <a:xfrm>
            <a:off x="3200400" y="3291839"/>
            <a:ext cx="2834640" cy="594360"/>
          </a:xfrm>
          <a:prstGeom prst="rect">
            <a:avLst/>
          </a:prstGeom>
          <a:noFill/>
          <a:ln>
            <a:noFill/>
          </a:ln>
          <a:effectLst/>
        </p:spPr>
        <p:txBody>
          <a:bodyPr rtlCol="0" anchor="ctr" wrap="square"/>
          <a:lstStyle/>
          <a:p>
            <a:pPr algn="l"/>
            <a:r>
              <a:rPr sz="1700" b="1">
                <a:solidFill>
                  <a:srgbClr val="1B1B1B"/>
                </a:solidFill>
                <a:latin typeface="Meiryo"/>
              </a:rPr>
              <a:t>潜在未処方 1,196人</a:t>
            </a:r>
          </a:p>
        </p:txBody>
      </p:sp>
      <p:sp>
        <p:nvSpPr>
          <p:cNvPr id="17" name="Rectangle 16"/>
          <p:cNvSpPr/>
          <p:nvPr/>
        </p:nvSpPr>
        <p:spPr>
          <a:xfrm>
            <a:off x="731520" y="3904487"/>
            <a:ext cx="5303520" cy="640080"/>
          </a:xfrm>
          <a:prstGeom prst="rect">
            <a:avLst/>
          </a:prstGeom>
          <a:noFill/>
          <a:ln>
            <a:noFill/>
          </a:ln>
          <a:effectLst/>
        </p:spPr>
        <p:txBody>
          <a:bodyPr rtlCol="0" anchor="ctr" wrap="square"/>
          <a:lstStyle/>
          <a:p>
            <a:pPr algn="l"/>
            <a:r>
              <a:rPr sz="1400" b="0">
                <a:solidFill>
                  <a:srgbClr val="1B1B1B"/>
                </a:solidFill>
                <a:latin typeface="Meiryo"/>
              </a:rPr>
              <a:t>理解度・処方意向が中程度</a:t>
            </a:r>
          </a:p>
        </p:txBody>
      </p:sp>
      <p:sp>
        <p:nvSpPr>
          <p:cNvPr id="18" name="Rectangle 17"/>
          <p:cNvSpPr/>
          <p:nvPr/>
        </p:nvSpPr>
        <p:spPr>
          <a:xfrm>
            <a:off x="6400800" y="1371600"/>
            <a:ext cx="5285232" cy="365760"/>
          </a:xfrm>
          <a:prstGeom prst="rect">
            <a:avLst/>
          </a:prstGeom>
          <a:noFill/>
          <a:ln>
            <a:noFill/>
          </a:ln>
          <a:effectLst/>
        </p:spPr>
        <p:txBody>
          <a:bodyPr rtlCol="0" anchor="t" wrap="square"/>
          <a:lstStyle/>
          <a:p>
            <a:pPr algn="l"/>
            <a:r>
              <a:rPr sz="1500" b="1">
                <a:solidFill>
                  <a:srgbClr val="0B2A5B"/>
                </a:solidFill>
                <a:latin typeface="Meiryo"/>
              </a:rPr>
              <a:t>最も重視する特性は診療科で異なる</a:t>
            </a:r>
          </a:p>
        </p:txBody>
      </p:sp>
      <p:sp>
        <p:nvSpPr>
          <p:cNvPr id="19" name="Rectangle 18"/>
          <p:cNvSpPr/>
          <p:nvPr/>
        </p:nvSpPr>
        <p:spPr>
          <a:xfrm>
            <a:off x="6400800" y="1783080"/>
            <a:ext cx="5285232" cy="1325880"/>
          </a:xfrm>
          <a:prstGeom prst="rect">
            <a:avLst/>
          </a:prstGeom>
          <a:solidFill>
            <a:srgbClr val="F1F4F9"/>
          </a:solidFill>
          <a:ln>
            <a:noFill/>
          </a:ln>
          <a:effectLst/>
        </p:spPr>
        <p:txBody>
          <a:bodyPr rtlCol="0" anchor="ctr"/>
          <a:lstStyle/>
          <a:p>
            <a:pPr algn="ctr"/>
          </a:p>
        </p:txBody>
      </p:sp>
      <p:sp>
        <p:nvSpPr>
          <p:cNvPr id="20" name="Rectangle 19"/>
          <p:cNvSpPr/>
          <p:nvPr/>
        </p:nvSpPr>
        <p:spPr>
          <a:xfrm>
            <a:off x="6537960" y="1828800"/>
            <a:ext cx="3017520" cy="457200"/>
          </a:xfrm>
          <a:prstGeom prst="rect">
            <a:avLst/>
          </a:prstGeom>
          <a:noFill/>
          <a:ln>
            <a:noFill/>
          </a:ln>
          <a:effectLst/>
        </p:spPr>
        <p:txBody>
          <a:bodyPr rtlCol="0" anchor="ctr" wrap="square"/>
          <a:lstStyle/>
          <a:p>
            <a:pPr algn="l"/>
            <a:r>
              <a:rPr sz="1600" b="1">
                <a:solidFill>
                  <a:srgbClr val="0B2A5B"/>
                </a:solidFill>
                <a:latin typeface="Meiryo"/>
              </a:rPr>
              <a:t>内科</a:t>
            </a:r>
          </a:p>
        </p:txBody>
      </p:sp>
      <p:sp>
        <p:nvSpPr>
          <p:cNvPr id="21" name="Rectangle 20"/>
          <p:cNvSpPr/>
          <p:nvPr/>
        </p:nvSpPr>
        <p:spPr>
          <a:xfrm>
            <a:off x="6537960" y="2286000"/>
            <a:ext cx="3200400" cy="777240"/>
          </a:xfrm>
          <a:prstGeom prst="rect">
            <a:avLst/>
          </a:prstGeom>
          <a:noFill/>
          <a:ln>
            <a:noFill/>
          </a:ln>
          <a:effectLst/>
        </p:spPr>
        <p:txBody>
          <a:bodyPr rtlCol="0" anchor="ctr" wrap="square"/>
          <a:lstStyle/>
          <a:p>
            <a:pPr algn="l"/>
            <a:r>
              <a:rPr sz="1800" b="1">
                <a:solidFill>
                  <a:srgbClr val="1B1B1B"/>
                </a:solidFill>
                <a:latin typeface="Meiryo"/>
              </a:rPr>
              <a:t>他剤との飲み合わせの良さ</a:t>
            </a:r>
          </a:p>
        </p:txBody>
      </p:sp>
      <p:sp>
        <p:nvSpPr>
          <p:cNvPr id="22" name="Rectangle 21"/>
          <p:cNvSpPr/>
          <p:nvPr/>
        </p:nvSpPr>
        <p:spPr>
          <a:xfrm>
            <a:off x="9692640" y="1783080"/>
            <a:ext cx="1920240" cy="1325880"/>
          </a:xfrm>
          <a:prstGeom prst="rect">
            <a:avLst/>
          </a:prstGeom>
          <a:noFill/>
          <a:ln>
            <a:noFill/>
          </a:ln>
          <a:effectLst/>
        </p:spPr>
        <p:txBody>
          <a:bodyPr rtlCol="0" anchor="ctr" wrap="square"/>
          <a:lstStyle/>
          <a:p>
            <a:pPr algn="ctr"/>
            <a:r>
              <a:rPr sz="4800" b="1">
                <a:solidFill>
                  <a:srgbClr val="E8602C"/>
                </a:solidFill>
                <a:latin typeface="Meiryo"/>
              </a:rPr>
              <a:t>56%</a:t>
            </a:r>
          </a:p>
        </p:txBody>
      </p:sp>
      <p:sp>
        <p:nvSpPr>
          <p:cNvPr id="23" name="Rectangle 22"/>
          <p:cNvSpPr/>
          <p:nvPr/>
        </p:nvSpPr>
        <p:spPr>
          <a:xfrm>
            <a:off x="6400800" y="3246120"/>
            <a:ext cx="5285232" cy="1325880"/>
          </a:xfrm>
          <a:prstGeom prst="rect">
            <a:avLst/>
          </a:prstGeom>
          <a:solidFill>
            <a:srgbClr val="F1F4F9"/>
          </a:solidFill>
          <a:ln>
            <a:noFill/>
          </a:ln>
          <a:effectLst/>
        </p:spPr>
        <p:txBody>
          <a:bodyPr rtlCol="0" anchor="ctr"/>
          <a:lstStyle/>
          <a:p>
            <a:pPr algn="ctr"/>
          </a:p>
        </p:txBody>
      </p:sp>
      <p:sp>
        <p:nvSpPr>
          <p:cNvPr id="24" name="Rectangle 23"/>
          <p:cNvSpPr/>
          <p:nvPr/>
        </p:nvSpPr>
        <p:spPr>
          <a:xfrm>
            <a:off x="6537960" y="3291839"/>
            <a:ext cx="3017520" cy="457200"/>
          </a:xfrm>
          <a:prstGeom prst="rect">
            <a:avLst/>
          </a:prstGeom>
          <a:noFill/>
          <a:ln>
            <a:noFill/>
          </a:ln>
          <a:effectLst/>
        </p:spPr>
        <p:txBody>
          <a:bodyPr rtlCol="0" anchor="ctr" wrap="square"/>
          <a:lstStyle/>
          <a:p>
            <a:pPr algn="l"/>
            <a:r>
              <a:rPr sz="1600" b="1">
                <a:solidFill>
                  <a:srgbClr val="0B2A5B"/>
                </a:solidFill>
                <a:latin typeface="Meiryo"/>
              </a:rPr>
              <a:t>耳鼻咽喉科</a:t>
            </a:r>
          </a:p>
        </p:txBody>
      </p:sp>
      <p:sp>
        <p:nvSpPr>
          <p:cNvPr id="25" name="Rectangle 24"/>
          <p:cNvSpPr/>
          <p:nvPr/>
        </p:nvSpPr>
        <p:spPr>
          <a:xfrm>
            <a:off x="6537960" y="3749039"/>
            <a:ext cx="3200400" cy="777240"/>
          </a:xfrm>
          <a:prstGeom prst="rect">
            <a:avLst/>
          </a:prstGeom>
          <a:noFill/>
          <a:ln>
            <a:noFill/>
          </a:ln>
          <a:effectLst/>
        </p:spPr>
        <p:txBody>
          <a:bodyPr rtlCol="0" anchor="ctr" wrap="square"/>
          <a:lstStyle/>
          <a:p>
            <a:pPr algn="l"/>
            <a:r>
              <a:rPr sz="1800" b="1">
                <a:solidFill>
                  <a:srgbClr val="1B1B1B"/>
                </a:solidFill>
                <a:latin typeface="Meiryo"/>
              </a:rPr>
              <a:t>24h持続性</a:t>
            </a:r>
          </a:p>
        </p:txBody>
      </p:sp>
      <p:sp>
        <p:nvSpPr>
          <p:cNvPr id="26" name="Rectangle 25"/>
          <p:cNvSpPr/>
          <p:nvPr/>
        </p:nvSpPr>
        <p:spPr>
          <a:xfrm>
            <a:off x="9692640" y="3246120"/>
            <a:ext cx="1920240" cy="1325880"/>
          </a:xfrm>
          <a:prstGeom prst="rect">
            <a:avLst/>
          </a:prstGeom>
          <a:noFill/>
          <a:ln>
            <a:noFill/>
          </a:ln>
          <a:effectLst/>
        </p:spPr>
        <p:txBody>
          <a:bodyPr rtlCol="0" anchor="ctr" wrap="square"/>
          <a:lstStyle/>
          <a:p>
            <a:pPr algn="ctr"/>
            <a:r>
              <a:rPr sz="4800" b="1">
                <a:solidFill>
                  <a:srgbClr val="E8602C"/>
                </a:solidFill>
                <a:latin typeface="Meiryo"/>
              </a:rPr>
              <a:t>49%</a:t>
            </a:r>
          </a:p>
        </p:txBody>
      </p:sp>
      <p:sp>
        <p:nvSpPr>
          <p:cNvPr id="27" name="Rectangle 26"/>
          <p:cNvSpPr/>
          <p:nvPr/>
        </p:nvSpPr>
        <p:spPr>
          <a:xfrm>
            <a:off x="6400800" y="4572000"/>
            <a:ext cx="5285232" cy="320040"/>
          </a:xfrm>
          <a:prstGeom prst="rect">
            <a:avLst/>
          </a:prstGeom>
          <a:noFill/>
          <a:ln>
            <a:noFill/>
          </a:ln>
          <a:effectLst/>
        </p:spPr>
        <p:txBody>
          <a:bodyPr rtlCol="0" anchor="ctr" wrap="square"/>
          <a:lstStyle/>
          <a:p>
            <a:pPr algn="l"/>
            <a:r>
              <a:rPr sz="1150" b="0">
                <a:solidFill>
                  <a:srgbClr val="5F6B7A"/>
                </a:solidFill>
                <a:latin typeface="Meiryo"/>
              </a:rPr>
              <a:t>※診療科全体の集計です(B層単独ではありません)</a:t>
            </a:r>
          </a:p>
        </p:txBody>
      </p:sp>
      <p:sp>
        <p:nvSpPr>
          <p:cNvPr id="28" name="Rectangle 27"/>
          <p:cNvSpPr/>
          <p:nvPr/>
        </p:nvSpPr>
        <p:spPr>
          <a:xfrm>
            <a:off x="502920" y="4937760"/>
            <a:ext cx="11183112" cy="502920"/>
          </a:xfrm>
          <a:prstGeom prst="rect">
            <a:avLst/>
          </a:prstGeom>
          <a:solidFill>
            <a:srgbClr val="0B2A5B"/>
          </a:solidFill>
          <a:ln>
            <a:noFill/>
          </a:ln>
          <a:effectLst/>
        </p:spPr>
        <p:txBody>
          <a:bodyPr rtlCol="0" anchor="ctr" wrap="square"/>
          <a:lstStyle/>
          <a:p>
            <a:pPr algn="ctr"/>
            <a:r>
              <a:rPr sz="2000" b="1">
                <a:solidFill>
                  <a:srgbClr val="FFFFFF"/>
                </a:solidFill>
                <a:latin typeface="Meiryo"/>
              </a:rPr>
              <a:t>「理解度 × 診療科」によるコンテンツの出し分けを検討する</a:t>
            </a:r>
          </a:p>
        </p:txBody>
      </p:sp>
      <p:sp>
        <p:nvSpPr>
          <p:cNvPr id="29" name="Rectangle 28"/>
          <p:cNvSpPr/>
          <p:nvPr/>
        </p:nvSpPr>
        <p:spPr>
          <a:xfrm>
            <a:off x="502920" y="5532120"/>
            <a:ext cx="11183112" cy="777240"/>
          </a:xfrm>
          <a:prstGeom prst="rect">
            <a:avLst/>
          </a:prstGeom>
          <a:solidFill>
            <a:srgbClr val="FFF4EE"/>
          </a:solidFill>
          <a:ln w="15875">
            <a:solidFill>
              <a:srgbClr val="E8602C"/>
            </a:solidFill>
          </a:ln>
          <a:effectLst/>
        </p:spPr>
        <p:txBody>
          <a:bodyPr rtlCol="0" anchor="ctr" wrap="square" lIns="182880" rIns="182880"/>
          <a:lstStyle/>
          <a:p>
            <a:pPr algn="l">
              <a:spcAft>
                <a:spcPts val="200"/>
              </a:spcAft>
            </a:pPr>
            <a:r>
              <a:rPr sz="1400" b="0">
                <a:solidFill>
                  <a:srgbClr val="1B1B1B"/>
                </a:solidFill>
                <a:latin typeface="Meiryo"/>
              </a:rPr>
              <a:t>情報ニーズの違いは確認できましたが、出し分けで既読や処方が増えるかは未確認です。現在のMR君コンテンツが不適切という意味ではありません。</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256032"/>
            <a:ext cx="9144000" cy="896112"/>
          </a:xfrm>
          <a:prstGeom prst="rect">
            <a:avLst/>
          </a:prstGeom>
          <a:noFill/>
          <a:ln>
            <a:noFill/>
          </a:ln>
          <a:effectLst/>
        </p:spPr>
        <p:txBody>
          <a:bodyPr rtlCol="0" anchor="ctr" wrap="square" lIns="0" rIns="0"/>
          <a:lstStyle/>
          <a:p>
            <a:pPr algn="l"/>
            <a:r>
              <a:rPr sz="2600" b="1">
                <a:solidFill>
                  <a:srgbClr val="0B2A5B"/>
                </a:solidFill>
                <a:latin typeface="Meiryo"/>
              </a:rPr>
              <a:t>高ポテンシャル医師158名がMR君の配信対象外</a:t>
            </a:r>
          </a:p>
        </p:txBody>
      </p:sp>
      <p:cxnSp>
        <p:nvCxnSpPr>
          <p:cNvPr id="3" name="Connector 2"/>
          <p:cNvCxnSpPr/>
          <p:nvPr/>
        </p:nvCxnSpPr>
        <p:spPr>
          <a:xfrm>
            <a:off x="502920" y="1207008"/>
            <a:ext cx="11183112" cy="0"/>
          </a:xfrm>
          <a:prstGeom prst="line">
            <a:avLst/>
          </a:prstGeom>
          <a:ln w="28575">
            <a:solidFill>
              <a:srgbClr val="0B2A5B"/>
            </a:solidFill>
          </a:ln>
        </p:spPr>
      </p:cxnSp>
      <p:sp>
        <p:nvSpPr>
          <p:cNvPr id="4" name="Rounded Rectangle 3"/>
          <p:cNvSpPr/>
          <p:nvPr/>
        </p:nvSpPr>
        <p:spPr>
          <a:xfrm>
            <a:off x="9829800" y="365760"/>
            <a:ext cx="1856231" cy="420624"/>
          </a:xfrm>
          <a:prstGeom prst="roundRect">
            <a:avLst/>
          </a:prstGeom>
          <a:solidFill>
            <a:srgbClr val="0B2A5B"/>
          </a:solidFill>
          <a:ln>
            <a:noFill/>
          </a:ln>
          <a:effectLst/>
        </p:spPr>
        <p:txBody>
          <a:bodyPr rtlCol="0" anchor="ctr" wrap="square" lIns="18288" rIns="18288"/>
          <a:lstStyle/>
          <a:p>
            <a:pPr algn="ctr"/>
            <a:r>
              <a:rPr sz="1200" b="1">
                <a:solidFill>
                  <a:srgbClr val="FFFFFF"/>
                </a:solidFill>
                <a:latin typeface="Meiryo"/>
              </a:rPr>
              <a:t>実測(2025〜2026年)</a:t>
            </a:r>
          </a:p>
        </p:txBody>
      </p:sp>
      <p:sp>
        <p:nvSpPr>
          <p:cNvPr id="5" name="Rectangle 4"/>
          <p:cNvSpPr/>
          <p:nvPr/>
        </p:nvSpPr>
        <p:spPr>
          <a:xfrm>
            <a:off x="502920" y="6400800"/>
            <a:ext cx="10881360" cy="329184"/>
          </a:xfrm>
          <a:prstGeom prst="rect">
            <a:avLst/>
          </a:prstGeom>
          <a:noFill/>
          <a:ln>
            <a:noFill/>
          </a:ln>
          <a:effectLst/>
        </p:spPr>
        <p:txBody>
          <a:bodyPr rtlCol="0" anchor="ctr" wrap="square" lIns="0" rIns="0"/>
          <a:lstStyle/>
          <a:p>
            <a:pPr algn="l"/>
            <a:r>
              <a:rPr sz="1050" b="0">
                <a:solidFill>
                  <a:srgbClr val="5F6B7A"/>
                </a:solidFill>
                <a:latin typeface="Meiryo"/>
              </a:rPr>
              <a:t>出典: 2026年アンケート、MR君の配信対象・既読の記録(対象期間は不明)。平均潜在未処方は医師1人あたり。</a:t>
            </a:r>
          </a:p>
        </p:txBody>
      </p:sp>
      <p:sp>
        <p:nvSpPr>
          <p:cNvPr id="6" name="Rectangle 5"/>
          <p:cNvSpPr/>
          <p:nvPr/>
        </p:nvSpPr>
        <p:spPr>
          <a:xfrm>
            <a:off x="11155680" y="6400800"/>
            <a:ext cx="530352" cy="329184"/>
          </a:xfrm>
          <a:prstGeom prst="rect">
            <a:avLst/>
          </a:prstGeom>
          <a:noFill/>
          <a:ln>
            <a:noFill/>
          </a:ln>
          <a:effectLst/>
        </p:spPr>
        <p:txBody>
          <a:bodyPr rtlCol="0" anchor="ctr" wrap="square" lIns="0" rIns="0"/>
          <a:lstStyle/>
          <a:p>
            <a:pPr algn="r"/>
            <a:r>
              <a:rPr sz="1100" b="0">
                <a:solidFill>
                  <a:srgbClr val="5F6B7A"/>
                </a:solidFill>
                <a:latin typeface="Meiryo"/>
              </a:rPr>
              <a:t>5</a:t>
            </a:r>
          </a:p>
        </p:txBody>
      </p:sp>
      <p:sp>
        <p:nvSpPr>
          <p:cNvPr id="7" name="Rectangle 6"/>
          <p:cNvSpPr/>
          <p:nvPr/>
        </p:nvSpPr>
        <p:spPr>
          <a:xfrm>
            <a:off x="502920" y="1371600"/>
            <a:ext cx="3931920" cy="2103120"/>
          </a:xfrm>
          <a:prstGeom prst="rect">
            <a:avLst/>
          </a:prstGeom>
          <a:solidFill>
            <a:srgbClr val="F1F4F9"/>
          </a:solidFill>
          <a:ln>
            <a:noFill/>
          </a:ln>
          <a:effectLst/>
        </p:spPr>
        <p:txBody>
          <a:bodyPr rtlCol="0" anchor="ctr"/>
          <a:lstStyle/>
          <a:p>
            <a:pPr algn="ctr"/>
          </a:p>
        </p:txBody>
      </p:sp>
      <p:sp>
        <p:nvSpPr>
          <p:cNvPr id="8" name="Rectangle 7"/>
          <p:cNvSpPr/>
          <p:nvPr/>
        </p:nvSpPr>
        <p:spPr>
          <a:xfrm>
            <a:off x="502920" y="1371600"/>
            <a:ext cx="109728" cy="2103120"/>
          </a:xfrm>
          <a:prstGeom prst="rect">
            <a:avLst/>
          </a:prstGeom>
          <a:solidFill>
            <a:srgbClr val="E8602C"/>
          </a:solidFill>
          <a:ln>
            <a:noFill/>
          </a:ln>
          <a:effectLst/>
        </p:spPr>
        <p:txBody>
          <a:bodyPr rtlCol="0" anchor="ctr"/>
          <a:lstStyle/>
          <a:p>
            <a:pPr algn="ctr"/>
          </a:p>
        </p:txBody>
      </p:sp>
      <p:sp>
        <p:nvSpPr>
          <p:cNvPr id="9" name="Rectangle 8"/>
          <p:cNvSpPr/>
          <p:nvPr/>
        </p:nvSpPr>
        <p:spPr>
          <a:xfrm>
            <a:off x="731520" y="1371600"/>
            <a:ext cx="3657600" cy="1234440"/>
          </a:xfrm>
          <a:prstGeom prst="rect">
            <a:avLst/>
          </a:prstGeom>
          <a:noFill/>
          <a:ln>
            <a:noFill/>
          </a:ln>
          <a:effectLst/>
        </p:spPr>
        <p:txBody>
          <a:bodyPr rtlCol="0" anchor="ctr" wrap="square"/>
          <a:lstStyle/>
          <a:p>
            <a:pPr algn="l"/>
            <a:r>
              <a:rPr sz="7000" b="1">
                <a:solidFill>
                  <a:srgbClr val="E8602C"/>
                </a:solidFill>
                <a:latin typeface="Meiryo"/>
              </a:rPr>
              <a:t>158名</a:t>
            </a:r>
          </a:p>
        </p:txBody>
      </p:sp>
      <p:sp>
        <p:nvSpPr>
          <p:cNvPr id="10" name="Rectangle 9"/>
          <p:cNvSpPr/>
          <p:nvPr/>
        </p:nvSpPr>
        <p:spPr>
          <a:xfrm>
            <a:off x="731520" y="2560320"/>
            <a:ext cx="3657600" cy="411480"/>
          </a:xfrm>
          <a:prstGeom prst="rect">
            <a:avLst/>
          </a:prstGeom>
          <a:noFill/>
          <a:ln>
            <a:noFill/>
          </a:ln>
          <a:effectLst/>
        </p:spPr>
        <p:txBody>
          <a:bodyPr rtlCol="0" anchor="t" wrap="square"/>
          <a:lstStyle/>
          <a:p>
            <a:pPr algn="l"/>
            <a:r>
              <a:rPr sz="2000" b="1">
                <a:solidFill>
                  <a:srgbClr val="1B1B1B"/>
                </a:solidFill>
                <a:latin typeface="Meiryo"/>
              </a:rPr>
              <a:t>MR君の配信対象外</a:t>
            </a:r>
          </a:p>
        </p:txBody>
      </p:sp>
      <p:sp>
        <p:nvSpPr>
          <p:cNvPr id="11" name="Rectangle 10"/>
          <p:cNvSpPr/>
          <p:nvPr/>
        </p:nvSpPr>
        <p:spPr>
          <a:xfrm>
            <a:off x="731520" y="2971800"/>
            <a:ext cx="3657600" cy="411480"/>
          </a:xfrm>
          <a:prstGeom prst="rect">
            <a:avLst/>
          </a:prstGeom>
          <a:noFill/>
          <a:ln>
            <a:noFill/>
          </a:ln>
          <a:effectLst/>
        </p:spPr>
        <p:txBody>
          <a:bodyPr rtlCol="0" anchor="t" wrap="square"/>
          <a:lstStyle/>
          <a:p>
            <a:pPr algn="l"/>
            <a:r>
              <a:rPr sz="1600" b="0">
                <a:solidFill>
                  <a:srgbClr val="5F6B7A"/>
                </a:solidFill>
                <a:latin typeface="Meiryo"/>
              </a:rPr>
              <a:t>A層120名 + B層38名</a:t>
            </a:r>
          </a:p>
        </p:txBody>
      </p:sp>
      <p:graphicFrame>
        <p:nvGraphicFramePr>
          <p:cNvPr id="12" name="Table 11"/>
          <p:cNvGraphicFramePr>
            <a:graphicFrameLocks noGrp="1"/>
          </p:cNvGraphicFramePr>
          <p:nvPr/>
        </p:nvGraphicFramePr>
        <p:xfrm>
          <a:off x="502920" y="3611880"/>
          <a:ext cx="3931920" cy="1371600"/>
        </p:xfrm>
        <a:graphic>
          <a:graphicData uri="http://schemas.openxmlformats.org/drawingml/2006/table">
            <a:tbl>
              <a:tblPr firstRow="1" bandRow="1">
                <a:tableStyleId>{5C22544A-7EE6-4342-B048-85BDC9FD1C3A}</a:tableStyleId>
              </a:tblPr>
              <a:tblGrid>
                <a:gridCol w="1325880"/>
                <a:gridCol w="868680"/>
                <a:gridCol w="914400"/>
                <a:gridCol w="822960"/>
              </a:tblGrid>
              <a:tr h="457200">
                <a:tc>
                  <a:txBody>
                    <a:bodyPr/>
                    <a:lstStyle/>
                    <a:p>
                      <a:pPr algn="ctr"/>
                      <a:r>
                        <a:rPr sz="1200" b="1">
                          <a:solidFill>
                            <a:srgbClr val="FFFFFF"/>
                          </a:solidFill>
                          <a:latin typeface="Meiryo"/>
                        </a:rPr>
                        <a:t/>
                      </a:r>
                    </a:p>
                  </a:txBody>
                  <a:tcPr anchor="ctr" marL="73152" marR="73152">
                    <a:solidFill>
                      <a:srgbClr val="0B2A5B"/>
                    </a:solidFill>
                  </a:tcPr>
                </a:tc>
                <a:tc>
                  <a:txBody>
                    <a:bodyPr/>
                    <a:lstStyle/>
                    <a:p>
                      <a:pPr algn="ctr"/>
                      <a:r>
                        <a:rPr sz="1200" b="1">
                          <a:solidFill>
                            <a:srgbClr val="FFFFFF"/>
                          </a:solidFill>
                          <a:latin typeface="Meiryo"/>
                        </a:rPr>
                        <a:t>対象外</a:t>
                      </a:r>
                    </a:p>
                  </a:txBody>
                  <a:tcPr anchor="ctr" marL="73152" marR="73152">
                    <a:solidFill>
                      <a:srgbClr val="0B2A5B"/>
                    </a:solidFill>
                  </a:tcPr>
                </a:tc>
                <a:tc>
                  <a:txBody>
                    <a:bodyPr/>
                    <a:lstStyle/>
                    <a:p>
                      <a:pPr algn="ctr"/>
                      <a:r>
                        <a:rPr sz="1200" b="1">
                          <a:solidFill>
                            <a:srgbClr val="FFFFFF"/>
                          </a:solidFill>
                          <a:latin typeface="Meiryo"/>
                        </a:rPr>
                        <a:t>既読なし</a:t>
                      </a:r>
                    </a:p>
                  </a:txBody>
                  <a:tcPr anchor="ctr" marL="73152" marR="73152">
                    <a:solidFill>
                      <a:srgbClr val="0B2A5B"/>
                    </a:solidFill>
                  </a:tcPr>
                </a:tc>
                <a:tc>
                  <a:txBody>
                    <a:bodyPr/>
                    <a:lstStyle/>
                    <a:p>
                      <a:pPr algn="ctr"/>
                      <a:r>
                        <a:rPr sz="1200" b="1">
                          <a:solidFill>
                            <a:srgbClr val="FFFFFF"/>
                          </a:solidFill>
                          <a:latin typeface="Meiryo"/>
                        </a:rPr>
                        <a:t>既読あり</a:t>
                      </a:r>
                    </a:p>
                  </a:txBody>
                  <a:tcPr anchor="ctr" marL="73152" marR="73152">
                    <a:solidFill>
                      <a:srgbClr val="0B2A5B"/>
                    </a:solidFill>
                  </a:tcPr>
                </a:tc>
              </a:tr>
              <a:tr h="457200">
                <a:tc>
                  <a:txBody>
                    <a:bodyPr/>
                    <a:lstStyle/>
                    <a:p>
                      <a:pPr algn="ctr"/>
                      <a:r>
                        <a:rPr sz="1300" b="1">
                          <a:solidFill>
                            <a:srgbClr val="1B1B1B"/>
                          </a:solidFill>
                          <a:latin typeface="Meiryo"/>
                        </a:rPr>
                        <a:t>A層 316名</a:t>
                      </a:r>
                    </a:p>
                  </a:txBody>
                  <a:tcPr anchor="ctr" marL="73152" marR="73152">
                    <a:solidFill>
                      <a:srgbClr val="F1F4F9"/>
                    </a:solidFill>
                  </a:tcPr>
                </a:tc>
                <a:tc>
                  <a:txBody>
                    <a:bodyPr/>
                    <a:lstStyle/>
                    <a:p>
                      <a:pPr algn="ctr"/>
                      <a:r>
                        <a:rPr sz="1300" b="1">
                          <a:solidFill>
                            <a:srgbClr val="E8602C"/>
                          </a:solidFill>
                          <a:latin typeface="Meiryo"/>
                        </a:rPr>
                        <a:t>120</a:t>
                      </a:r>
                    </a:p>
                  </a:txBody>
                  <a:tcPr anchor="ctr" marL="73152" marR="73152">
                    <a:solidFill>
                      <a:srgbClr val="FFFFFF"/>
                    </a:solidFill>
                  </a:tcPr>
                </a:tc>
                <a:tc>
                  <a:txBody>
                    <a:bodyPr/>
                    <a:lstStyle/>
                    <a:p>
                      <a:pPr algn="ctr"/>
                      <a:r>
                        <a:rPr sz="1300" b="0">
                          <a:solidFill>
                            <a:srgbClr val="1B1B1B"/>
                          </a:solidFill>
                          <a:latin typeface="Meiryo"/>
                        </a:rPr>
                        <a:t>111</a:t>
                      </a:r>
                    </a:p>
                  </a:txBody>
                  <a:tcPr anchor="ctr" marL="73152" marR="73152">
                    <a:solidFill>
                      <a:srgbClr val="FFFFFF"/>
                    </a:solidFill>
                  </a:tcPr>
                </a:tc>
                <a:tc>
                  <a:txBody>
                    <a:bodyPr/>
                    <a:lstStyle/>
                    <a:p>
                      <a:pPr algn="ctr"/>
                      <a:r>
                        <a:rPr sz="1300" b="0">
                          <a:solidFill>
                            <a:srgbClr val="1B1B1B"/>
                          </a:solidFill>
                          <a:latin typeface="Meiryo"/>
                        </a:rPr>
                        <a:t>85</a:t>
                      </a:r>
                    </a:p>
                  </a:txBody>
                  <a:tcPr anchor="ctr" marL="73152" marR="73152">
                    <a:solidFill>
                      <a:srgbClr val="FFFFFF"/>
                    </a:solidFill>
                  </a:tcPr>
                </a:tc>
              </a:tr>
              <a:tr h="457200">
                <a:tc>
                  <a:txBody>
                    <a:bodyPr/>
                    <a:lstStyle/>
                    <a:p>
                      <a:pPr algn="ctr"/>
                      <a:r>
                        <a:rPr sz="1300" b="1">
                          <a:solidFill>
                            <a:srgbClr val="1B1B1B"/>
                          </a:solidFill>
                          <a:latin typeface="Meiryo"/>
                        </a:rPr>
                        <a:t>B層 117名</a:t>
                      </a:r>
                    </a:p>
                  </a:txBody>
                  <a:tcPr anchor="ctr" marL="73152" marR="73152">
                    <a:solidFill>
                      <a:srgbClr val="F1F4F9"/>
                    </a:solidFill>
                  </a:tcPr>
                </a:tc>
                <a:tc>
                  <a:txBody>
                    <a:bodyPr/>
                    <a:lstStyle/>
                    <a:p>
                      <a:pPr algn="ctr"/>
                      <a:r>
                        <a:rPr sz="1300" b="1">
                          <a:solidFill>
                            <a:srgbClr val="E8602C"/>
                          </a:solidFill>
                          <a:latin typeface="Meiryo"/>
                        </a:rPr>
                        <a:t>38</a:t>
                      </a:r>
                    </a:p>
                  </a:txBody>
                  <a:tcPr anchor="ctr" marL="73152" marR="73152">
                    <a:solidFill>
                      <a:srgbClr val="FFFFFF"/>
                    </a:solidFill>
                  </a:tcPr>
                </a:tc>
                <a:tc>
                  <a:txBody>
                    <a:bodyPr/>
                    <a:lstStyle/>
                    <a:p>
                      <a:pPr algn="ctr"/>
                      <a:r>
                        <a:rPr sz="1300" b="0">
                          <a:solidFill>
                            <a:srgbClr val="1B1B1B"/>
                          </a:solidFill>
                          <a:latin typeface="Meiryo"/>
                        </a:rPr>
                        <a:t>41</a:t>
                      </a:r>
                    </a:p>
                  </a:txBody>
                  <a:tcPr anchor="ctr" marL="73152" marR="73152">
                    <a:solidFill>
                      <a:srgbClr val="FFFFFF"/>
                    </a:solidFill>
                  </a:tcPr>
                </a:tc>
                <a:tc>
                  <a:txBody>
                    <a:bodyPr/>
                    <a:lstStyle/>
                    <a:p>
                      <a:pPr algn="ctr"/>
                      <a:r>
                        <a:rPr sz="1300" b="0">
                          <a:solidFill>
                            <a:srgbClr val="1B1B1B"/>
                          </a:solidFill>
                          <a:latin typeface="Meiryo"/>
                        </a:rPr>
                        <a:t>38</a:t>
                      </a:r>
                    </a:p>
                  </a:txBody>
                  <a:tcPr anchor="ctr" marL="73152" marR="73152">
                    <a:solidFill>
                      <a:srgbClr val="FFFFFF"/>
                    </a:solidFill>
                  </a:tcPr>
                </a:tc>
              </a:tr>
            </a:tbl>
          </a:graphicData>
        </a:graphic>
      </p:graphicFrame>
      <p:sp>
        <p:nvSpPr>
          <p:cNvPr id="13" name="Rectangle 12"/>
          <p:cNvSpPr/>
          <p:nvPr/>
        </p:nvSpPr>
        <p:spPr>
          <a:xfrm>
            <a:off x="4754880" y="1371600"/>
            <a:ext cx="6931152" cy="365760"/>
          </a:xfrm>
          <a:prstGeom prst="rect">
            <a:avLst/>
          </a:prstGeom>
          <a:noFill/>
          <a:ln>
            <a:noFill/>
          </a:ln>
          <a:effectLst/>
        </p:spPr>
        <p:txBody>
          <a:bodyPr rtlCol="0" anchor="t" wrap="square"/>
          <a:lstStyle/>
          <a:p>
            <a:pPr algn="l"/>
            <a:r>
              <a:rPr sz="1500" b="1">
                <a:solidFill>
                  <a:srgbClr val="0B2A5B"/>
                </a:solidFill>
                <a:latin typeface="Meiryo"/>
              </a:rPr>
              <a:t>A層の平均潜在未処方(人/医師1人あたり)</a:t>
            </a:r>
          </a:p>
        </p:txBody>
      </p:sp>
      <p:graphicFrame>
        <p:nvGraphicFramePr>
          <p:cNvPr id="14" name="Chart 13"/>
          <p:cNvGraphicFramePr>
            <a:graphicFrameLocks noGrp="1"/>
          </p:cNvGraphicFramePr>
          <p:nvPr/>
        </p:nvGraphicFramePr>
        <p:xfrm>
          <a:off x="4754880" y="1737360"/>
          <a:ext cx="6931152" cy="1691640"/>
        </p:xfrm>
        <a:graphic>
          <a:graphicData uri="http://schemas.openxmlformats.org/drawingml/2006/chart">
            <c:chart xmlns:c="http://schemas.openxmlformats.org/drawingml/2006/chart" r:id="rId3"/>
          </a:graphicData>
        </a:graphic>
      </p:graphicFrame>
      <p:sp>
        <p:nvSpPr>
          <p:cNvPr id="15" name="Rectangle 14"/>
          <p:cNvSpPr/>
          <p:nvPr/>
        </p:nvSpPr>
        <p:spPr>
          <a:xfrm>
            <a:off x="4754880" y="3611880"/>
            <a:ext cx="6931152" cy="1371600"/>
          </a:xfrm>
          <a:prstGeom prst="rect">
            <a:avLst/>
          </a:prstGeom>
          <a:noFill/>
          <a:ln w="15875">
            <a:solidFill>
              <a:srgbClr val="0B2A5B"/>
            </a:solidFill>
          </a:ln>
          <a:effectLst/>
        </p:spPr>
        <p:txBody>
          <a:bodyPr rtlCol="0" anchor="ctr" wrap="square" lIns="182880" rIns="182880"/>
          <a:lstStyle/>
          <a:p>
            <a:pPr algn="l">
              <a:spcAft>
                <a:spcPts val="300"/>
              </a:spcAft>
            </a:pPr>
            <a:r>
              <a:rPr sz="1400" b="1">
                <a:solidFill>
                  <a:srgbClr val="E8602C"/>
                </a:solidFill>
                <a:latin typeface="Meiryo"/>
              </a:rPr>
              <a:t>示唆</a:t>
            </a:r>
          </a:p>
          <a:p>
            <a:pPr algn="l">
              <a:spcAft>
                <a:spcPts val="300"/>
              </a:spcAft>
            </a:pPr>
            <a:r>
              <a:rPr sz="1700" b="1">
                <a:solidFill>
                  <a:srgbClr val="0B2A5B"/>
                </a:solidFill>
                <a:latin typeface="Meiryo"/>
              </a:rPr>
              <a:t>患者規模は、すでに配信対象の医師と同程度。配信対象のリストを新しい視点で見直せば、追加の情報提供機会を検討できる</a:t>
            </a:r>
          </a:p>
        </p:txBody>
      </p:sp>
      <p:sp>
        <p:nvSpPr>
          <p:cNvPr id="16" name="Rectangle 15"/>
          <p:cNvSpPr/>
          <p:nvPr/>
        </p:nvSpPr>
        <p:spPr>
          <a:xfrm>
            <a:off x="502920" y="5166360"/>
            <a:ext cx="11183112" cy="1097280"/>
          </a:xfrm>
          <a:prstGeom prst="rect">
            <a:avLst/>
          </a:prstGeom>
          <a:solidFill>
            <a:srgbClr val="FFF4EE"/>
          </a:solidFill>
          <a:ln w="15875">
            <a:solidFill>
              <a:srgbClr val="E8602C"/>
            </a:solidFill>
          </a:ln>
          <a:effectLst/>
        </p:spPr>
        <p:txBody>
          <a:bodyPr rtlCol="0" anchor="ctr" wrap="square" lIns="182880" rIns="182880"/>
          <a:lstStyle/>
          <a:p>
            <a:pPr algn="l">
              <a:spcAft>
                <a:spcPts val="200"/>
              </a:spcAft>
            </a:pPr>
            <a:r>
              <a:rPr sz="1450" b="1">
                <a:solidFill>
                  <a:srgbClr val="1B1B1B"/>
                </a:solidFill>
                <a:latin typeface="Meiryo"/>
              </a:rPr>
              <a:t>・配信対象外の理由は不明。158名全員に新たに配信できるかも不明です。</a:t>
            </a:r>
          </a:p>
          <a:p>
            <a:pPr algn="l">
              <a:spcAft>
                <a:spcPts val="200"/>
              </a:spcAft>
            </a:pPr>
            <a:r>
              <a:rPr sz="1450" b="0">
                <a:solidFill>
                  <a:srgbClr val="1B1B1B"/>
                </a:solidFill>
                <a:latin typeface="Meiryo"/>
              </a:rPr>
              <a:t>・医師が興味を持たないために対象外とは断定しません。現在のターゲティングが不適切だったとも断定しません。</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256032"/>
            <a:ext cx="9144000" cy="896112"/>
          </a:xfrm>
          <a:prstGeom prst="rect">
            <a:avLst/>
          </a:prstGeom>
          <a:noFill/>
          <a:ln>
            <a:noFill/>
          </a:ln>
          <a:effectLst/>
        </p:spPr>
        <p:txBody>
          <a:bodyPr rtlCol="0" anchor="ctr" wrap="square" lIns="0" rIns="0"/>
          <a:lstStyle/>
          <a:p>
            <a:pPr algn="l"/>
            <a:r>
              <a:rPr sz="2600" b="1">
                <a:solidFill>
                  <a:srgbClr val="0B2A5B"/>
                </a:solidFill>
                <a:latin typeface="Meiryo"/>
              </a:rPr>
              <a:t>配信対象を見直し、診療科×理解度で内容を最適化</a:t>
            </a:r>
          </a:p>
        </p:txBody>
      </p:sp>
      <p:cxnSp>
        <p:nvCxnSpPr>
          <p:cNvPr id="3" name="Connector 2"/>
          <p:cNvCxnSpPr/>
          <p:nvPr/>
        </p:nvCxnSpPr>
        <p:spPr>
          <a:xfrm>
            <a:off x="502920" y="1207008"/>
            <a:ext cx="11183112" cy="0"/>
          </a:xfrm>
          <a:prstGeom prst="line">
            <a:avLst/>
          </a:prstGeom>
          <a:ln w="28575">
            <a:solidFill>
              <a:srgbClr val="0B2A5B"/>
            </a:solidFill>
          </a:ln>
        </p:spPr>
      </p:cxnSp>
      <p:sp>
        <p:nvSpPr>
          <p:cNvPr id="4" name="Rounded Rectangle 3"/>
          <p:cNvSpPr/>
          <p:nvPr/>
        </p:nvSpPr>
        <p:spPr>
          <a:xfrm>
            <a:off x="9829800" y="365760"/>
            <a:ext cx="1856231" cy="420624"/>
          </a:xfrm>
          <a:prstGeom prst="roundRect">
            <a:avLst/>
          </a:prstGeom>
          <a:solidFill>
            <a:srgbClr val="FFFFFF"/>
          </a:solidFill>
          <a:ln w="22225">
            <a:solidFill>
              <a:srgbClr val="E8602C"/>
            </a:solidFill>
            <a:prstDash val="dash"/>
          </a:ln>
          <a:effectLst/>
        </p:spPr>
        <p:txBody>
          <a:bodyPr rtlCol="0" anchor="ctr" wrap="square" lIns="18288" rIns="18288"/>
          <a:lstStyle/>
          <a:p>
            <a:pPr algn="ctr"/>
            <a:r>
              <a:rPr sz="1200" b="1">
                <a:solidFill>
                  <a:srgbClr val="E8602C"/>
                </a:solidFill>
                <a:latin typeface="Meiryo"/>
              </a:rPr>
              <a:t>施策提案(未実施)</a:t>
            </a:r>
          </a:p>
        </p:txBody>
      </p:sp>
      <p:sp>
        <p:nvSpPr>
          <p:cNvPr id="5" name="Rectangle 4"/>
          <p:cNvSpPr/>
          <p:nvPr/>
        </p:nvSpPr>
        <p:spPr>
          <a:xfrm>
            <a:off x="502920" y="6400800"/>
            <a:ext cx="10881360" cy="329184"/>
          </a:xfrm>
          <a:prstGeom prst="rect">
            <a:avLst/>
          </a:prstGeom>
          <a:noFill/>
          <a:ln>
            <a:noFill/>
          </a:ln>
          <a:effectLst/>
        </p:spPr>
        <p:txBody>
          <a:bodyPr rtlCol="0" anchor="ctr" wrap="square" lIns="0" rIns="0"/>
          <a:lstStyle/>
          <a:p>
            <a:pPr algn="l"/>
            <a:r>
              <a:rPr sz="1050" b="0">
                <a:solidFill>
                  <a:srgbClr val="5F6B7A"/>
                </a:solidFill>
                <a:latin typeface="Meiryo"/>
              </a:rPr>
              <a:t>医薬品情報は承認内容と関連するプロモーションルールに従います。MR面談は通常業務として維持します。</a:t>
            </a:r>
          </a:p>
        </p:txBody>
      </p:sp>
      <p:sp>
        <p:nvSpPr>
          <p:cNvPr id="6" name="Rectangle 5"/>
          <p:cNvSpPr/>
          <p:nvPr/>
        </p:nvSpPr>
        <p:spPr>
          <a:xfrm>
            <a:off x="11155680" y="6400800"/>
            <a:ext cx="530352" cy="329184"/>
          </a:xfrm>
          <a:prstGeom prst="rect">
            <a:avLst/>
          </a:prstGeom>
          <a:noFill/>
          <a:ln>
            <a:noFill/>
          </a:ln>
          <a:effectLst/>
        </p:spPr>
        <p:txBody>
          <a:bodyPr rtlCol="0" anchor="ctr" wrap="square" lIns="0" rIns="0"/>
          <a:lstStyle/>
          <a:p>
            <a:pPr algn="r"/>
            <a:r>
              <a:rPr sz="1100" b="0">
                <a:solidFill>
                  <a:srgbClr val="5F6B7A"/>
                </a:solidFill>
                <a:latin typeface="Meiryo"/>
              </a:rPr>
              <a:t>6</a:t>
            </a:r>
          </a:p>
        </p:txBody>
      </p:sp>
      <p:sp>
        <p:nvSpPr>
          <p:cNvPr id="7" name="Rectangle 6"/>
          <p:cNvSpPr/>
          <p:nvPr/>
        </p:nvSpPr>
        <p:spPr>
          <a:xfrm>
            <a:off x="502920" y="1371600"/>
            <a:ext cx="5486400" cy="411480"/>
          </a:xfrm>
          <a:prstGeom prst="rect">
            <a:avLst/>
          </a:prstGeom>
          <a:solidFill>
            <a:srgbClr val="E8602C"/>
          </a:solidFill>
          <a:ln>
            <a:noFill/>
          </a:ln>
          <a:effectLst/>
        </p:spPr>
        <p:txBody>
          <a:bodyPr rtlCol="0" anchor="ctr" wrap="square" lIns="182880" rIns="182880"/>
          <a:lstStyle/>
          <a:p>
            <a:pPr algn="l"/>
            <a:r>
              <a:rPr sz="1600" b="1">
                <a:solidFill>
                  <a:srgbClr val="FFFFFF"/>
                </a:solidFill>
                <a:latin typeface="Meiryo"/>
              </a:rPr>
              <a:t>STEP 1   Targeting</a:t>
            </a:r>
          </a:p>
        </p:txBody>
      </p:sp>
      <p:sp>
        <p:nvSpPr>
          <p:cNvPr id="8" name="Rectangle 7"/>
          <p:cNvSpPr/>
          <p:nvPr/>
        </p:nvSpPr>
        <p:spPr>
          <a:xfrm>
            <a:off x="502920" y="1783080"/>
            <a:ext cx="5486400" cy="1280160"/>
          </a:xfrm>
          <a:prstGeom prst="rect">
            <a:avLst/>
          </a:prstGeom>
          <a:solidFill>
            <a:srgbClr val="F1F4F9"/>
          </a:solidFill>
          <a:ln>
            <a:noFill/>
          </a:ln>
          <a:effectLst/>
        </p:spPr>
        <p:txBody>
          <a:bodyPr rtlCol="0" anchor="ctr" wrap="square" lIns="182880" rIns="182880"/>
          <a:lstStyle/>
          <a:p>
            <a:pPr algn="l">
              <a:spcAft>
                <a:spcPts val="400"/>
              </a:spcAft>
            </a:pPr>
            <a:r>
              <a:rPr sz="1700" b="1">
                <a:solidFill>
                  <a:srgbClr val="E8602C"/>
                </a:solidFill>
                <a:latin typeface="Meiryo"/>
              </a:rPr>
              <a:t>新規配信候補  158名</a:t>
            </a:r>
          </a:p>
          <a:p>
            <a:pPr algn="l">
              <a:spcAft>
                <a:spcPts val="400"/>
              </a:spcAft>
            </a:pPr>
            <a:r>
              <a:rPr sz="1400" b="0">
                <a:solidFill>
                  <a:srgbClr val="1B1B1B"/>
                </a:solidFill>
                <a:latin typeface="Meiryo"/>
              </a:rPr>
              <a:t>対象外の理由・配信資格・実施可否を確認し、条件を満たす医師を新たな重点配信候補として見直す</a:t>
            </a:r>
          </a:p>
        </p:txBody>
      </p:sp>
      <p:sp>
        <p:nvSpPr>
          <p:cNvPr id="9" name="Rectangle 8"/>
          <p:cNvSpPr/>
          <p:nvPr/>
        </p:nvSpPr>
        <p:spPr>
          <a:xfrm>
            <a:off x="6199632" y="1371600"/>
            <a:ext cx="5486400" cy="411480"/>
          </a:xfrm>
          <a:prstGeom prst="rect">
            <a:avLst/>
          </a:prstGeom>
          <a:solidFill>
            <a:srgbClr val="0B2A5B"/>
          </a:solidFill>
          <a:ln>
            <a:noFill/>
          </a:ln>
          <a:effectLst/>
        </p:spPr>
        <p:txBody>
          <a:bodyPr rtlCol="0" anchor="ctr" wrap="square" lIns="182880" rIns="182880"/>
          <a:lstStyle/>
          <a:p>
            <a:pPr algn="l"/>
            <a:r>
              <a:rPr sz="1600" b="1">
                <a:solidFill>
                  <a:srgbClr val="FFFFFF"/>
                </a:solidFill>
                <a:latin typeface="Meiryo"/>
              </a:rPr>
              <a:t>STEP 2   Personalization</a:t>
            </a:r>
          </a:p>
        </p:txBody>
      </p:sp>
      <p:sp>
        <p:nvSpPr>
          <p:cNvPr id="10" name="Rectangle 9"/>
          <p:cNvSpPr/>
          <p:nvPr/>
        </p:nvSpPr>
        <p:spPr>
          <a:xfrm>
            <a:off x="6199632" y="1783080"/>
            <a:ext cx="5486400" cy="1280160"/>
          </a:xfrm>
          <a:prstGeom prst="rect">
            <a:avLst/>
          </a:prstGeom>
          <a:solidFill>
            <a:srgbClr val="F1F4F9"/>
          </a:solidFill>
          <a:ln>
            <a:noFill/>
          </a:ln>
          <a:effectLst/>
        </p:spPr>
        <p:txBody>
          <a:bodyPr rtlCol="0" anchor="ctr" wrap="square" lIns="182880" rIns="182880"/>
          <a:lstStyle/>
          <a:p>
            <a:pPr algn="l">
              <a:spcAft>
                <a:spcPts val="400"/>
              </a:spcAft>
            </a:pPr>
            <a:r>
              <a:rPr sz="1700" b="1">
                <a:solidFill>
                  <a:srgbClr val="0B2A5B"/>
                </a:solidFill>
                <a:latin typeface="Meiryo"/>
              </a:rPr>
              <a:t>既存配信対象  275名</a:t>
            </a:r>
          </a:p>
          <a:p>
            <a:pPr algn="l">
              <a:spcAft>
                <a:spcPts val="400"/>
              </a:spcAft>
            </a:pPr>
            <a:r>
              <a:rPr sz="1400" b="0">
                <a:solidFill>
                  <a:srgbClr val="1B1B1B"/>
                </a:solidFill>
                <a:latin typeface="Meiryo"/>
              </a:rPr>
              <a:t>配信可能となった新規対象も含め、診療科 × 理解度に応じて既存コンテンツを出し分ける</a:t>
            </a:r>
          </a:p>
        </p:txBody>
      </p:sp>
      <p:sp>
        <p:nvSpPr>
          <p:cNvPr id="11" name="Right Arrow 10"/>
          <p:cNvSpPr/>
          <p:nvPr/>
        </p:nvSpPr>
        <p:spPr>
          <a:xfrm>
            <a:off x="6016752" y="2194560"/>
            <a:ext cx="164592" cy="457200"/>
          </a:xfrm>
          <a:prstGeom prst="rightArrow">
            <a:avLst/>
          </a:prstGeom>
          <a:solidFill>
            <a:srgbClr val="9DB4D8"/>
          </a:solidFill>
          <a:ln>
            <a:noFill/>
          </a:ln>
          <a:effectLst/>
        </p:spPr>
        <p:txBody>
          <a:bodyPr rtlCol="0" anchor="ctr"/>
          <a:lstStyle/>
          <a:p>
            <a:pPr algn="ctr"/>
          </a:p>
        </p:txBody>
      </p:sp>
      <p:graphicFrame>
        <p:nvGraphicFramePr>
          <p:cNvPr id="12" name="Table 11"/>
          <p:cNvGraphicFramePr>
            <a:graphicFrameLocks noGrp="1"/>
          </p:cNvGraphicFramePr>
          <p:nvPr/>
        </p:nvGraphicFramePr>
        <p:xfrm>
          <a:off x="502920" y="3200400"/>
          <a:ext cx="11183112" cy="1920240"/>
        </p:xfrm>
        <a:graphic>
          <a:graphicData uri="http://schemas.openxmlformats.org/drawingml/2006/table">
            <a:tbl>
              <a:tblPr firstRow="1" bandRow="1">
                <a:tableStyleId>{5C22544A-7EE6-4342-B048-85BDC9FD1C3A}</a:tableStyleId>
              </a:tblPr>
              <a:tblGrid>
                <a:gridCol w="3017520"/>
                <a:gridCol w="6263640"/>
                <a:gridCol w="1901952"/>
              </a:tblGrid>
              <a:tr h="384048">
                <a:tc>
                  <a:txBody>
                    <a:bodyPr/>
                    <a:lstStyle/>
                    <a:p>
                      <a:pPr algn="ctr"/>
                      <a:r>
                        <a:rPr sz="1250" b="1">
                          <a:solidFill>
                            <a:srgbClr val="FFFFFF"/>
                          </a:solidFill>
                          <a:latin typeface="Meiryo"/>
                        </a:rPr>
                        <a:t>対象</a:t>
                      </a:r>
                    </a:p>
                  </a:txBody>
                  <a:tcPr anchor="ctr" marL="73152" marR="73152">
                    <a:solidFill>
                      <a:srgbClr val="0B2A5B"/>
                    </a:solidFill>
                  </a:tcPr>
                </a:tc>
                <a:tc>
                  <a:txBody>
                    <a:bodyPr/>
                    <a:lstStyle/>
                    <a:p>
                      <a:pPr algn="ctr"/>
                      <a:r>
                        <a:rPr sz="1250" b="1">
                          <a:solidFill>
                            <a:srgbClr val="FFFFFF"/>
                          </a:solidFill>
                          <a:latin typeface="Meiryo"/>
                        </a:rPr>
                        <a:t>出し分けの考え方</a:t>
                      </a:r>
                    </a:p>
                  </a:txBody>
                  <a:tcPr anchor="ctr" marL="73152" marR="73152">
                    <a:solidFill>
                      <a:srgbClr val="0B2A5B"/>
                    </a:solidFill>
                  </a:tcPr>
                </a:tc>
                <a:tc>
                  <a:txBody>
                    <a:bodyPr/>
                    <a:lstStyle/>
                    <a:p>
                      <a:pPr algn="ctr"/>
                      <a:r>
                        <a:rPr sz="1250" b="1">
                          <a:solidFill>
                            <a:srgbClr val="FFFFFF"/>
                          </a:solidFill>
                          <a:latin typeface="Meiryo"/>
                        </a:rPr>
                        <a:t>候補コンテンツ(推定)</a:t>
                      </a:r>
                    </a:p>
                  </a:txBody>
                  <a:tcPr anchor="ctr" marL="73152" marR="73152">
                    <a:solidFill>
                      <a:srgbClr val="0B2A5B"/>
                    </a:solidFill>
                  </a:tcPr>
                </a:tc>
              </a:tr>
              <a:tr h="384048">
                <a:tc>
                  <a:txBody>
                    <a:bodyPr/>
                    <a:lstStyle/>
                    <a:p>
                      <a:pPr algn="l"/>
                      <a:r>
                        <a:rPr sz="1300" b="1">
                          <a:solidFill>
                            <a:srgbClr val="1B1B1B"/>
                          </a:solidFill>
                          <a:latin typeface="Meiryo"/>
                        </a:rPr>
                        <a:t>A層(理解度 低) × 内科</a:t>
                      </a:r>
                    </a:p>
                  </a:txBody>
                  <a:tcPr anchor="ctr" marL="73152" marR="73152">
                    <a:solidFill>
                      <a:srgbClr val="F1F4F9"/>
                    </a:solidFill>
                  </a:tcPr>
                </a:tc>
                <a:tc>
                  <a:txBody>
                    <a:bodyPr/>
                    <a:lstStyle/>
                    <a:p>
                      <a:pPr algn="l"/>
                      <a:r>
                        <a:rPr sz="1300" b="0">
                          <a:solidFill>
                            <a:srgbClr val="1B1B1B"/>
                          </a:solidFill>
                          <a:latin typeface="Meiryo"/>
                        </a:rPr>
                        <a:t>まず飲み合わせの基本情報を紹介し、必要に応じて他の基本情報を補足</a:t>
                      </a:r>
                    </a:p>
                  </a:txBody>
                  <a:tcPr anchor="ctr" marL="73152" marR="73152">
                    <a:solidFill>
                      <a:srgbClr val="FFFFFF"/>
                    </a:solidFill>
                  </a:tcPr>
                </a:tc>
                <a:tc>
                  <a:txBody>
                    <a:bodyPr/>
                    <a:lstStyle/>
                    <a:p>
                      <a:pPr algn="ctr"/>
                      <a:r>
                        <a:rPr sz="1600" b="1">
                          <a:solidFill>
                            <a:srgbClr val="E8602C"/>
                          </a:solidFill>
                          <a:latin typeface="Meiryo"/>
                        </a:rPr>
                        <a:t>C04</a:t>
                      </a:r>
                    </a:p>
                  </a:txBody>
                  <a:tcPr anchor="ctr" marL="73152" marR="73152">
                    <a:solidFill>
                      <a:srgbClr val="FFFFFF"/>
                    </a:solidFill>
                  </a:tcPr>
                </a:tc>
              </a:tr>
              <a:tr h="384048">
                <a:tc>
                  <a:txBody>
                    <a:bodyPr/>
                    <a:lstStyle/>
                    <a:p>
                      <a:pPr algn="l"/>
                      <a:r>
                        <a:rPr sz="1300" b="1">
                          <a:solidFill>
                            <a:srgbClr val="1B1B1B"/>
                          </a:solidFill>
                          <a:latin typeface="Meiryo"/>
                        </a:rPr>
                        <a:t>A層(理解度 低) × 耳鼻咽喉科</a:t>
                      </a:r>
                    </a:p>
                  </a:txBody>
                  <a:tcPr anchor="ctr" marL="73152" marR="73152">
                    <a:solidFill>
                      <a:srgbClr val="F1F4F9"/>
                    </a:solidFill>
                  </a:tcPr>
                </a:tc>
                <a:tc>
                  <a:txBody>
                    <a:bodyPr/>
                    <a:lstStyle/>
                    <a:p>
                      <a:pPr algn="l"/>
                      <a:r>
                        <a:rPr sz="1300" b="0">
                          <a:solidFill>
                            <a:srgbClr val="1B1B1B"/>
                          </a:solidFill>
                          <a:latin typeface="Meiryo"/>
                        </a:rPr>
                        <a:t>まず24h持続性の基本情報を紹介し、必要に応じて他の基本情報を補足</a:t>
                      </a:r>
                    </a:p>
                  </a:txBody>
                  <a:tcPr anchor="ctr" marL="73152" marR="73152">
                    <a:solidFill>
                      <a:srgbClr val="FFFFFF"/>
                    </a:solidFill>
                  </a:tcPr>
                </a:tc>
                <a:tc>
                  <a:txBody>
                    <a:bodyPr/>
                    <a:lstStyle/>
                    <a:p>
                      <a:pPr algn="ctr"/>
                      <a:r>
                        <a:rPr sz="1600" b="1">
                          <a:solidFill>
                            <a:srgbClr val="E8602C"/>
                          </a:solidFill>
                          <a:latin typeface="Meiryo"/>
                        </a:rPr>
                        <a:t>C05</a:t>
                      </a:r>
                    </a:p>
                  </a:txBody>
                  <a:tcPr anchor="ctr" marL="73152" marR="73152">
                    <a:solidFill>
                      <a:srgbClr val="FFFFFF"/>
                    </a:solidFill>
                  </a:tcPr>
                </a:tc>
              </a:tr>
              <a:tr h="384048">
                <a:tc>
                  <a:txBody>
                    <a:bodyPr/>
                    <a:lstStyle/>
                    <a:p>
                      <a:pPr algn="l"/>
                      <a:r>
                        <a:rPr sz="1300" b="1">
                          <a:solidFill>
                            <a:srgbClr val="1B1B1B"/>
                          </a:solidFill>
                          <a:latin typeface="Meiryo"/>
                        </a:rPr>
                        <a:t>B層(理解度 中) × 内科</a:t>
                      </a:r>
                    </a:p>
                  </a:txBody>
                  <a:tcPr anchor="ctr" marL="73152" marR="73152">
                    <a:solidFill>
                      <a:srgbClr val="F1F4F9"/>
                    </a:solidFill>
                  </a:tcPr>
                </a:tc>
                <a:tc>
                  <a:txBody>
                    <a:bodyPr/>
                    <a:lstStyle/>
                    <a:p>
                      <a:pPr algn="l"/>
                      <a:r>
                        <a:rPr sz="1300" b="0">
                          <a:solidFill>
                            <a:srgbClr val="1B1B1B"/>
                          </a:solidFill>
                          <a:latin typeface="Meiryo"/>
                        </a:rPr>
                        <a:t>重視項目(飲み合わせ)について、より具体的な情報を提供</a:t>
                      </a:r>
                    </a:p>
                  </a:txBody>
                  <a:tcPr anchor="ctr" marL="73152" marR="73152">
                    <a:solidFill>
                      <a:srgbClr val="FFFFFF"/>
                    </a:solidFill>
                  </a:tcPr>
                </a:tc>
                <a:tc>
                  <a:txBody>
                    <a:bodyPr/>
                    <a:lstStyle/>
                    <a:p>
                      <a:pPr algn="ctr"/>
                      <a:r>
                        <a:rPr sz="1600" b="1">
                          <a:solidFill>
                            <a:srgbClr val="E8602C"/>
                          </a:solidFill>
                          <a:latin typeface="Meiryo"/>
                        </a:rPr>
                        <a:t>C09</a:t>
                      </a:r>
                    </a:p>
                  </a:txBody>
                  <a:tcPr anchor="ctr" marL="73152" marR="73152">
                    <a:solidFill>
                      <a:srgbClr val="FFFFFF"/>
                    </a:solidFill>
                  </a:tcPr>
                </a:tc>
              </a:tr>
              <a:tr h="384048">
                <a:tc>
                  <a:txBody>
                    <a:bodyPr/>
                    <a:lstStyle/>
                    <a:p>
                      <a:pPr algn="l"/>
                      <a:r>
                        <a:rPr sz="1300" b="1">
                          <a:solidFill>
                            <a:srgbClr val="1B1B1B"/>
                          </a:solidFill>
                          <a:latin typeface="Meiryo"/>
                        </a:rPr>
                        <a:t>B層(理解度 中) × 耳鼻咽喉科</a:t>
                      </a:r>
                    </a:p>
                  </a:txBody>
                  <a:tcPr anchor="ctr" marL="73152" marR="73152">
                    <a:solidFill>
                      <a:srgbClr val="F1F4F9"/>
                    </a:solidFill>
                  </a:tcPr>
                </a:tc>
                <a:tc>
                  <a:txBody>
                    <a:bodyPr/>
                    <a:lstStyle/>
                    <a:p>
                      <a:pPr algn="l"/>
                      <a:r>
                        <a:rPr sz="1300" b="0">
                          <a:solidFill>
                            <a:srgbClr val="1B1B1B"/>
                          </a:solidFill>
                          <a:latin typeface="Meiryo"/>
                        </a:rPr>
                        <a:t>重視項目(24h持続性)について、より具体的な情報を提供</a:t>
                      </a:r>
                    </a:p>
                  </a:txBody>
                  <a:tcPr anchor="ctr" marL="73152" marR="73152">
                    <a:solidFill>
                      <a:srgbClr val="FFFFFF"/>
                    </a:solidFill>
                  </a:tcPr>
                </a:tc>
                <a:tc>
                  <a:txBody>
                    <a:bodyPr/>
                    <a:lstStyle/>
                    <a:p>
                      <a:pPr algn="ctr"/>
                      <a:r>
                        <a:rPr sz="1600" b="1">
                          <a:solidFill>
                            <a:srgbClr val="E8602C"/>
                          </a:solidFill>
                          <a:latin typeface="Meiryo"/>
                        </a:rPr>
                        <a:t>C10</a:t>
                      </a:r>
                    </a:p>
                  </a:txBody>
                  <a:tcPr anchor="ctr" marL="73152" marR="73152">
                    <a:solidFill>
                      <a:srgbClr val="FFFFFF"/>
                    </a:solidFill>
                  </a:tcPr>
                </a:tc>
              </a:tr>
            </a:tbl>
          </a:graphicData>
        </a:graphic>
      </p:graphicFrame>
      <p:sp>
        <p:nvSpPr>
          <p:cNvPr id="13" name="Rectangle 12"/>
          <p:cNvSpPr/>
          <p:nvPr/>
        </p:nvSpPr>
        <p:spPr>
          <a:xfrm>
            <a:off x="502920" y="5230368"/>
            <a:ext cx="11183112" cy="384048"/>
          </a:xfrm>
          <a:prstGeom prst="rect">
            <a:avLst/>
          </a:prstGeom>
          <a:solidFill>
            <a:srgbClr val="F1F4F9"/>
          </a:solidFill>
          <a:ln>
            <a:noFill/>
          </a:ln>
          <a:effectLst/>
        </p:spPr>
        <p:txBody>
          <a:bodyPr rtlCol="0" anchor="ctr" wrap="square" lIns="182880" rIns="182880"/>
          <a:lstStyle/>
          <a:p>
            <a:pPr algn="l"/>
            <a:r>
              <a:rPr sz="1400" b="1">
                <a:solidFill>
                  <a:srgbClr val="0B2A5B"/>
                </a:solidFill>
                <a:latin typeface="Meiryo"/>
              </a:rPr>
              <a:t>Engagement  </a:t>
            </a:r>
            <a:r>
              <a:rPr sz="1400" b="0">
                <a:solidFill>
                  <a:srgbClr val="1B1B1B"/>
                </a:solidFill>
                <a:latin typeface="Meiryo"/>
              </a:rPr>
              <a:t>配信・既読を医師別に記録し、次の内容提供に反映する(主施策ではなく、継続改善の仕組み)</a:t>
            </a:r>
          </a:p>
        </p:txBody>
      </p:sp>
      <p:sp>
        <p:nvSpPr>
          <p:cNvPr id="14" name="Rectangle 13"/>
          <p:cNvSpPr/>
          <p:nvPr/>
        </p:nvSpPr>
        <p:spPr>
          <a:xfrm>
            <a:off x="502920" y="5687568"/>
            <a:ext cx="11183112" cy="621792"/>
          </a:xfrm>
          <a:prstGeom prst="rect">
            <a:avLst/>
          </a:prstGeom>
          <a:solidFill>
            <a:srgbClr val="FFF4EE"/>
          </a:solidFill>
          <a:ln w="15875">
            <a:solidFill>
              <a:srgbClr val="E8602C"/>
            </a:solidFill>
          </a:ln>
          <a:effectLst/>
        </p:spPr>
        <p:txBody>
          <a:bodyPr rtlCol="0" anchor="ctr" wrap="square" lIns="182880" rIns="182880"/>
          <a:lstStyle/>
          <a:p>
            <a:pPr algn="l">
              <a:spcAft>
                <a:spcPts val="200"/>
              </a:spcAft>
            </a:pPr>
            <a:r>
              <a:rPr sz="1400" b="1">
                <a:solidFill>
                  <a:srgbClr val="1B1B1B"/>
                </a:solidFill>
                <a:latin typeface="Meiryo"/>
              </a:rPr>
              <a:t>コンテンツは候補です(タイトル・テーマからの推定)。本文は未確認で、配信順序が最適かは未検証です。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256032"/>
            <a:ext cx="9144000" cy="896112"/>
          </a:xfrm>
          <a:prstGeom prst="rect">
            <a:avLst/>
          </a:prstGeom>
          <a:noFill/>
          <a:ln>
            <a:noFill/>
          </a:ln>
          <a:effectLst/>
        </p:spPr>
        <p:txBody>
          <a:bodyPr rtlCol="0" anchor="ctr" wrap="square" lIns="0" rIns="0"/>
          <a:lstStyle/>
          <a:p>
            <a:pPr algn="l"/>
            <a:r>
              <a:rPr sz="2600" b="1">
                <a:solidFill>
                  <a:srgbClr val="0B2A5B"/>
                </a:solidFill>
                <a:latin typeface="Meiryo"/>
              </a:rPr>
              <a:t>実施条件と費用を確認しながら、段階的に進める</a:t>
            </a:r>
          </a:p>
        </p:txBody>
      </p:sp>
      <p:cxnSp>
        <p:nvCxnSpPr>
          <p:cNvPr id="3" name="Connector 2"/>
          <p:cNvCxnSpPr/>
          <p:nvPr/>
        </p:nvCxnSpPr>
        <p:spPr>
          <a:xfrm>
            <a:off x="502920" y="1207008"/>
            <a:ext cx="11183112" cy="0"/>
          </a:xfrm>
          <a:prstGeom prst="line">
            <a:avLst/>
          </a:prstGeom>
          <a:ln w="28575">
            <a:solidFill>
              <a:srgbClr val="0B2A5B"/>
            </a:solidFill>
          </a:ln>
        </p:spPr>
      </p:cxnSp>
      <p:sp>
        <p:nvSpPr>
          <p:cNvPr id="4" name="Rounded Rectangle 3"/>
          <p:cNvSpPr/>
          <p:nvPr/>
        </p:nvSpPr>
        <p:spPr>
          <a:xfrm>
            <a:off x="9829800" y="365760"/>
            <a:ext cx="1856231" cy="420624"/>
          </a:xfrm>
          <a:prstGeom prst="roundRect">
            <a:avLst/>
          </a:prstGeom>
          <a:solidFill>
            <a:srgbClr val="FFFFFF"/>
          </a:solidFill>
          <a:ln w="22225">
            <a:solidFill>
              <a:srgbClr val="E8602C"/>
            </a:solidFill>
            <a:prstDash val="dash"/>
          </a:ln>
          <a:effectLst/>
        </p:spPr>
        <p:txBody>
          <a:bodyPr rtlCol="0" anchor="ctr" wrap="square" lIns="18288" rIns="18288"/>
          <a:lstStyle/>
          <a:p>
            <a:pPr algn="ctr"/>
            <a:r>
              <a:rPr sz="1200" b="1">
                <a:solidFill>
                  <a:srgbClr val="E8602C"/>
                </a:solidFill>
                <a:latin typeface="Meiryo"/>
              </a:rPr>
              <a:t>実施・評価計画(未実施)</a:t>
            </a:r>
          </a:p>
        </p:txBody>
      </p:sp>
      <p:sp>
        <p:nvSpPr>
          <p:cNvPr id="5" name="Rectangle 4"/>
          <p:cNvSpPr/>
          <p:nvPr/>
        </p:nvSpPr>
        <p:spPr>
          <a:xfrm>
            <a:off x="502920" y="6400800"/>
            <a:ext cx="10881360" cy="329184"/>
          </a:xfrm>
          <a:prstGeom prst="rect">
            <a:avLst/>
          </a:prstGeom>
          <a:noFill/>
          <a:ln>
            <a:noFill/>
          </a:ln>
          <a:effectLst/>
        </p:spPr>
        <p:txBody>
          <a:bodyPr rtlCol="0" anchor="ctr" wrap="square" lIns="0" rIns="0"/>
          <a:lstStyle/>
          <a:p>
            <a:pPr algn="l"/>
            <a:r>
              <a:rPr sz="1050" b="0">
                <a:solidFill>
                  <a:srgbClr val="5F6B7A"/>
                </a:solidFill>
                <a:latin typeface="Meiryo"/>
              </a:rPr>
              <a:t>費用単価と既読件数の出典: データ仕様書、MR君の既読記録(対象期間は不明)。MR君の機能・配信可能条件は未確認です。</a:t>
            </a:r>
          </a:p>
        </p:txBody>
      </p:sp>
      <p:sp>
        <p:nvSpPr>
          <p:cNvPr id="6" name="Rectangle 5"/>
          <p:cNvSpPr/>
          <p:nvPr/>
        </p:nvSpPr>
        <p:spPr>
          <a:xfrm>
            <a:off x="11155680" y="6400800"/>
            <a:ext cx="530352" cy="329184"/>
          </a:xfrm>
          <a:prstGeom prst="rect">
            <a:avLst/>
          </a:prstGeom>
          <a:noFill/>
          <a:ln>
            <a:noFill/>
          </a:ln>
          <a:effectLst/>
        </p:spPr>
        <p:txBody>
          <a:bodyPr rtlCol="0" anchor="ctr" wrap="square" lIns="0" rIns="0"/>
          <a:lstStyle/>
          <a:p>
            <a:pPr algn="r"/>
            <a:r>
              <a:rPr sz="1100" b="0">
                <a:solidFill>
                  <a:srgbClr val="5F6B7A"/>
                </a:solidFill>
                <a:latin typeface="Meiryo"/>
              </a:rPr>
              <a:t>7</a:t>
            </a:r>
          </a:p>
        </p:txBody>
      </p:sp>
      <p:sp>
        <p:nvSpPr>
          <p:cNvPr id="7" name="Rectangle 6"/>
          <p:cNvSpPr/>
          <p:nvPr/>
        </p:nvSpPr>
        <p:spPr>
          <a:xfrm>
            <a:off x="502920" y="1371600"/>
            <a:ext cx="1965960" cy="457200"/>
          </a:xfrm>
          <a:prstGeom prst="rect">
            <a:avLst/>
          </a:prstGeom>
          <a:solidFill>
            <a:srgbClr val="E8602C"/>
          </a:solidFill>
          <a:ln>
            <a:noFill/>
          </a:ln>
          <a:effectLst/>
        </p:spPr>
        <p:txBody>
          <a:bodyPr rtlCol="0" anchor="ctr" wrap="square"/>
          <a:lstStyle/>
          <a:p>
            <a:pPr algn="ctr"/>
            <a:r>
              <a:rPr sz="1500" b="1">
                <a:solidFill>
                  <a:srgbClr val="FFFFFF"/>
                </a:solidFill>
                <a:latin typeface="Meiryo"/>
              </a:rPr>
              <a:t>① 対象確認</a:t>
            </a:r>
          </a:p>
        </p:txBody>
      </p:sp>
      <p:sp>
        <p:nvSpPr>
          <p:cNvPr id="8" name="Rectangle 7"/>
          <p:cNvSpPr/>
          <p:nvPr/>
        </p:nvSpPr>
        <p:spPr>
          <a:xfrm>
            <a:off x="502920" y="1828800"/>
            <a:ext cx="1965960" cy="1828800"/>
          </a:xfrm>
          <a:prstGeom prst="rect">
            <a:avLst/>
          </a:prstGeom>
          <a:solidFill>
            <a:srgbClr val="F1F4F9"/>
          </a:solidFill>
          <a:ln>
            <a:noFill/>
          </a:ln>
          <a:effectLst/>
        </p:spPr>
        <p:txBody>
          <a:bodyPr rtlCol="0" anchor="t" wrap="square" lIns="109728" rIns="109728"/>
          <a:lstStyle/>
          <a:p>
            <a:pPr algn="l">
              <a:spcAft>
                <a:spcPts val="300"/>
              </a:spcAft>
            </a:pPr>
            <a:r>
              <a:rPr sz="1400" b="1">
                <a:solidFill>
                  <a:srgbClr val="0B2A5B"/>
                </a:solidFill>
                <a:latin typeface="Meiryo"/>
              </a:rPr>
              <a:t>158名の配信資格を確認</a:t>
            </a:r>
          </a:p>
          <a:p>
            <a:pPr algn="l">
              <a:spcAft>
                <a:spcPts val="300"/>
              </a:spcAft>
            </a:pPr>
            <a:r>
              <a:rPr sz="1250" b="0">
                <a:solidFill>
                  <a:srgbClr val="1B1B1B"/>
                </a:solidFill>
                <a:latin typeface="Meiryo"/>
              </a:rPr>
              <a:t>・配信可能か</a:t>
            </a:r>
          </a:p>
          <a:p>
            <a:pPr algn="l">
              <a:spcAft>
                <a:spcPts val="300"/>
              </a:spcAft>
            </a:pPr>
            <a:r>
              <a:rPr sz="1250" b="0">
                <a:solidFill>
                  <a:srgbClr val="1B1B1B"/>
                </a:solidFill>
                <a:latin typeface="Meiryo"/>
              </a:rPr>
              <a:t>・対象外の理由</a:t>
            </a:r>
          </a:p>
          <a:p>
            <a:pPr algn="l">
              <a:spcAft>
                <a:spcPts val="300"/>
              </a:spcAft>
            </a:pPr>
            <a:r>
              <a:rPr sz="1250" b="0">
                <a:solidFill>
                  <a:srgbClr val="1B1B1B"/>
                </a:solidFill>
                <a:latin typeface="Meiryo"/>
              </a:rPr>
              <a:t>・同意・配信停止などの制約</a:t>
            </a:r>
          </a:p>
          <a:p>
            <a:pPr algn="l">
              <a:spcAft>
                <a:spcPts val="300"/>
              </a:spcAft>
            </a:pPr>
            <a:r>
              <a:rPr sz="1250" b="0">
                <a:solidFill>
                  <a:srgbClr val="1B1B1B"/>
                </a:solidFill>
                <a:latin typeface="Meiryo"/>
              </a:rPr>
              <a:t>・既存の営業施策との関係</a:t>
            </a:r>
          </a:p>
        </p:txBody>
      </p:sp>
      <p:sp>
        <p:nvSpPr>
          <p:cNvPr id="9" name="Right Arrow 8"/>
          <p:cNvSpPr/>
          <p:nvPr/>
        </p:nvSpPr>
        <p:spPr>
          <a:xfrm>
            <a:off x="2478024" y="2331720"/>
            <a:ext cx="109728" cy="320040"/>
          </a:xfrm>
          <a:prstGeom prst="rightArrow">
            <a:avLst/>
          </a:prstGeom>
          <a:solidFill>
            <a:srgbClr val="9DB4D8"/>
          </a:solidFill>
          <a:ln>
            <a:noFill/>
          </a:ln>
          <a:effectLst/>
        </p:spPr>
        <p:txBody>
          <a:bodyPr rtlCol="0" anchor="ctr"/>
          <a:lstStyle/>
          <a:p>
            <a:pPr algn="ctr"/>
          </a:p>
        </p:txBody>
      </p:sp>
      <p:sp>
        <p:nvSpPr>
          <p:cNvPr id="10" name="Rectangle 9"/>
          <p:cNvSpPr/>
          <p:nvPr/>
        </p:nvSpPr>
        <p:spPr>
          <a:xfrm>
            <a:off x="2587752" y="1371600"/>
            <a:ext cx="1965960" cy="457200"/>
          </a:xfrm>
          <a:prstGeom prst="rect">
            <a:avLst/>
          </a:prstGeom>
          <a:solidFill>
            <a:srgbClr val="0B2A5B"/>
          </a:solidFill>
          <a:ln>
            <a:noFill/>
          </a:ln>
          <a:effectLst/>
        </p:spPr>
        <p:txBody>
          <a:bodyPr rtlCol="0" anchor="ctr" wrap="square"/>
          <a:lstStyle/>
          <a:p>
            <a:pPr algn="ctr"/>
            <a:r>
              <a:rPr sz="1500" b="1">
                <a:solidFill>
                  <a:srgbClr val="FFFFFF"/>
                </a:solidFill>
                <a:latin typeface="Meiryo"/>
              </a:rPr>
              <a:t>② 配信設定</a:t>
            </a:r>
          </a:p>
        </p:txBody>
      </p:sp>
      <p:sp>
        <p:nvSpPr>
          <p:cNvPr id="11" name="Rectangle 10"/>
          <p:cNvSpPr/>
          <p:nvPr/>
        </p:nvSpPr>
        <p:spPr>
          <a:xfrm>
            <a:off x="2587752" y="1828800"/>
            <a:ext cx="1965960" cy="1828800"/>
          </a:xfrm>
          <a:prstGeom prst="rect">
            <a:avLst/>
          </a:prstGeom>
          <a:solidFill>
            <a:srgbClr val="F1F4F9"/>
          </a:solidFill>
          <a:ln>
            <a:noFill/>
          </a:ln>
          <a:effectLst/>
        </p:spPr>
        <p:txBody>
          <a:bodyPr rtlCol="0" anchor="t" wrap="square" lIns="109728" rIns="109728"/>
          <a:lstStyle/>
          <a:p>
            <a:pPr algn="l">
              <a:spcAft>
                <a:spcPts val="300"/>
              </a:spcAft>
            </a:pPr>
            <a:r>
              <a:rPr sz="1400" b="1">
                <a:solidFill>
                  <a:srgbClr val="0B2A5B"/>
                </a:solidFill>
                <a:latin typeface="Meiryo"/>
              </a:rPr>
              <a:t>既存10本で出し分け</a:t>
            </a:r>
          </a:p>
          <a:p>
            <a:pPr algn="l">
              <a:spcAft>
                <a:spcPts val="300"/>
              </a:spcAft>
            </a:pPr>
            <a:r>
              <a:rPr sz="1250" b="0">
                <a:solidFill>
                  <a:srgbClr val="1B1B1B"/>
                </a:solidFill>
                <a:latin typeface="Meiryo"/>
              </a:rPr>
              <a:t>・診療科×理解度の内容を設定</a:t>
            </a:r>
          </a:p>
          <a:p>
            <a:pPr algn="l">
              <a:spcAft>
                <a:spcPts val="300"/>
              </a:spcAft>
            </a:pPr>
            <a:r>
              <a:rPr sz="1250" b="0">
                <a:solidFill>
                  <a:srgbClr val="1B1B1B"/>
                </a:solidFill>
                <a:latin typeface="Meiryo"/>
              </a:rPr>
              <a:t>・医師別の内容指定ができるかは未確認(実施条件)</a:t>
            </a:r>
          </a:p>
        </p:txBody>
      </p:sp>
      <p:sp>
        <p:nvSpPr>
          <p:cNvPr id="12" name="Right Arrow 11"/>
          <p:cNvSpPr/>
          <p:nvPr/>
        </p:nvSpPr>
        <p:spPr>
          <a:xfrm>
            <a:off x="4562856" y="2331720"/>
            <a:ext cx="109728" cy="320040"/>
          </a:xfrm>
          <a:prstGeom prst="rightArrow">
            <a:avLst/>
          </a:prstGeom>
          <a:solidFill>
            <a:srgbClr val="9DB4D8"/>
          </a:solidFill>
          <a:ln>
            <a:noFill/>
          </a:ln>
          <a:effectLst/>
        </p:spPr>
        <p:txBody>
          <a:bodyPr rtlCol="0" anchor="ctr"/>
          <a:lstStyle/>
          <a:p>
            <a:pPr algn="ctr"/>
          </a:p>
        </p:txBody>
      </p:sp>
      <p:sp>
        <p:nvSpPr>
          <p:cNvPr id="13" name="Rectangle 12"/>
          <p:cNvSpPr/>
          <p:nvPr/>
        </p:nvSpPr>
        <p:spPr>
          <a:xfrm>
            <a:off x="4672583" y="1371600"/>
            <a:ext cx="1965960" cy="457200"/>
          </a:xfrm>
          <a:prstGeom prst="rect">
            <a:avLst/>
          </a:prstGeom>
          <a:solidFill>
            <a:srgbClr val="0B2A5B"/>
          </a:solidFill>
          <a:ln>
            <a:noFill/>
          </a:ln>
          <a:effectLst/>
        </p:spPr>
        <p:txBody>
          <a:bodyPr rtlCol="0" anchor="ctr" wrap="square"/>
          <a:lstStyle/>
          <a:p>
            <a:pPr algn="ctr"/>
            <a:r>
              <a:rPr sz="1500" b="1">
                <a:solidFill>
                  <a:srgbClr val="FFFFFF"/>
                </a:solidFill>
                <a:latin typeface="Meiryo"/>
              </a:rPr>
              <a:t>③ 情報提供</a:t>
            </a:r>
          </a:p>
        </p:txBody>
      </p:sp>
      <p:sp>
        <p:nvSpPr>
          <p:cNvPr id="14" name="Rectangle 13"/>
          <p:cNvSpPr/>
          <p:nvPr/>
        </p:nvSpPr>
        <p:spPr>
          <a:xfrm>
            <a:off x="4672583" y="1828800"/>
            <a:ext cx="1965960" cy="1828800"/>
          </a:xfrm>
          <a:prstGeom prst="rect">
            <a:avLst/>
          </a:prstGeom>
          <a:solidFill>
            <a:srgbClr val="F1F4F9"/>
          </a:solidFill>
          <a:ln>
            <a:noFill/>
          </a:ln>
          <a:effectLst/>
        </p:spPr>
        <p:txBody>
          <a:bodyPr rtlCol="0" anchor="t" wrap="square" lIns="109728" rIns="109728"/>
          <a:lstStyle/>
          <a:p>
            <a:pPr algn="l">
              <a:spcAft>
                <a:spcPts val="300"/>
              </a:spcAft>
            </a:pPr>
            <a:r>
              <a:rPr sz="1400" b="1">
                <a:solidFill>
                  <a:srgbClr val="0B2A5B"/>
                </a:solidFill>
                <a:latin typeface="Meiryo"/>
              </a:rPr>
              <a:t>内容を配信</a:t>
            </a:r>
          </a:p>
          <a:p>
            <a:pPr algn="l">
              <a:spcAft>
                <a:spcPts val="300"/>
              </a:spcAft>
            </a:pPr>
            <a:r>
              <a:rPr sz="1250" b="0">
                <a:solidFill>
                  <a:srgbClr val="1B1B1B"/>
                </a:solidFill>
                <a:latin typeface="Meiryo"/>
              </a:rPr>
              <a:t>・MR面談は通常業務として維持</a:t>
            </a:r>
          </a:p>
        </p:txBody>
      </p:sp>
      <p:sp>
        <p:nvSpPr>
          <p:cNvPr id="15" name="Right Arrow 14"/>
          <p:cNvSpPr/>
          <p:nvPr/>
        </p:nvSpPr>
        <p:spPr>
          <a:xfrm>
            <a:off x="6647688" y="2331720"/>
            <a:ext cx="109728" cy="320040"/>
          </a:xfrm>
          <a:prstGeom prst="rightArrow">
            <a:avLst/>
          </a:prstGeom>
          <a:solidFill>
            <a:srgbClr val="9DB4D8"/>
          </a:solidFill>
          <a:ln>
            <a:noFill/>
          </a:ln>
          <a:effectLst/>
        </p:spPr>
        <p:txBody>
          <a:bodyPr rtlCol="0" anchor="ctr"/>
          <a:lstStyle/>
          <a:p>
            <a:pPr algn="ctr"/>
          </a:p>
        </p:txBody>
      </p:sp>
      <p:sp>
        <p:nvSpPr>
          <p:cNvPr id="16" name="Rectangle 15"/>
          <p:cNvSpPr/>
          <p:nvPr/>
        </p:nvSpPr>
        <p:spPr>
          <a:xfrm>
            <a:off x="6757416" y="1371600"/>
            <a:ext cx="1965960" cy="457200"/>
          </a:xfrm>
          <a:prstGeom prst="rect">
            <a:avLst/>
          </a:prstGeom>
          <a:solidFill>
            <a:srgbClr val="0B2A5B"/>
          </a:solidFill>
          <a:ln>
            <a:noFill/>
          </a:ln>
          <a:effectLst/>
        </p:spPr>
        <p:txBody>
          <a:bodyPr rtlCol="0" anchor="ctr" wrap="square"/>
          <a:lstStyle/>
          <a:p>
            <a:pPr algn="ctr"/>
            <a:r>
              <a:rPr sz="1500" b="1">
                <a:solidFill>
                  <a:srgbClr val="FFFFFF"/>
                </a:solidFill>
                <a:latin typeface="Meiryo"/>
              </a:rPr>
              <a:t>④ 記録・費用管理</a:t>
            </a:r>
          </a:p>
        </p:txBody>
      </p:sp>
      <p:sp>
        <p:nvSpPr>
          <p:cNvPr id="17" name="Rectangle 16"/>
          <p:cNvSpPr/>
          <p:nvPr/>
        </p:nvSpPr>
        <p:spPr>
          <a:xfrm>
            <a:off x="6757416" y="1828800"/>
            <a:ext cx="1965960" cy="1828800"/>
          </a:xfrm>
          <a:prstGeom prst="rect">
            <a:avLst/>
          </a:prstGeom>
          <a:solidFill>
            <a:srgbClr val="F1F4F9"/>
          </a:solidFill>
          <a:ln>
            <a:noFill/>
          </a:ln>
          <a:effectLst/>
        </p:spPr>
        <p:txBody>
          <a:bodyPr rtlCol="0" anchor="t" wrap="square" lIns="109728" rIns="109728"/>
          <a:lstStyle/>
          <a:p>
            <a:pPr algn="l">
              <a:spcAft>
                <a:spcPts val="300"/>
              </a:spcAft>
            </a:pPr>
            <a:r>
              <a:rPr sz="1400" b="1">
                <a:solidFill>
                  <a:srgbClr val="0B2A5B"/>
                </a:solidFill>
                <a:latin typeface="Meiryo"/>
              </a:rPr>
              <a:t>配信と既読を記録</a:t>
            </a:r>
          </a:p>
          <a:p>
            <a:pPr algn="l">
              <a:spcAft>
                <a:spcPts val="300"/>
              </a:spcAft>
            </a:pPr>
            <a:r>
              <a:rPr sz="1250" b="0">
                <a:solidFill>
                  <a:srgbClr val="1B1B1B"/>
                </a:solidFill>
                <a:latin typeface="Meiryo"/>
              </a:rPr>
              <a:t>・医師ID・配信日・コンテンツID</a:t>
            </a:r>
          </a:p>
          <a:p>
            <a:pPr algn="l">
              <a:spcAft>
                <a:spcPts val="300"/>
              </a:spcAft>
            </a:pPr>
            <a:r>
              <a:rPr sz="1250" b="0">
                <a:solidFill>
                  <a:srgbClr val="1B1B1B"/>
                </a:solidFill>
                <a:latin typeface="Meiryo"/>
              </a:rPr>
              <a:t>・配信件数・既読状況・既読件数</a:t>
            </a:r>
          </a:p>
          <a:p>
            <a:pPr algn="l">
              <a:spcAft>
                <a:spcPts val="300"/>
              </a:spcAft>
            </a:pPr>
            <a:r>
              <a:rPr sz="1250" b="0">
                <a:solidFill>
                  <a:srgbClr val="1B1B1B"/>
                </a:solidFill>
                <a:latin typeface="Meiryo"/>
              </a:rPr>
              <a:t>・面談は補助情報として記録</a:t>
            </a:r>
          </a:p>
        </p:txBody>
      </p:sp>
      <p:sp>
        <p:nvSpPr>
          <p:cNvPr id="18" name="Rectangle 17"/>
          <p:cNvSpPr/>
          <p:nvPr/>
        </p:nvSpPr>
        <p:spPr>
          <a:xfrm>
            <a:off x="502920" y="3749039"/>
            <a:ext cx="8229600" cy="347472"/>
          </a:xfrm>
          <a:prstGeom prst="rect">
            <a:avLst/>
          </a:prstGeom>
          <a:noFill/>
          <a:ln>
            <a:noFill/>
          </a:ln>
          <a:effectLst/>
        </p:spPr>
        <p:txBody>
          <a:bodyPr rtlCol="0" anchor="ctr" wrap="square"/>
          <a:lstStyle/>
          <a:p>
            <a:pPr algn="l"/>
            <a:r>
              <a:rPr sz="1500" b="1">
                <a:solidFill>
                  <a:srgbClr val="0B2A5B"/>
                </a:solidFill>
                <a:latin typeface="Meiryo"/>
              </a:rPr>
              <a:t>リスク管理</a:t>
            </a:r>
          </a:p>
        </p:txBody>
      </p:sp>
      <p:sp>
        <p:nvSpPr>
          <p:cNvPr id="19" name="Rectangle 18"/>
          <p:cNvSpPr/>
          <p:nvPr/>
        </p:nvSpPr>
        <p:spPr>
          <a:xfrm>
            <a:off x="502920" y="4114800"/>
            <a:ext cx="2651760" cy="1051560"/>
          </a:xfrm>
          <a:prstGeom prst="rect">
            <a:avLst/>
          </a:prstGeom>
          <a:noFill/>
          <a:ln w="15875">
            <a:solidFill>
              <a:srgbClr val="0B2A5B"/>
            </a:solidFill>
          </a:ln>
          <a:effectLst/>
        </p:spPr>
        <p:txBody>
          <a:bodyPr rtlCol="0" anchor="ctr" wrap="square" lIns="109728" rIns="109728"/>
          <a:lstStyle/>
          <a:p>
            <a:pPr algn="l">
              <a:spcAft>
                <a:spcPts val="300"/>
              </a:spcAft>
            </a:pPr>
            <a:r>
              <a:rPr sz="1350" b="1">
                <a:solidFill>
                  <a:srgbClr val="0B2A5B"/>
                </a:solidFill>
                <a:latin typeface="Meiryo"/>
              </a:rPr>
              <a:t>① 配信資格・実施可能性</a:t>
            </a:r>
          </a:p>
          <a:p>
            <a:pPr algn="l">
              <a:spcAft>
                <a:spcPts val="300"/>
              </a:spcAft>
            </a:pPr>
            <a:r>
              <a:rPr sz="1350" b="0">
                <a:solidFill>
                  <a:srgbClr val="1B1B1B"/>
                </a:solidFill>
                <a:latin typeface="Meiryo"/>
              </a:rPr>
              <a:t>→ 事前に確認する</a:t>
            </a:r>
          </a:p>
        </p:txBody>
      </p:sp>
      <p:sp>
        <p:nvSpPr>
          <p:cNvPr id="20" name="Rectangle 19"/>
          <p:cNvSpPr/>
          <p:nvPr/>
        </p:nvSpPr>
        <p:spPr>
          <a:xfrm>
            <a:off x="3291839" y="4114800"/>
            <a:ext cx="2651760" cy="1051560"/>
          </a:xfrm>
          <a:prstGeom prst="rect">
            <a:avLst/>
          </a:prstGeom>
          <a:noFill/>
          <a:ln w="15875">
            <a:solidFill>
              <a:srgbClr val="0B2A5B"/>
            </a:solidFill>
          </a:ln>
          <a:effectLst/>
        </p:spPr>
        <p:txBody>
          <a:bodyPr rtlCol="0" anchor="ctr" wrap="square" lIns="109728" rIns="109728"/>
          <a:lstStyle/>
          <a:p>
            <a:pPr algn="l">
              <a:spcAft>
                <a:spcPts val="300"/>
              </a:spcAft>
            </a:pPr>
            <a:r>
              <a:rPr sz="1350" b="1">
                <a:solidFill>
                  <a:srgbClr val="0B2A5B"/>
                </a:solidFill>
                <a:latin typeface="Meiryo"/>
              </a:rPr>
              <a:t>② 情報接触の不確実性</a:t>
            </a:r>
          </a:p>
          <a:p>
            <a:pPr algn="l">
              <a:spcAft>
                <a:spcPts val="300"/>
              </a:spcAft>
            </a:pPr>
            <a:r>
              <a:rPr sz="1350" b="0">
                <a:solidFill>
                  <a:srgbClr val="1B1B1B"/>
                </a:solidFill>
                <a:latin typeface="Meiryo"/>
              </a:rPr>
              <a:t>→ 配信数と既読を追跡する</a:t>
            </a:r>
          </a:p>
        </p:txBody>
      </p:sp>
      <p:sp>
        <p:nvSpPr>
          <p:cNvPr id="21" name="Rectangle 20"/>
          <p:cNvSpPr/>
          <p:nvPr/>
        </p:nvSpPr>
        <p:spPr>
          <a:xfrm>
            <a:off x="6080759" y="4114800"/>
            <a:ext cx="2651760" cy="1051560"/>
          </a:xfrm>
          <a:prstGeom prst="rect">
            <a:avLst/>
          </a:prstGeom>
          <a:noFill/>
          <a:ln w="15875">
            <a:solidFill>
              <a:srgbClr val="0B2A5B"/>
            </a:solidFill>
          </a:ln>
          <a:effectLst/>
        </p:spPr>
        <p:txBody>
          <a:bodyPr rtlCol="0" anchor="ctr" wrap="square" lIns="109728" rIns="109728"/>
          <a:lstStyle/>
          <a:p>
            <a:pPr algn="l">
              <a:spcAft>
                <a:spcPts val="300"/>
              </a:spcAft>
            </a:pPr>
            <a:r>
              <a:rPr sz="1350" b="1">
                <a:solidFill>
                  <a:srgbClr val="0B2A5B"/>
                </a:solidFill>
                <a:latin typeface="Meiryo"/>
              </a:rPr>
              <a:t>③ 費用と成果の不確実性</a:t>
            </a:r>
          </a:p>
          <a:p>
            <a:pPr algn="l">
              <a:spcAft>
                <a:spcPts val="300"/>
              </a:spcAft>
            </a:pPr>
            <a:r>
              <a:rPr sz="1350" b="0">
                <a:solidFill>
                  <a:srgbClr val="1B1B1B"/>
                </a:solidFill>
                <a:latin typeface="Meiryo"/>
              </a:rPr>
              <a:t>→ 費用と次回調査の変化を確認する</a:t>
            </a:r>
          </a:p>
        </p:txBody>
      </p:sp>
      <p:sp>
        <p:nvSpPr>
          <p:cNvPr id="22" name="Rectangle 21"/>
          <p:cNvSpPr/>
          <p:nvPr/>
        </p:nvSpPr>
        <p:spPr>
          <a:xfrm>
            <a:off x="8961120" y="1371600"/>
            <a:ext cx="2724912" cy="3794760"/>
          </a:xfrm>
          <a:prstGeom prst="rect">
            <a:avLst/>
          </a:prstGeom>
          <a:solidFill>
            <a:srgbClr val="0B2A5B"/>
          </a:solidFill>
          <a:ln>
            <a:noFill/>
          </a:ln>
          <a:effectLst/>
        </p:spPr>
        <p:txBody>
          <a:bodyPr rtlCol="0" anchor="t" wrap="square"/>
          <a:lstStyle/>
          <a:p>
            <a:pPr algn="ctr"/>
            <a:r>
              <a:rPr sz="1500" b="1">
                <a:solidFill>
                  <a:srgbClr val="FFFFFF"/>
                </a:solidFill>
                <a:latin typeface="Meiryo"/>
              </a:rPr>
              <a:t>費用</a:t>
            </a:r>
          </a:p>
        </p:txBody>
      </p:sp>
      <p:sp>
        <p:nvSpPr>
          <p:cNvPr id="23" name="Rectangle 22"/>
          <p:cNvSpPr/>
          <p:nvPr/>
        </p:nvSpPr>
        <p:spPr>
          <a:xfrm>
            <a:off x="8961120" y="1810512"/>
            <a:ext cx="2724912" cy="3355848"/>
          </a:xfrm>
          <a:prstGeom prst="rect">
            <a:avLst/>
          </a:prstGeom>
          <a:solidFill>
            <a:srgbClr val="F1F4F9"/>
          </a:solidFill>
          <a:ln>
            <a:noFill/>
          </a:ln>
          <a:effectLst/>
        </p:spPr>
        <p:txBody>
          <a:bodyPr rtlCol="0" anchor="t" wrap="square" lIns="137160" rIns="137160"/>
          <a:lstStyle/>
          <a:p>
            <a:pPr algn="l">
              <a:spcAft>
                <a:spcPts val="200"/>
              </a:spcAft>
            </a:pPr>
            <a:r>
              <a:rPr sz="1400" b="1">
                <a:solidFill>
                  <a:srgbClr val="0B2A5B"/>
                </a:solidFill>
                <a:latin typeface="Meiryo"/>
              </a:rPr>
              <a:t>MR君: 既読1件 400円</a:t>
            </a:r>
          </a:p>
          <a:p>
            <a:pPr algn="l">
              <a:spcAft>
                <a:spcPts val="200"/>
              </a:spcAft>
            </a:pPr>
            <a:r>
              <a:rPr sz="1250" b="1">
                <a:solidFill>
                  <a:srgbClr val="5F6B7A"/>
                </a:solidFill>
                <a:latin typeface="Meiryo"/>
              </a:rPr>
              <a:t>既存記録の既読課金額</a:t>
            </a:r>
          </a:p>
          <a:p>
            <a:pPr algn="l">
              <a:spcAft>
                <a:spcPts val="200"/>
              </a:spcAft>
            </a:pPr>
            <a:r>
              <a:rPr sz="1400" b="1">
                <a:solidFill>
                  <a:srgbClr val="1B1B1B"/>
                </a:solidFill>
                <a:latin typeface="Meiryo"/>
              </a:rPr>
              <a:t>A層 66,400円</a:t>
            </a:r>
          </a:p>
          <a:p>
            <a:pPr algn="l">
              <a:spcAft>
                <a:spcPts val="200"/>
              </a:spcAft>
            </a:pPr>
            <a:r>
              <a:rPr sz="1400" b="1">
                <a:solidFill>
                  <a:srgbClr val="1B1B1B"/>
                </a:solidFill>
                <a:latin typeface="Meiryo"/>
              </a:rPr>
              <a:t>B層 31,600円</a:t>
            </a:r>
          </a:p>
          <a:p>
            <a:pPr algn="l">
              <a:spcAft>
                <a:spcPts val="200"/>
              </a:spcAft>
            </a:pPr>
            <a:r>
              <a:rPr sz="1400" b="1">
                <a:solidFill>
                  <a:srgbClr val="1B1B1B"/>
                </a:solidFill>
                <a:latin typeface="Meiryo"/>
              </a:rPr>
              <a:t>合計 98,000円</a:t>
            </a:r>
          </a:p>
          <a:p>
            <a:pPr algn="l">
              <a:spcAft>
                <a:spcPts val="200"/>
              </a:spcAft>
            </a:pPr>
            <a:r>
              <a:rPr sz="1200" b="0">
                <a:solidFill>
                  <a:srgbClr val="5F6B7A"/>
                </a:solidFill>
                <a:latin typeface="Meiryo"/>
              </a:rPr>
              <a:t>(施策全体の費用ではない)</a:t>
            </a:r>
          </a:p>
          <a:p>
            <a:pPr algn="l">
              <a:spcAft>
                <a:spcPts val="200"/>
              </a:spcAft>
            </a:pPr>
            <a:r>
              <a:rPr sz="1250" b="1">
                <a:solidFill>
                  <a:srgbClr val="5F6B7A"/>
                </a:solidFill>
                <a:latin typeface="Meiryo"/>
              </a:rPr>
              <a:t>将来の追加費用</a:t>
            </a:r>
          </a:p>
          <a:p>
            <a:pPr algn="l">
              <a:spcAft>
                <a:spcPts val="200"/>
              </a:spcAft>
            </a:pPr>
            <a:r>
              <a:rPr sz="1400" b="1">
                <a:solidFill>
                  <a:srgbClr val="E8602C"/>
                </a:solidFill>
                <a:latin typeface="Meiryo"/>
              </a:rPr>
              <a:t>追加の既読件数 × 400円</a:t>
            </a:r>
          </a:p>
          <a:p>
            <a:pPr algn="l">
              <a:spcAft>
                <a:spcPts val="200"/>
              </a:spcAft>
            </a:pPr>
            <a:r>
              <a:rPr sz="1200" b="0">
                <a:solidFill>
                  <a:srgbClr val="1B1B1B"/>
                </a:solidFill>
                <a:latin typeface="Meiryo"/>
              </a:rPr>
              <a:t>+ 配信設定費・運用管理費・評価関連費(単価未確認)</a:t>
            </a:r>
          </a:p>
        </p:txBody>
      </p:sp>
      <p:sp>
        <p:nvSpPr>
          <p:cNvPr id="24" name="Rectangle 23"/>
          <p:cNvSpPr/>
          <p:nvPr/>
        </p:nvSpPr>
        <p:spPr>
          <a:xfrm>
            <a:off x="502920" y="5349240"/>
            <a:ext cx="11183112" cy="868680"/>
          </a:xfrm>
          <a:prstGeom prst="rect">
            <a:avLst/>
          </a:prstGeom>
          <a:solidFill>
            <a:srgbClr val="FFF4EE"/>
          </a:solidFill>
          <a:ln w="15875">
            <a:solidFill>
              <a:srgbClr val="E8602C"/>
            </a:solidFill>
          </a:ln>
          <a:effectLst/>
        </p:spPr>
        <p:txBody>
          <a:bodyPr rtlCol="0" anchor="ctr" wrap="square" lIns="182880" rIns="182880"/>
          <a:lstStyle/>
          <a:p>
            <a:pPr algn="l">
              <a:spcAft>
                <a:spcPts val="200"/>
              </a:spcAft>
            </a:pPr>
            <a:r>
              <a:rPr sz="1450" b="1">
                <a:solidFill>
                  <a:srgbClr val="1B1B1B"/>
                </a:solidFill>
                <a:latin typeface="Meiryo"/>
              </a:rPr>
              <a:t>既読がなければすべての費用がゼロになるわけではありません。低コストでも、施策のリスクがないとは考えません。総額やROIは算出していません。</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256032"/>
            <a:ext cx="9144000" cy="896112"/>
          </a:xfrm>
          <a:prstGeom prst="rect">
            <a:avLst/>
          </a:prstGeom>
          <a:noFill/>
          <a:ln>
            <a:noFill/>
          </a:ln>
          <a:effectLst/>
        </p:spPr>
        <p:txBody>
          <a:bodyPr rtlCol="0" anchor="ctr" wrap="square" lIns="0" rIns="0"/>
          <a:lstStyle/>
          <a:p>
            <a:pPr algn="l"/>
            <a:r>
              <a:rPr sz="2600" b="1">
                <a:solidFill>
                  <a:srgbClr val="0B2A5B"/>
                </a:solidFill>
                <a:latin typeface="Meiryo"/>
              </a:rPr>
              <a:t>配信・理解度・処方の変化を評価し、次の施策に活かす</a:t>
            </a:r>
          </a:p>
        </p:txBody>
      </p:sp>
      <p:cxnSp>
        <p:nvCxnSpPr>
          <p:cNvPr id="3" name="Connector 2"/>
          <p:cNvCxnSpPr/>
          <p:nvPr/>
        </p:nvCxnSpPr>
        <p:spPr>
          <a:xfrm>
            <a:off x="502920" y="1207008"/>
            <a:ext cx="11183112" cy="0"/>
          </a:xfrm>
          <a:prstGeom prst="line">
            <a:avLst/>
          </a:prstGeom>
          <a:ln w="28575">
            <a:solidFill>
              <a:srgbClr val="0B2A5B"/>
            </a:solidFill>
          </a:ln>
        </p:spPr>
      </p:cxnSp>
      <p:sp>
        <p:nvSpPr>
          <p:cNvPr id="4" name="Rounded Rectangle 3"/>
          <p:cNvSpPr/>
          <p:nvPr/>
        </p:nvSpPr>
        <p:spPr>
          <a:xfrm>
            <a:off x="9829800" y="365760"/>
            <a:ext cx="1856231" cy="420624"/>
          </a:xfrm>
          <a:prstGeom prst="roundRect">
            <a:avLst/>
          </a:prstGeom>
          <a:solidFill>
            <a:srgbClr val="FFFFFF"/>
          </a:solidFill>
          <a:ln w="22225">
            <a:solidFill>
              <a:srgbClr val="E8602C"/>
            </a:solidFill>
            <a:prstDash val="dash"/>
          </a:ln>
          <a:effectLst/>
        </p:spPr>
        <p:txBody>
          <a:bodyPr rtlCol="0" anchor="ctr" wrap="square" lIns="18288" rIns="18288"/>
          <a:lstStyle/>
          <a:p>
            <a:pPr algn="ctr"/>
            <a:r>
              <a:rPr sz="1200" b="1">
                <a:solidFill>
                  <a:srgbClr val="E8602C"/>
                </a:solidFill>
                <a:latin typeface="Meiryo"/>
              </a:rPr>
              <a:t>実施・評価計画(未実施)</a:t>
            </a:r>
          </a:p>
        </p:txBody>
      </p:sp>
      <p:sp>
        <p:nvSpPr>
          <p:cNvPr id="5" name="Rectangle 4"/>
          <p:cNvSpPr/>
          <p:nvPr/>
        </p:nvSpPr>
        <p:spPr>
          <a:xfrm>
            <a:off x="502920" y="6400800"/>
            <a:ext cx="10881360" cy="329184"/>
          </a:xfrm>
          <a:prstGeom prst="rect">
            <a:avLst/>
          </a:prstGeom>
          <a:noFill/>
          <a:ln>
            <a:noFill/>
          </a:ln>
          <a:effectLst/>
        </p:spPr>
        <p:txBody>
          <a:bodyPr rtlCol="0" anchor="ctr" wrap="square" lIns="0" rIns="0"/>
          <a:lstStyle/>
          <a:p>
            <a:pPr algn="l"/>
            <a:r>
              <a:rPr sz="1050" b="0">
                <a:solidFill>
                  <a:srgbClr val="5F6B7A"/>
                </a:solidFill>
                <a:latin typeface="Meiryo"/>
              </a:rPr>
              <a:t>次回調査の時期は未確定です。コンテンツ別の既読率を算出するには、今後はコンテンツ別の配信母数の記録が必要です。</a:t>
            </a:r>
          </a:p>
        </p:txBody>
      </p:sp>
      <p:sp>
        <p:nvSpPr>
          <p:cNvPr id="6" name="Rectangle 5"/>
          <p:cNvSpPr/>
          <p:nvPr/>
        </p:nvSpPr>
        <p:spPr>
          <a:xfrm>
            <a:off x="11155680" y="6400800"/>
            <a:ext cx="530352" cy="329184"/>
          </a:xfrm>
          <a:prstGeom prst="rect">
            <a:avLst/>
          </a:prstGeom>
          <a:noFill/>
          <a:ln>
            <a:noFill/>
          </a:ln>
          <a:effectLst/>
        </p:spPr>
        <p:txBody>
          <a:bodyPr rtlCol="0" anchor="ctr" wrap="square" lIns="0" rIns="0"/>
          <a:lstStyle/>
          <a:p>
            <a:pPr algn="r"/>
            <a:r>
              <a:rPr sz="1100" b="0">
                <a:solidFill>
                  <a:srgbClr val="5F6B7A"/>
                </a:solidFill>
                <a:latin typeface="Meiryo"/>
              </a:rPr>
              <a:t>8</a:t>
            </a:r>
          </a:p>
        </p:txBody>
      </p:sp>
      <p:sp>
        <p:nvSpPr>
          <p:cNvPr id="7" name="Rectangle 6"/>
          <p:cNvSpPr/>
          <p:nvPr/>
        </p:nvSpPr>
        <p:spPr>
          <a:xfrm>
            <a:off x="502920" y="1371600"/>
            <a:ext cx="2697480" cy="566928"/>
          </a:xfrm>
          <a:prstGeom prst="rect">
            <a:avLst/>
          </a:prstGeom>
          <a:solidFill>
            <a:srgbClr val="0B2A5B"/>
          </a:solidFill>
          <a:ln>
            <a:noFill/>
          </a:ln>
          <a:effectLst/>
        </p:spPr>
        <p:txBody>
          <a:bodyPr rtlCol="0" anchor="ctr" wrap="square"/>
          <a:lstStyle/>
          <a:p>
            <a:pPr algn="ctr"/>
            <a:r>
              <a:rPr sz="1500" b="1">
                <a:solidFill>
                  <a:srgbClr val="FFFFFF"/>
                </a:solidFill>
                <a:latin typeface="Meiryo"/>
              </a:rPr>
              <a:t>Reach</a:t>
            </a:r>
            <a:r>
              <a:rPr sz="1300" b="0">
                <a:solidFill>
                  <a:srgbClr val="FFFFFF"/>
                </a:solidFill>
                <a:latin typeface="Meiryo"/>
              </a:rPr>
              <a:t>  配信</a:t>
            </a:r>
          </a:p>
        </p:txBody>
      </p:sp>
      <p:sp>
        <p:nvSpPr>
          <p:cNvPr id="8" name="Rectangle 7"/>
          <p:cNvSpPr/>
          <p:nvPr/>
        </p:nvSpPr>
        <p:spPr>
          <a:xfrm>
            <a:off x="502920" y="1938528"/>
            <a:ext cx="2697480" cy="1188720"/>
          </a:xfrm>
          <a:prstGeom prst="rect">
            <a:avLst/>
          </a:prstGeom>
          <a:solidFill>
            <a:srgbClr val="F1F4F9"/>
          </a:solidFill>
          <a:ln>
            <a:noFill/>
          </a:ln>
          <a:effectLst/>
        </p:spPr>
        <p:txBody>
          <a:bodyPr rtlCol="0" anchor="ctr" wrap="square" lIns="109728" rIns="109728"/>
          <a:lstStyle/>
          <a:p>
            <a:pPr algn="l">
              <a:spcAft>
                <a:spcPts val="300"/>
              </a:spcAft>
            </a:pPr>
            <a:r>
              <a:rPr sz="1250" b="0">
                <a:solidFill>
                  <a:srgbClr val="1B1B1B"/>
                </a:solidFill>
                <a:latin typeface="Meiryo"/>
              </a:rPr>
              <a:t>・配信医師数</a:t>
            </a:r>
          </a:p>
          <a:p>
            <a:pPr algn="l">
              <a:spcAft>
                <a:spcPts val="300"/>
              </a:spcAft>
            </a:pPr>
            <a:r>
              <a:rPr sz="1250" b="0">
                <a:solidFill>
                  <a:srgbClr val="1B1B1B"/>
                </a:solidFill>
                <a:latin typeface="Meiryo"/>
              </a:rPr>
              <a:t>・新規配信医師数</a:t>
            </a:r>
          </a:p>
          <a:p>
            <a:pPr algn="l">
              <a:spcAft>
                <a:spcPts val="300"/>
              </a:spcAft>
            </a:pPr>
            <a:r>
              <a:rPr sz="1250" b="0">
                <a:solidFill>
                  <a:srgbClr val="1B1B1B"/>
                </a:solidFill>
                <a:latin typeface="Meiryo"/>
              </a:rPr>
              <a:t>・配信件数</a:t>
            </a:r>
          </a:p>
        </p:txBody>
      </p:sp>
      <p:sp>
        <p:nvSpPr>
          <p:cNvPr id="9" name="Right Arrow 8"/>
          <p:cNvSpPr/>
          <p:nvPr/>
        </p:nvSpPr>
        <p:spPr>
          <a:xfrm>
            <a:off x="3209544" y="2331720"/>
            <a:ext cx="118872" cy="320040"/>
          </a:xfrm>
          <a:prstGeom prst="rightArrow">
            <a:avLst/>
          </a:prstGeom>
          <a:solidFill>
            <a:srgbClr val="9DB4D8"/>
          </a:solidFill>
          <a:ln>
            <a:noFill/>
          </a:ln>
          <a:effectLst/>
        </p:spPr>
        <p:txBody>
          <a:bodyPr rtlCol="0" anchor="ctr"/>
          <a:lstStyle/>
          <a:p>
            <a:pPr algn="ctr"/>
          </a:p>
        </p:txBody>
      </p:sp>
      <p:sp>
        <p:nvSpPr>
          <p:cNvPr id="10" name="Rectangle 9"/>
          <p:cNvSpPr/>
          <p:nvPr/>
        </p:nvSpPr>
        <p:spPr>
          <a:xfrm>
            <a:off x="3337560" y="1371600"/>
            <a:ext cx="2697480" cy="566928"/>
          </a:xfrm>
          <a:prstGeom prst="rect">
            <a:avLst/>
          </a:prstGeom>
          <a:solidFill>
            <a:srgbClr val="0B2A5B"/>
          </a:solidFill>
          <a:ln>
            <a:noFill/>
          </a:ln>
          <a:effectLst/>
        </p:spPr>
        <p:txBody>
          <a:bodyPr rtlCol="0" anchor="ctr" wrap="square"/>
          <a:lstStyle/>
          <a:p>
            <a:pPr algn="ctr"/>
            <a:r>
              <a:rPr sz="1500" b="1">
                <a:solidFill>
                  <a:srgbClr val="FFFFFF"/>
                </a:solidFill>
                <a:latin typeface="Meiryo"/>
              </a:rPr>
              <a:t>Engagement</a:t>
            </a:r>
            <a:r>
              <a:rPr sz="1300" b="0">
                <a:solidFill>
                  <a:srgbClr val="FFFFFF"/>
                </a:solidFill>
                <a:latin typeface="Meiryo"/>
              </a:rPr>
              <a:t>  既読</a:t>
            </a:r>
          </a:p>
        </p:txBody>
      </p:sp>
      <p:sp>
        <p:nvSpPr>
          <p:cNvPr id="11" name="Rectangle 10"/>
          <p:cNvSpPr/>
          <p:nvPr/>
        </p:nvSpPr>
        <p:spPr>
          <a:xfrm>
            <a:off x="3337560" y="1938528"/>
            <a:ext cx="2697480" cy="1188720"/>
          </a:xfrm>
          <a:prstGeom prst="rect">
            <a:avLst/>
          </a:prstGeom>
          <a:solidFill>
            <a:srgbClr val="F1F4F9"/>
          </a:solidFill>
          <a:ln>
            <a:noFill/>
          </a:ln>
          <a:effectLst/>
        </p:spPr>
        <p:txBody>
          <a:bodyPr rtlCol="0" anchor="ctr" wrap="square" lIns="109728" rIns="109728"/>
          <a:lstStyle/>
          <a:p>
            <a:pPr algn="l">
              <a:spcAft>
                <a:spcPts val="300"/>
              </a:spcAft>
            </a:pPr>
            <a:r>
              <a:rPr sz="1250" b="0">
                <a:solidFill>
                  <a:srgbClr val="1B1B1B"/>
                </a:solidFill>
                <a:latin typeface="Meiryo"/>
              </a:rPr>
              <a:t>・既読医師数・既読率</a:t>
            </a:r>
          </a:p>
          <a:p>
            <a:pPr algn="l">
              <a:spcAft>
                <a:spcPts val="300"/>
              </a:spcAft>
            </a:pPr>
            <a:r>
              <a:rPr sz="1250" b="0">
                <a:solidFill>
                  <a:srgbClr val="1B1B1B"/>
                </a:solidFill>
                <a:latin typeface="Meiryo"/>
              </a:rPr>
              <a:t>・既読件数</a:t>
            </a:r>
          </a:p>
          <a:p>
            <a:pPr algn="l">
              <a:spcAft>
                <a:spcPts val="300"/>
              </a:spcAft>
            </a:pPr>
            <a:r>
              <a:rPr sz="1250" b="0">
                <a:solidFill>
                  <a:srgbClr val="1B1B1B"/>
                </a:solidFill>
                <a:latin typeface="Meiryo"/>
              </a:rPr>
              <a:t>・費用(既読課金額+その他)</a:t>
            </a:r>
          </a:p>
        </p:txBody>
      </p:sp>
      <p:sp>
        <p:nvSpPr>
          <p:cNvPr id="12" name="Right Arrow 11"/>
          <p:cNvSpPr/>
          <p:nvPr/>
        </p:nvSpPr>
        <p:spPr>
          <a:xfrm>
            <a:off x="6044184" y="2331720"/>
            <a:ext cx="118872" cy="320040"/>
          </a:xfrm>
          <a:prstGeom prst="rightArrow">
            <a:avLst/>
          </a:prstGeom>
          <a:solidFill>
            <a:srgbClr val="9DB4D8"/>
          </a:solidFill>
          <a:ln>
            <a:noFill/>
          </a:ln>
          <a:effectLst/>
        </p:spPr>
        <p:txBody>
          <a:bodyPr rtlCol="0" anchor="ctr"/>
          <a:lstStyle/>
          <a:p>
            <a:pPr algn="ctr"/>
          </a:p>
        </p:txBody>
      </p:sp>
      <p:sp>
        <p:nvSpPr>
          <p:cNvPr id="13" name="Rectangle 12"/>
          <p:cNvSpPr/>
          <p:nvPr/>
        </p:nvSpPr>
        <p:spPr>
          <a:xfrm>
            <a:off x="6172200" y="1371600"/>
            <a:ext cx="2697480" cy="566928"/>
          </a:xfrm>
          <a:prstGeom prst="rect">
            <a:avLst/>
          </a:prstGeom>
          <a:solidFill>
            <a:srgbClr val="0B2A5B"/>
          </a:solidFill>
          <a:ln>
            <a:noFill/>
          </a:ln>
          <a:effectLst/>
        </p:spPr>
        <p:txBody>
          <a:bodyPr rtlCol="0" anchor="ctr" wrap="square"/>
          <a:lstStyle/>
          <a:p>
            <a:pPr algn="ctr"/>
            <a:r>
              <a:rPr sz="1500" b="1">
                <a:solidFill>
                  <a:srgbClr val="FFFFFF"/>
                </a:solidFill>
                <a:latin typeface="Meiryo"/>
              </a:rPr>
              <a:t>Understanding</a:t>
            </a:r>
            <a:r>
              <a:rPr sz="1300" b="0">
                <a:solidFill>
                  <a:srgbClr val="FFFFFF"/>
                </a:solidFill>
                <a:latin typeface="Meiryo"/>
              </a:rPr>
              <a:t>  理解度</a:t>
            </a:r>
          </a:p>
        </p:txBody>
      </p:sp>
      <p:sp>
        <p:nvSpPr>
          <p:cNvPr id="14" name="Rectangle 13"/>
          <p:cNvSpPr/>
          <p:nvPr/>
        </p:nvSpPr>
        <p:spPr>
          <a:xfrm>
            <a:off x="6172200" y="1938528"/>
            <a:ext cx="2697480" cy="1188720"/>
          </a:xfrm>
          <a:prstGeom prst="rect">
            <a:avLst/>
          </a:prstGeom>
          <a:solidFill>
            <a:srgbClr val="F1F4F9"/>
          </a:solidFill>
          <a:ln>
            <a:noFill/>
          </a:ln>
          <a:effectLst/>
        </p:spPr>
        <p:txBody>
          <a:bodyPr rtlCol="0" anchor="ctr" wrap="square" lIns="109728" rIns="109728"/>
          <a:lstStyle/>
          <a:p>
            <a:pPr algn="l">
              <a:spcAft>
                <a:spcPts val="300"/>
              </a:spcAft>
            </a:pPr>
            <a:r>
              <a:rPr sz="1250" b="0">
                <a:solidFill>
                  <a:srgbClr val="1B1B1B"/>
                </a:solidFill>
                <a:latin typeface="Meiryo"/>
              </a:rPr>
              <a:t>・次回アンケートで</a:t>
            </a:r>
          </a:p>
          <a:p>
            <a:pPr algn="l">
              <a:spcAft>
                <a:spcPts val="300"/>
              </a:spcAft>
            </a:pPr>
            <a:r>
              <a:rPr sz="1250" b="0">
                <a:solidFill>
                  <a:srgbClr val="1B1B1B"/>
                </a:solidFill>
                <a:latin typeface="Meiryo"/>
              </a:rPr>
              <a:t>・理解度・処方意向の変化</a:t>
            </a:r>
          </a:p>
        </p:txBody>
      </p:sp>
      <p:sp>
        <p:nvSpPr>
          <p:cNvPr id="15" name="Right Arrow 14"/>
          <p:cNvSpPr/>
          <p:nvPr/>
        </p:nvSpPr>
        <p:spPr>
          <a:xfrm>
            <a:off x="8878824" y="2331720"/>
            <a:ext cx="118872" cy="320040"/>
          </a:xfrm>
          <a:prstGeom prst="rightArrow">
            <a:avLst/>
          </a:prstGeom>
          <a:solidFill>
            <a:srgbClr val="9DB4D8"/>
          </a:solidFill>
          <a:ln>
            <a:noFill/>
          </a:ln>
          <a:effectLst/>
        </p:spPr>
        <p:txBody>
          <a:bodyPr rtlCol="0" anchor="ctr"/>
          <a:lstStyle/>
          <a:p>
            <a:pPr algn="ctr"/>
          </a:p>
        </p:txBody>
      </p:sp>
      <p:sp>
        <p:nvSpPr>
          <p:cNvPr id="16" name="Rectangle 15"/>
          <p:cNvSpPr/>
          <p:nvPr/>
        </p:nvSpPr>
        <p:spPr>
          <a:xfrm>
            <a:off x="9006840" y="1371600"/>
            <a:ext cx="2697480" cy="566928"/>
          </a:xfrm>
          <a:prstGeom prst="rect">
            <a:avLst/>
          </a:prstGeom>
          <a:solidFill>
            <a:srgbClr val="E8602C"/>
          </a:solidFill>
          <a:ln>
            <a:noFill/>
          </a:ln>
          <a:effectLst/>
        </p:spPr>
        <p:txBody>
          <a:bodyPr rtlCol="0" anchor="ctr" wrap="square"/>
          <a:lstStyle/>
          <a:p>
            <a:pPr algn="ctr"/>
            <a:r>
              <a:rPr sz="1500" b="1">
                <a:solidFill>
                  <a:srgbClr val="FFFFFF"/>
                </a:solidFill>
                <a:latin typeface="Meiryo"/>
              </a:rPr>
              <a:t>Business</a:t>
            </a:r>
            <a:r>
              <a:rPr sz="1300" b="0">
                <a:solidFill>
                  <a:srgbClr val="FFFFFF"/>
                </a:solidFill>
                <a:latin typeface="Meiryo"/>
              </a:rPr>
              <a:t>  処方</a:t>
            </a:r>
          </a:p>
        </p:txBody>
      </p:sp>
      <p:sp>
        <p:nvSpPr>
          <p:cNvPr id="17" name="Rectangle 16"/>
          <p:cNvSpPr/>
          <p:nvPr/>
        </p:nvSpPr>
        <p:spPr>
          <a:xfrm>
            <a:off x="9006840" y="1938528"/>
            <a:ext cx="2697480" cy="1188720"/>
          </a:xfrm>
          <a:prstGeom prst="rect">
            <a:avLst/>
          </a:prstGeom>
          <a:solidFill>
            <a:srgbClr val="F1F4F9"/>
          </a:solidFill>
          <a:ln>
            <a:noFill/>
          </a:ln>
          <a:effectLst/>
        </p:spPr>
        <p:txBody>
          <a:bodyPr rtlCol="0" anchor="ctr" wrap="square" lIns="109728" rIns="109728"/>
          <a:lstStyle/>
          <a:p>
            <a:pPr algn="l">
              <a:spcAft>
                <a:spcPts val="300"/>
              </a:spcAft>
            </a:pPr>
            <a:r>
              <a:rPr sz="1250" b="0">
                <a:solidFill>
                  <a:srgbClr val="1B1B1B"/>
                </a:solidFill>
                <a:latin typeface="Meiryo"/>
              </a:rPr>
              <a:t>・処方患者数・処方割合の変化</a:t>
            </a:r>
          </a:p>
          <a:p>
            <a:pPr algn="l">
              <a:spcAft>
                <a:spcPts val="300"/>
              </a:spcAft>
            </a:pPr>
            <a:r>
              <a:rPr sz="1250" b="1">
                <a:solidFill>
                  <a:srgbClr val="E8602C"/>
                </a:solidFill>
                <a:latin typeface="Meiryo"/>
              </a:rPr>
              <a:t>・※MR君の因果効果とは断定しない</a:t>
            </a:r>
          </a:p>
        </p:txBody>
      </p:sp>
      <p:sp>
        <p:nvSpPr>
          <p:cNvPr id="18" name="Rectangle 17"/>
          <p:cNvSpPr/>
          <p:nvPr/>
        </p:nvSpPr>
        <p:spPr>
          <a:xfrm>
            <a:off x="502920" y="3246120"/>
            <a:ext cx="11183112" cy="347472"/>
          </a:xfrm>
          <a:prstGeom prst="rect">
            <a:avLst/>
          </a:prstGeom>
          <a:noFill/>
          <a:ln>
            <a:noFill/>
          </a:ln>
          <a:effectLst/>
        </p:spPr>
        <p:txBody>
          <a:bodyPr rtlCol="0" anchor="ctr" wrap="square"/>
          <a:lstStyle/>
          <a:p>
            <a:pPr algn="l"/>
            <a:r>
              <a:rPr sz="1500" b="1">
                <a:solidFill>
                  <a:srgbClr val="0B2A5B"/>
                </a:solidFill>
                <a:latin typeface="Meiryo"/>
              </a:rPr>
              <a:t>結果に応じた次の行動</a:t>
            </a:r>
          </a:p>
        </p:txBody>
      </p:sp>
      <p:sp>
        <p:nvSpPr>
          <p:cNvPr id="19" name="Rectangle 18"/>
          <p:cNvSpPr/>
          <p:nvPr/>
        </p:nvSpPr>
        <p:spPr>
          <a:xfrm>
            <a:off x="502920" y="3611880"/>
            <a:ext cx="2697480" cy="1097280"/>
          </a:xfrm>
          <a:prstGeom prst="rect">
            <a:avLst/>
          </a:prstGeom>
          <a:noFill/>
          <a:ln w="15875">
            <a:solidFill>
              <a:srgbClr val="0B2A5B"/>
            </a:solidFill>
          </a:ln>
          <a:effectLst/>
        </p:spPr>
        <p:txBody>
          <a:bodyPr rtlCol="0" anchor="ctr" wrap="square" lIns="109728" rIns="109728"/>
          <a:lstStyle/>
          <a:p>
            <a:pPr algn="l">
              <a:spcAft>
                <a:spcPts val="300"/>
              </a:spcAft>
            </a:pPr>
            <a:r>
              <a:rPr sz="1250" b="1">
                <a:solidFill>
                  <a:srgbClr val="0B2A5B"/>
                </a:solidFill>
                <a:latin typeface="Meiryo"/>
              </a:rPr>
              <a:t>配信でき、情報接触も確認できた</a:t>
            </a:r>
          </a:p>
          <a:p>
            <a:pPr algn="l">
              <a:spcAft>
                <a:spcPts val="300"/>
              </a:spcAft>
            </a:pPr>
            <a:r>
              <a:rPr sz="1250" b="0">
                <a:solidFill>
                  <a:srgbClr val="1B1B1B"/>
                </a:solidFill>
                <a:latin typeface="Meiryo"/>
              </a:rPr>
              <a:t>→ 次の対象医師を検討</a:t>
            </a:r>
          </a:p>
        </p:txBody>
      </p:sp>
      <p:sp>
        <p:nvSpPr>
          <p:cNvPr id="20" name="Rectangle 19"/>
          <p:cNvSpPr/>
          <p:nvPr/>
        </p:nvSpPr>
        <p:spPr>
          <a:xfrm>
            <a:off x="3337560" y="3611880"/>
            <a:ext cx="2697480" cy="1097280"/>
          </a:xfrm>
          <a:prstGeom prst="rect">
            <a:avLst/>
          </a:prstGeom>
          <a:noFill/>
          <a:ln w="15875">
            <a:solidFill>
              <a:srgbClr val="0B2A5B"/>
            </a:solidFill>
          </a:ln>
          <a:effectLst/>
        </p:spPr>
        <p:txBody>
          <a:bodyPr rtlCol="0" anchor="ctr" wrap="square" lIns="109728" rIns="109728"/>
          <a:lstStyle/>
          <a:p>
            <a:pPr algn="l">
              <a:spcAft>
                <a:spcPts val="300"/>
              </a:spcAft>
            </a:pPr>
            <a:r>
              <a:rPr sz="1250" b="1">
                <a:solidFill>
                  <a:srgbClr val="0B2A5B"/>
                </a:solidFill>
                <a:latin typeface="Meiryo"/>
              </a:rPr>
              <a:t>配信はできたが既読が少ない</a:t>
            </a:r>
          </a:p>
          <a:p>
            <a:pPr algn="l">
              <a:spcAft>
                <a:spcPts val="300"/>
              </a:spcAft>
            </a:pPr>
            <a:r>
              <a:rPr sz="1250" b="0">
                <a:solidFill>
                  <a:srgbClr val="1B1B1B"/>
                </a:solidFill>
                <a:latin typeface="Meiryo"/>
              </a:rPr>
              <a:t>→ 内容・配信順序を見直す</a:t>
            </a:r>
          </a:p>
        </p:txBody>
      </p:sp>
      <p:sp>
        <p:nvSpPr>
          <p:cNvPr id="21" name="Rectangle 20"/>
          <p:cNvSpPr/>
          <p:nvPr/>
        </p:nvSpPr>
        <p:spPr>
          <a:xfrm>
            <a:off x="6172200" y="3611880"/>
            <a:ext cx="2697480" cy="1097280"/>
          </a:xfrm>
          <a:prstGeom prst="rect">
            <a:avLst/>
          </a:prstGeom>
          <a:noFill/>
          <a:ln w="15875">
            <a:solidFill>
              <a:srgbClr val="0B2A5B"/>
            </a:solidFill>
          </a:ln>
          <a:effectLst/>
        </p:spPr>
        <p:txBody>
          <a:bodyPr rtlCol="0" anchor="ctr" wrap="square" lIns="109728" rIns="109728"/>
          <a:lstStyle/>
          <a:p>
            <a:pPr algn="l">
              <a:spcAft>
                <a:spcPts val="300"/>
              </a:spcAft>
            </a:pPr>
            <a:r>
              <a:rPr sz="1250" b="1">
                <a:solidFill>
                  <a:srgbClr val="0B2A5B"/>
                </a:solidFill>
                <a:latin typeface="Meiryo"/>
              </a:rPr>
              <a:t>費用負担が大きい、または接触が進まない</a:t>
            </a:r>
          </a:p>
          <a:p>
            <a:pPr algn="l">
              <a:spcAft>
                <a:spcPts val="300"/>
              </a:spcAft>
            </a:pPr>
            <a:r>
              <a:rPr sz="1250" b="0">
                <a:solidFill>
                  <a:srgbClr val="1B1B1B"/>
                </a:solidFill>
                <a:latin typeface="Meiryo"/>
              </a:rPr>
              <a:t>→ 施策の規模・方法を見直す</a:t>
            </a:r>
          </a:p>
        </p:txBody>
      </p:sp>
      <p:sp>
        <p:nvSpPr>
          <p:cNvPr id="22" name="Rectangle 21"/>
          <p:cNvSpPr/>
          <p:nvPr/>
        </p:nvSpPr>
        <p:spPr>
          <a:xfrm>
            <a:off x="9006840" y="3611880"/>
            <a:ext cx="2697480" cy="1097280"/>
          </a:xfrm>
          <a:prstGeom prst="rect">
            <a:avLst/>
          </a:prstGeom>
          <a:noFill/>
          <a:ln w="15875">
            <a:solidFill>
              <a:srgbClr val="0B2A5B"/>
            </a:solidFill>
          </a:ln>
          <a:effectLst/>
        </p:spPr>
        <p:txBody>
          <a:bodyPr rtlCol="0" anchor="ctr" wrap="square" lIns="109728" rIns="109728"/>
          <a:lstStyle/>
          <a:p>
            <a:pPr algn="l">
              <a:spcAft>
                <a:spcPts val="300"/>
              </a:spcAft>
            </a:pPr>
            <a:r>
              <a:rPr sz="1250" b="1">
                <a:solidFill>
                  <a:srgbClr val="0B2A5B"/>
                </a:solidFill>
                <a:latin typeface="Meiryo"/>
              </a:rPr>
              <a:t>理解度・処方状況に良い変化</a:t>
            </a:r>
          </a:p>
          <a:p>
            <a:pPr algn="l">
              <a:spcAft>
                <a:spcPts val="300"/>
              </a:spcAft>
            </a:pPr>
            <a:r>
              <a:rPr sz="1250" b="0">
                <a:solidFill>
                  <a:srgbClr val="1B1B1B"/>
                </a:solidFill>
                <a:latin typeface="Meiryo"/>
              </a:rPr>
              <a:t>→ 追加の検証も検討し、段階的に展開</a:t>
            </a:r>
          </a:p>
        </p:txBody>
      </p:sp>
      <p:sp>
        <p:nvSpPr>
          <p:cNvPr id="23" name="Pentagon 22"/>
          <p:cNvSpPr/>
          <p:nvPr/>
        </p:nvSpPr>
        <p:spPr>
          <a:xfrm>
            <a:off x="502920" y="4846320"/>
            <a:ext cx="2697480" cy="457200"/>
          </a:xfrm>
          <a:prstGeom prst="homePlate">
            <a:avLst/>
          </a:prstGeom>
          <a:solidFill>
            <a:srgbClr val="0B2A5B"/>
          </a:solidFill>
          <a:ln>
            <a:noFill/>
          </a:ln>
          <a:effectLst/>
        </p:spPr>
        <p:txBody>
          <a:bodyPr rtlCol="0" anchor="ctr" wrap="square"/>
          <a:lstStyle/>
          <a:p>
            <a:pPr algn="ctr"/>
            <a:r>
              <a:rPr sz="1350" b="1">
                <a:solidFill>
                  <a:srgbClr val="FFFFFF"/>
                </a:solidFill>
                <a:latin typeface="Meiryo"/>
              </a:rPr>
              <a:t>今回  A層・B層433名</a:t>
            </a:r>
          </a:p>
        </p:txBody>
      </p:sp>
      <p:sp>
        <p:nvSpPr>
          <p:cNvPr id="24" name="Pentagon 23"/>
          <p:cNvSpPr/>
          <p:nvPr/>
        </p:nvSpPr>
        <p:spPr>
          <a:xfrm>
            <a:off x="3337560" y="4846320"/>
            <a:ext cx="2697480" cy="457200"/>
          </a:xfrm>
          <a:prstGeom prst="homePlate">
            <a:avLst/>
          </a:prstGeom>
          <a:solidFill>
            <a:srgbClr val="1F5FBF"/>
          </a:solidFill>
          <a:ln>
            <a:noFill/>
          </a:ln>
          <a:effectLst/>
        </p:spPr>
        <p:txBody>
          <a:bodyPr rtlCol="0" anchor="ctr" wrap="square"/>
          <a:lstStyle/>
          <a:p>
            <a:pPr algn="ctr"/>
            <a:r>
              <a:rPr sz="1350" b="1">
                <a:solidFill>
                  <a:srgbClr val="FFFFFF"/>
                </a:solidFill>
                <a:latin typeface="Meiryo"/>
              </a:rPr>
              <a:t>他の高ポテンシャル医師</a:t>
            </a:r>
          </a:p>
        </p:txBody>
      </p:sp>
      <p:sp>
        <p:nvSpPr>
          <p:cNvPr id="25" name="Pentagon 24"/>
          <p:cNvSpPr/>
          <p:nvPr/>
        </p:nvSpPr>
        <p:spPr>
          <a:xfrm>
            <a:off x="6172200" y="4846320"/>
            <a:ext cx="2697480" cy="457200"/>
          </a:xfrm>
          <a:prstGeom prst="homePlate">
            <a:avLst/>
          </a:prstGeom>
          <a:solidFill>
            <a:srgbClr val="1F5FBF"/>
          </a:solidFill>
          <a:ln>
            <a:noFill/>
          </a:ln>
          <a:effectLst/>
        </p:spPr>
        <p:txBody>
          <a:bodyPr rtlCol="0" anchor="ctr" wrap="square"/>
          <a:lstStyle/>
          <a:p>
            <a:pPr algn="ctr"/>
            <a:r>
              <a:rPr sz="1350" b="1">
                <a:solidFill>
                  <a:srgbClr val="FFFFFF"/>
                </a:solidFill>
                <a:latin typeface="Meiryo"/>
              </a:rPr>
              <a:t>他の診療科</a:t>
            </a:r>
          </a:p>
        </p:txBody>
      </p:sp>
      <p:sp>
        <p:nvSpPr>
          <p:cNvPr id="26" name="Pentagon 25"/>
          <p:cNvSpPr/>
          <p:nvPr/>
        </p:nvSpPr>
        <p:spPr>
          <a:xfrm>
            <a:off x="9006840" y="4846320"/>
            <a:ext cx="2697480" cy="457200"/>
          </a:xfrm>
          <a:prstGeom prst="homePlate">
            <a:avLst/>
          </a:prstGeom>
          <a:solidFill>
            <a:srgbClr val="9DB4D8"/>
          </a:solidFill>
          <a:ln>
            <a:noFill/>
          </a:ln>
          <a:effectLst/>
        </p:spPr>
        <p:txBody>
          <a:bodyPr rtlCol="0" anchor="ctr" wrap="square"/>
          <a:lstStyle/>
          <a:p>
            <a:pPr algn="ctr"/>
            <a:r>
              <a:rPr sz="1350" b="1">
                <a:solidFill>
                  <a:srgbClr val="FFFFFF"/>
                </a:solidFill>
                <a:latin typeface="Meiryo"/>
              </a:rPr>
              <a:t>将来的に他の薬剤</a:t>
            </a:r>
          </a:p>
        </p:txBody>
      </p:sp>
      <p:sp>
        <p:nvSpPr>
          <p:cNvPr id="27" name="Rectangle 26"/>
          <p:cNvSpPr/>
          <p:nvPr/>
        </p:nvSpPr>
        <p:spPr>
          <a:xfrm>
            <a:off x="502920" y="5349240"/>
            <a:ext cx="11183112" cy="274320"/>
          </a:xfrm>
          <a:prstGeom prst="rect">
            <a:avLst/>
          </a:prstGeom>
          <a:noFill/>
          <a:ln>
            <a:noFill/>
          </a:ln>
          <a:effectLst/>
        </p:spPr>
        <p:txBody>
          <a:bodyPr rtlCol="0" anchor="ctr" wrap="square"/>
          <a:lstStyle/>
          <a:p>
            <a:pPr algn="l"/>
            <a:r>
              <a:rPr sz="1150" b="0">
                <a:solidFill>
                  <a:srgbClr val="5F6B7A"/>
                </a:solidFill>
                <a:latin typeface="Meiryo"/>
              </a:rPr>
              <a:t>横展開(他の医師・薬剤でも同じ結果になるとは限らず、各段階で確認する)</a:t>
            </a:r>
          </a:p>
        </p:txBody>
      </p:sp>
      <p:sp>
        <p:nvSpPr>
          <p:cNvPr id="28" name="Rectangle 27"/>
          <p:cNvSpPr/>
          <p:nvPr/>
        </p:nvSpPr>
        <p:spPr>
          <a:xfrm>
            <a:off x="502920" y="5669280"/>
            <a:ext cx="11183112" cy="640080"/>
          </a:xfrm>
          <a:prstGeom prst="rect">
            <a:avLst/>
          </a:prstGeom>
          <a:solidFill>
            <a:srgbClr val="0B2A5B"/>
          </a:solidFill>
          <a:ln>
            <a:noFill/>
          </a:ln>
          <a:effectLst/>
        </p:spPr>
        <p:txBody>
          <a:bodyPr rtlCol="0" anchor="ctr" wrap="square"/>
          <a:lstStyle/>
          <a:p>
            <a:pPr algn="ctr"/>
            <a:r>
              <a:rPr sz="1900" b="1">
                <a:solidFill>
                  <a:srgbClr val="FFFFFF"/>
                </a:solidFill>
                <a:latin typeface="Meiryo"/>
              </a:rPr>
              <a:t>配信数を増やすこと自体ではなく、医師データと配信結果を活用し、情報提供を継続的に改善する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