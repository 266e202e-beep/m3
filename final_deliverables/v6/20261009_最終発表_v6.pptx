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7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配信率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0.7093425605536332</c:v>
                </c:pt>
                <c:pt idx="1">
                  <c:v>0.6920777279521674</c:v>
                </c:pt>
                <c:pt idx="2">
                  <c:v>0.6761768901569187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飲み合わせ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0.5787671232876712</c:v>
                </c:pt>
                <c:pt idx="1">
                  <c:v>0.1149144254278728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24h持続性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0.1506849315068493</c:v>
                </c:pt>
                <c:pt idx="1">
                  <c:v>0.4400977995110024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副作用</c:v>
                </c:pt>
              </c:strCache>
            </c:strRef>
          </c:tx>
          <c:spPr>
            <a:solidFill>
              <a:srgbClr val="9DB4D8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0.2226027397260274</c:v>
                </c:pt>
                <c:pt idx="1">
                  <c:v>0.2860635696821516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効果発現速度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0.047945205479452</c:v>
                </c:pt>
                <c:pt idx="1">
                  <c:v>0.1589242053789731</c:v>
                </c:pt>
              </c:numCache>
            </c:numRef>
          </c:val>
        </c:ser>
        <c:dLbls>
          <c:numFmt formatCode="[&lt;0.06]&quot;&quot;;0%" sourceLinked="0"/>
          <c:txPr>
            <a:bodyPr/>
            <a:lstStyle/>
            <a:p>
              <a:pPr>
                <a:defRPr sz="1700" b="1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191名</c:v>
                </c:pt>
                <c:pt idx="1">
                  <c:v>② 配信中の重点医師
392名</c:v>
                </c:pt>
                <c:pt idx="2">
                  <c:v>③ 潜在0〜2人の医師
993名(全診療科)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191名</c:v>
                </c:pt>
                <c:pt idx="1">
                  <c:v>② 配信中の重点医師
392名</c:v>
                </c:pt>
                <c:pt idx="2">
                  <c:v>③ 潜在0〜2人の医師
993名(全診療科)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numFmt formatCode="0&quot;回&quot;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C04 飲み合わせガイド</c:v>
                </c:pt>
                <c:pt idx="1">
                  <c:v>2本目 C03 副作用プロファイル</c:v>
                </c:pt>
                <c:pt idx="2">
                  <c:v>3本目 C05 24時間カバーの臨床エビデンス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0.5787671232876712</c:v>
                </c:pt>
                <c:pt idx="1">
                  <c:v>0.2226027397260274</c:v>
                </c:pt>
                <c:pt idx="2">
                  <c:v>0.1506849315068493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C05 24時間カバーの臨床エビデンス</c:v>
                </c:pt>
                <c:pt idx="1">
                  <c:v>2本目 C03 副作用プロファイル</c:v>
                </c:pt>
                <c:pt idx="2">
                  <c:v>3本目 C01 即効メカニズム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0.4400977995110024</c:v>
                </c:pt>
                <c:pt idx="1">
                  <c:v>0.2860635696821516</c:v>
                </c:pt>
                <c:pt idx="2">
                  <c:v>0.1589242053789731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費用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現状
3,481名</c:v>
                </c:pt>
                <c:pt idx="1">
                  <c:v>A案 予算維持型
3,672名</c:v>
                </c:pt>
                <c:pt idx="2">
                  <c:v>B案 追加投資型
3,932名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160.2</c:v>
                </c:pt>
                <c:pt idx="1">
                  <c:v>153.4</c:v>
                </c:pt>
                <c:pt idx="2">
                  <c:v>168.3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医師数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dPt>
            <c:idx val="3"/>
            <c:spPr>
              <a:solidFill>
                <a:srgbClr val="0B2A5B"/>
              </a:solidFill>
            </c:spPr>
          </c:dPt>
          <c:dPt>
            <c:idx val="4"/>
            <c:spPr>
              <a:solidFill>
                <a:srgbClr val="9DB4D8"/>
              </a:solidFill>
            </c:spPr>
          </c:dPt>
          <c:cat>
            <c:strRef>
              <c:f>Sheet1!$A$2:$A$6</c:f>
              <c:strCache>
                <c:ptCount val="5"/>
                <c:pt idx="0">
                  <c:v>重点医師</c:v>
                </c:pt>
                <c:pt idx="1">
                  <c:v>① 新規配信</c:v>
                </c:pt>
                <c:pt idx="2">
                  <c:v>② 増回</c:v>
                </c:pt>
                <c:pt idx="3">
                  <c:v>③ 隔月
(内科・耳鼻)</c:v>
                </c:pt>
                <c:pt idx="4">
                  <c:v>⑤ B案で追加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11900.0</c:v>
                </c:pt>
                <c:pt idx="1">
                  <c:v>3100.0</c:v>
                </c:pt>
                <c:pt idx="2">
                  <c:v>6000.0</c:v>
                </c:pt>
                <c:pt idx="3">
                  <c:v>9700.0</c:v>
                </c:pt>
                <c:pt idx="4">
                  <c:v>5000.0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A案 予算維持型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保守
(転換率1%)</c:v>
                </c:pt>
                <c:pt idx="1">
                  <c:v>基準
(3%)</c:v>
                </c:pt>
                <c:pt idx="2">
                  <c:v>楽観
(6%)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0.00048149436868272113</c:v>
                </c:pt>
                <c:pt idx="1">
                  <c:v>0.0014444831060481628</c:v>
                </c:pt>
                <c:pt idx="2">
                  <c:v>0.0028889662120963255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 追加投資型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Sheet1!$A$2:$A$4</c:f>
              <c:strCache>
                <c:ptCount val="3"/>
                <c:pt idx="0">
                  <c:v>保守
(転換率1%)</c:v>
                </c:pt>
                <c:pt idx="1">
                  <c:v>基準
(3%)</c:v>
                </c:pt>
                <c:pt idx="2">
                  <c:v>楽観
(6%)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0.001302670096700109</c:v>
                </c:pt>
                <c:pt idx="1">
                  <c:v>0.003908010290100326</c:v>
                </c:pt>
                <c:pt idx="2">
                  <c:v>0.007816020580200651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09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薬剤Aの処方拡大に向けて、MR君の配信対象とコンテンツの最適化を提案します。</a:t>
            </a:r>
          </a:p>
          <a:p>
            <a:r>
              <a:t>MR君はすでに医師の69%に届き、MR面談のない医師では最も参考になった情報源の1位です。この基盤は強みです。ただし「誰に」と「何を」には改善の余地があります。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潜在未処方患者、つまり花粉症の患者のうち薬剤Aを処方されていない患者の77%は、内科と耳鼻咽喉科にいます。</a:t>
            </a:r>
          </a:p>
          <a:p>
            <a:r>
              <a:t>その中で潜在8人以上の701名、医師の21%が、潜在の41%を持っています。この701名を重点医師とします。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ところが配信率は、潜在患者が0〜2人の医師で71%、8人以上で68%とほぼ同じです。潜在患者の多さは配信先に反映されていないと考えられます。</a:t>
            </a:r>
          </a:p>
          <a:p>
            <a:r>
              <a:t>その結果、重点医師のうち191名には、MRもMR君も届いていません。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重点医師が最も重視する特性は、診療科で違います。内科は58%が飲み合わせ、耳鼻咽喉科は44%が24時間持続性、29%が副作用です。</a:t>
            </a:r>
          </a:p>
          <a:p>
            <a:r>
              <a:t>また、MR面談を受けている医師は、重点医師では17%だけで、同じ診療科・患者数・施設区分で処方の多い医師では51%です。重点医師はMRに会えていないので、MR君で補います。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施策①です。回答医師5,000名で、誰に何回届けるかを設計しました。</a:t>
            </a:r>
          </a:p>
          <a:p>
            <a:r>
              <a:t>MRもMR君も届いていない重点医師191名に、新たに月1回。配信中の重点医師392名は年10回を12回にし、未読の上位コンテンツを再配信します。</a:t>
            </a:r>
          </a:p>
          <a:p>
            <a:r>
              <a:t>財源は、潜在0〜2人の医師993名の配信を隔月にして生み出します。費用は年6.7万円下がり、予算は増やしません。浮いた予算は、MR面談の強化にも回せます。MR面談がある医師は処方率が4.1ポイント高いという関連があるため、MRの訪問先も重点医師に寄せること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施策②です。既存の10本の順番を、診療科ごとに変えます。その診療科で最も重視する医師が多いテーマから並べます。</a:t>
            </a:r>
          </a:p>
          <a:p>
            <a:r>
              <a:t>内科は飲み合わせのC04から、耳鼻咽喉科は24時間持続性のC05から。次は副作用のC03です。3本目までに重点医師の約9割に、最も重視するテーマが届きます。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費用は既読1件400円で計算しました。A案は153.4万円で、今の160.2万円の範囲内です。</a:t>
            </a:r>
          </a:p>
          <a:p>
            <a:r>
              <a:t>B案は未接触で潜在5〜7人の260名にも届け、A案より14.9万円増えます。配信設定や運用などの費用は、まだ確認できていません。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この5,000名での配置ルールを、全国に当てはめました。厚生労働省の医師数で、内科は30倍、耳鼻咽喉科は約7.7倍に外挿し、配信できる割合を9割と置いています。</a:t>
            </a:r>
          </a:p>
          <a:p>
            <a:r>
              <a:t>全国の重点医師は約1.2万人、新規配信の対象は約3,100人です。A案の既読課金は約2,076万円で、現状の約2,068万円とほぼ同じです。これは単純外挿による推計です。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 最後に売上インパクトです。計算は2段階です。</a:t>
            </a:r>
          </a:p>
          <a:p>
            <a:r>
              <a:t>まず、回答医師5,000名で、処方患者が何%増えるかを求めました。今の処方患者11,280人に対して、基準ケースでA案は16人、0.14%、B案は44人、0.39%増えます。</a:t>
            </a:r>
          </a:p>
          <a:p>
            <a:r>
              <a:t>次に、この増加率を薬剤Aの年間売上50億円に当てはめます。A案は年722万円、B案は年1,954万円です。転換率の仮定によって、A案は241万円から1,444万円、B案は651万円から3,908万円の幅があります。</a:t>
            </a:r>
          </a:p>
          <a:p>
            <a:r>
              <a:t>仮定にもとづく試算のため、まずA案で既読・理解度・処方率を検証し、その後に追加投資と全国展開を判断することを提案します。以上です。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薬剤AはMRとMR君で情報を届けている。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次の成長には「誰に」「何を」の見直しが必要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データの医師10,000名の配信対象・MR面談記録(2025年6月〜2026年6月)。50%: アンケートQ5(MR面談なし・配信中の回答医師2,603名)。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MR君の強み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173736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09728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0B2A5B"/>
                </a:solidFill>
                <a:latin typeface="Meiryo"/>
              </a:rPr>
              <a:t>69%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78308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医師にMR君を配信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10,000名のうち6,948名。MR面談のない医師にも約7割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5486400" cy="173736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109728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65760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0B2A5B"/>
                </a:solidFill>
                <a:latin typeface="Meiryo"/>
              </a:rPr>
              <a:t>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65760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最も参考になった情報源の1位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MR面談がなく、MR君が届く医師の回答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37160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E8602C"/>
                </a:solidFill>
                <a:latin typeface="Meiryo"/>
              </a:rPr>
              <a:t>改善の余地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86400" cy="17373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109728" cy="173736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178308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E8602C"/>
                </a:solidFill>
                <a:latin typeface="Meiryo"/>
              </a:rPr>
              <a:t>誰に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78308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配信先が潜在患者数と無関係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潜在患者が多くても少なくても配信率は約7割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657600"/>
            <a:ext cx="5486400" cy="17373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657600"/>
            <a:ext cx="109728" cy="173736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365760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E8602C"/>
                </a:solidFill>
                <a:latin typeface="Meiryo"/>
              </a:rPr>
              <a:t>何を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365760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全員に同じ10本を配信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重視する情報は診療科で違う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既存の配信基盤を活かし、配信対象とコンテンツを最適化する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潜在未処方患者の77%は内科・耳鼻咽喉科に集中。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その41%を潜在8人以上の医師が持つ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機会(実測)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診療科別の潜在未処方患者(人)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内科・耳鼻の医師の21%(701名)が、潜在の41%を持つ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潜在8人以上の医師 = 重点医師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内科・耳鼻で潜在8人以上の701名を「重点医師」とする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配信率は潜在患者数にかかわらず約7割。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重点医師191名にはMRもMR君も届いていない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MR君の配信対象の割合(内科・耳鼻の回答医師3,286名)。配信対象の選定理由はデータにないため未確認。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MR君の配信率(潜在未処方の人数別)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重点医師701名のうち、MRもMR君も届いていない医師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1人あたり潜在未処方10.7人(重点医師で最多)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配信対象を、潜在患者数で選び直す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診療科で重視する情報が違う。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内科は飲み合わせ、耳鼻科は24h持続性・副作用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ニーズ(実測)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重点医師701名がアンケートQ2で1位にした特性。類似高処方医師 = 同じ診療科・患者数帯・施設区分で処方率50%以上(634名)。差は関連。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重点医師が最も重視する特性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800" b="1">
                <a:solidFill>
                  <a:srgbClr val="0B2A5B"/>
                </a:solidFill>
                <a:latin typeface="Meiryo"/>
              </a:rPr>
              <a:t>17% vs 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MR面談を受けている医師の割合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重点医師17%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処方の多い類似医師51%(同じ診療科・患者数・施設区分)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→ 重点医師はMRに会えていない。MR君で補う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MR君で、診療科ごとに重視される情報から届ける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施策① 高潜在医師への配信を増やし、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低潜在医師への配信を隔月にする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回答医師5,000名での設計。12回 = 10本 + 未読の上位コンテンツの再配信2回。+4.1pt = 内科・耳鼻・患者8人以上の重回帰(因果ではない)。MRの訪問費用はデータになし。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誰に・何回(医師1人あたりの年間配信回数)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−6.7万円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34640"/>
            <a:ext cx="3547872" cy="10058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年間費用の変化(A案、回答医師)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増やす分 +11.9万円(①②)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減らす分 −18.6万円(③)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931919"/>
            <a:ext cx="3547872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B2A5B"/>
                </a:solidFill>
                <a:latin typeface="Meiryo"/>
              </a:rPr>
              <a:t>浮いた予算はMR面談の強化にも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MR面談がある医師は処方率が+4.1pt高い(関連)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→ MRの訪問先も重点医師に寄せる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予算を増やさずに配信を移し、浮いた予算はMR面談の強化に回せる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施策② 診療科別に届けるコンテンツを変える。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コンテンツ名と主要テーマで選定(本文は配信前に確認)。%は、そのテーマを最も重視する重点医師の割合。4本目以降も重視する医師が多い順。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内科の重点医師に届ける順番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耳鼻咽喉科の重点医師に届ける順番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11183112" cy="12344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9728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約9割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160520"/>
            <a:ext cx="841248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3本目までに、重点医師の約9割に、自分が最も重視するテーマが届く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内科95%・耳鼻咽喉科89%。医師は重視テーマのコンテンツを約1.3倍読む(既読率13.9% vs 11.0%)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既存の10本の順番を変えるだけ(新規制作なし)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A案は今の予算内。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B案は+14.9万円で未接触260名にも広げる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費用(回答医師)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回答医師5,000名・1年分。既読課金 = 既読件数 × 400円(既読率は群別の実測値)。配信設定・制作・運用管理・効果検証の費用は未確認(0円ではない)。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MR君の既読課金(年、万円)と配信する医師数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153.4万円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A案(現状160.2万円の範囲内)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A案 = 施策①+②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 = A案+未接触・潜在5〜7人の260名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(A案より+14.9万円)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A案は今の予算のまま実施できる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全国に広げると、重点医師は約1.2万人。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A案の費用は現状とほぼ同じ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全国単純外挿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厚労省 令和6年 医療施設従事医師(主たる診療科): 内科62,161名、耳鼻咽喉科9,300名(暫定)。倍率 内科30.0倍・耳鼻7.66倍。配信は実施可能割合90%(仮定)。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全国の配信対象(内科・耳鼻、推計)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000" b="1">
                <a:solidFill>
                  <a:srgbClr val="E8602C"/>
                </a:solidFill>
                <a:latin typeface="Meiryo"/>
              </a:rPr>
              <a:t>2,076万円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A案の全国の既読課金(年)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現状 2,068万円とほぼ同じ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B案は2,365万円(A案より+289万円)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既読課金以外の費用は未確認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5,000名での配置ルールを、そのまま全国の内科・耳鼻に当てはめる(推計値)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A案は売上を+0.14%(年722万円)、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B案は+0.39%(年1,954万円)押し上げる(基準・試算)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試算(仮定あり)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増加率 = 回答医師の追加処方患者 ÷ 処方患者11,280人。× 年間売上50億円(1回のみ)。回答医師が市場と同じ構成と仮定。転換率は仮定で因果効果ではない。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売上の増加率(年、市場全体50億円に対して)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計算の流れ(基準)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38528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① 回答医師で増える処方患者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A案 +16人 / B案 +44人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807208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② 現在の処方患者11,280人に対する率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A案 +0.14% / B案 +0.39%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675887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③ × 年間売上50億円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E8602C"/>
                </a:solidFill>
                <a:latin typeface="Meiryo"/>
              </a:rPr>
              <a:t>A案 +722万円 / B案 +1,954万円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553712"/>
            <a:ext cx="3547872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250" b="1">
                <a:solidFill>
                  <a:srgbClr val="0B2A5B"/>
                </a:solidFill>
                <a:latin typeface="Meiryo"/>
              </a:rPr>
              <a:t>幅(保守〜楽観): A案 241〜1,444万円</a:t>
            </a:r>
          </a:p>
          <a:p>
            <a:pPr algn="l"/>
            <a:r>
              <a:rPr sz="1250" b="1">
                <a:solidFill>
                  <a:srgbClr val="0B2A5B"/>
                </a:solidFill>
                <a:latin typeface="Meiryo"/>
              </a:rPr>
              <a:t>B案 651〜3,908万円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① A案で既読・理解度・処方率を検証 → ② B案(追加投資) → ③ 全国展開を判断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